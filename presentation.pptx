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9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10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presProps.xml" ContentType="application/vnd.openxmlformats-officedocument.presentationml.presProps+xml"/>
  <Override PartName="/ppt/media/image4.svg" ContentType="image/svg"/>
  <Override PartName="/ppt/media/image6.svg" ContentType="image/svg"/>
  <Override PartName="/ppt/notesMasters/notesMaster1.xml" ContentType="application/vnd.openxmlformats-officedocument.presentationml.notesMaster+xml"/>
  <Override PartName="/ppt/slides/slide25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8.xml" ContentType="application/vnd.openxmlformats-officedocument.presentationml.slide+xml"/>
  <Override PartName="/ppt/slides/slide39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59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37.xml" ContentType="application/vnd.openxmlformats-officedocument.presentationml.slide+xml"/>
  <Override PartName="/ppt/slides/slide43.xml" ContentType="application/vnd.openxmlformats-officedocument.presentationml.slide+xml"/>
  <Override PartName="/ppt/slides/slide46.xml" ContentType="application/vnd.openxmlformats-officedocument.presentationml.slide+xml"/>
  <Override PartName="/ppt/slides/slide27.xml" ContentType="application/vnd.openxmlformats-officedocument.presentationml.slide+xml"/>
  <Override PartName="/ppt/slides/slide55.xml" ContentType="application/vnd.openxmlformats-officedocument.presentationml.slide+xml"/>
  <Override PartName="/ppt/slides/slide53.xml" ContentType="application/vnd.openxmlformats-officedocument.presentationml.slide+xml"/>
  <Override PartName="/ppt/slides/slide42.xml" ContentType="application/vnd.openxmlformats-officedocument.presentationml.slide+xml"/>
  <Override PartName="/ppt/slides/slide12.xml" ContentType="application/vnd.openxmlformats-officedocument.presentationml.slide+xml"/>
  <Override PartName="/ppt/slides/slide28.xml" ContentType="application/vnd.openxmlformats-officedocument.presentationml.slide+xml"/>
  <Override PartName="/ppt/slides/slide14.xml" ContentType="application/vnd.openxmlformats-officedocument.presentationml.slide+xml"/>
  <Override PartName="/ppt/slides/slide30.xml" ContentType="application/vnd.openxmlformats-officedocument.presentationml.slide+xml"/>
  <Override PartName="/ppt/slides/slide52.xml" ContentType="application/vnd.openxmlformats-officedocument.presentationml.slide+xml"/>
  <Override PartName="/ppt/slides/slide45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40.xml" ContentType="application/vnd.openxmlformats-officedocument.presentationml.slide+xml"/>
  <Override PartName="/ppt/slides/slide47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56.xml" ContentType="application/vnd.openxmlformats-officedocument.presentationml.slide+xml"/>
  <Override PartName="/ppt/slides/slide50.xml" ContentType="application/vnd.openxmlformats-officedocument.presentationml.slide+xml"/>
  <Override PartName="/ppt/slides/slide35.xml" ContentType="application/vnd.openxmlformats-officedocument.presentationml.slide+xml"/>
  <Override PartName="/ppt/slides/slide38.xml" ContentType="application/vnd.openxmlformats-officedocument.presentationml.slide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s/slide21.xml" ContentType="application/vnd.openxmlformats-officedocument.presentationml.slide+xml"/>
  <Override PartName="/ppt/slides/slide49.xml" ContentType="application/vnd.openxmlformats-officedocument.presentationml.slide+xml"/>
  <Override PartName="/ppt/slides/slide57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34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58.xml" ContentType="application/vnd.openxmlformats-officedocument.presentationml.slide+xml"/>
  <Override PartName="/ppt/slides/slide15.xml" ContentType="application/vnd.openxmlformats-officedocument.presentationml.slide+xml"/>
  <Override PartName="/ppt/slides/slide51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s/slide26.xml" ContentType="application/vnd.openxmlformats-officedocument.presentationml.slide+xml"/>
  <Override PartName="/ppt/slides/slide29.xml" ContentType="application/vnd.openxmlformats-officedocument.presentationml.slide+xml"/>
  <Override PartName="/ppt/notesSlides/notesSlide47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6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</p:sldIdLst>
  <p:sldSz cx="18719800" cy="10287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9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0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dt" idx="10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ftr" idx="11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 type="sldNum" idx="12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85DD5CE-029C-40D1-ADFB-DB4994C76B9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_rels/notesSlide41.xml.rels><?xml version="1.0" encoding="UTF-8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
</Relationships>
</file>

<file path=ppt/notesSlides/_rels/notesSlide42.xml.rels><?xml version="1.0" encoding="UTF-8"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
</Relationships>
</file>

<file path=ppt/notesSlides/_rels/notesSlide43.xml.rels><?xml version="1.0" encoding="UTF-8"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
</Relationships>
</file>

<file path=ppt/notesSlides/_rels/notesSlide44.xml.rels><?xml version="1.0" encoding="UTF-8"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
</Relationships>
</file>

<file path=ppt/notesSlides/_rels/notesSlide45.xml.rels><?xml version="1.0" encoding="UTF-8"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
</Relationships>
</file>

<file path=ppt/notesSlides/_rels/notesSlide46.xml.rels><?xml version="1.0" encoding="UTF-8"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
</Relationships>
</file>

<file path=ppt/notesSlides/_rels/notesSlide47.xml.rels><?xml version="1.0" encoding="UTF-8"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
</Relationships>
</file>

<file path=ppt/notesSlides/_rels/notesSlide48.xml.rels><?xml version="1.0" encoding="UTF-8"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
</Relationships>
</file>

<file path=ppt/notesSlides/_rels/notesSlide49.xml.rels><?xml version="1.0" encoding="UTF-8"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
</Relationships>
</file>

<file path=ppt/notesSlides/_rels/notesSlide50.xml.rels><?xml version="1.0" encoding="UTF-8"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
</Relationships>
</file>

<file path=ppt/notesSlides/_rels/notesSlide51.xml.rels><?xml version="1.0" encoding="UTF-8"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
</Relationships>
</file>

<file path=ppt/notesSlides/_rels/notesSlide52.xml.rels><?xml version="1.0" encoding="UTF-8"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
</Relationships>
</file>

<file path=ppt/notesSlides/_rels/notesSlide53.xml.rels><?xml version="1.0" encoding="UTF-8"?>
<Relationships xmlns="http://schemas.openxmlformats.org/package/2006/relationships"><Relationship Id="rId1" Type="http://schemas.openxmlformats.org/officeDocument/2006/relationships/slide" Target="../slides/slide53.xml"/><Relationship Id="rId2" Type="http://schemas.openxmlformats.org/officeDocument/2006/relationships/notesMaster" Target="../notesMasters/notesMaster1.xml"/>
</Relationships>
</file>

<file path=ppt/notesSlides/_rels/notesSlide54.xml.rels><?xml version="1.0" encoding="UTF-8"?>
<Relationships xmlns="http://schemas.openxmlformats.org/package/2006/relationships"><Relationship Id="rId1" Type="http://schemas.openxmlformats.org/officeDocument/2006/relationships/slide" Target="../slides/slide54.xml"/><Relationship Id="rId2" Type="http://schemas.openxmlformats.org/officeDocument/2006/relationships/notesMaster" Target="../notesMasters/notesMaster1.xml"/>
</Relationships>
</file>

<file path=ppt/notesSlides/_rels/notesSlide55.xml.rels><?xml version="1.0" encoding="UTF-8"?>
<Relationships xmlns="http://schemas.openxmlformats.org/package/2006/relationships"><Relationship Id="rId1" Type="http://schemas.openxmlformats.org/officeDocument/2006/relationships/slide" Target="../slides/slide55.xml"/><Relationship Id="rId2" Type="http://schemas.openxmlformats.org/officeDocument/2006/relationships/notesMaster" Target="../notesMasters/notesMaster1.xml"/>
</Relationships>
</file>

<file path=ppt/notesSlides/_rels/notesSlide56.xml.rels><?xml version="1.0" encoding="UTF-8"?>
<Relationships xmlns="http://schemas.openxmlformats.org/package/2006/relationships"><Relationship Id="rId1" Type="http://schemas.openxmlformats.org/officeDocument/2006/relationships/slide" Target="../slides/slide56.xml"/><Relationship Id="rId2" Type="http://schemas.openxmlformats.org/officeDocument/2006/relationships/notesMaster" Target="../notesMasters/notesMaster1.xml"/>
</Relationships>
</file>

<file path=ppt/notesSlides/_rels/notesSlide57.xml.rels><?xml version="1.0" encoding="UTF-8"?>
<Relationships xmlns="http://schemas.openxmlformats.org/package/2006/relationships"><Relationship Id="rId1" Type="http://schemas.openxmlformats.org/officeDocument/2006/relationships/slide" Target="../slides/slide57.xml"/><Relationship Id="rId2" Type="http://schemas.openxmlformats.org/officeDocument/2006/relationships/notesMaster" Target="../notesMasters/notesMaster1.xml"/>
</Relationships>
</file>

<file path=ppt/notesSlides/_rels/notesSlide58.xml.rels><?xml version="1.0" encoding="UTF-8"?>
<Relationships xmlns="http://schemas.openxmlformats.org/package/2006/relationships"><Relationship Id="rId1" Type="http://schemas.openxmlformats.org/officeDocument/2006/relationships/slide" Target="../slides/slide58.xml"/><Relationship Id="rId2" Type="http://schemas.openxmlformats.org/officeDocument/2006/relationships/notesMaster" Target="../notesMasters/notesMaster1.xml"/>
</Relationships>
</file>

<file path=ppt/notesSlides/_rels/notesSlide59.xml.rels><?xml version="1.0" encoding="UTF-8"?>
<Relationships xmlns="http://schemas.openxmlformats.org/package/2006/relationships"><Relationship Id="rId1" Type="http://schemas.openxmlformats.org/officeDocument/2006/relationships/slide" Target="../slides/slide5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PlaceHolder 1"/>
          <p:cNvSpPr>
            <a:spLocks noGrp="1"/>
          </p:cNvSpPr>
          <p:nvPr>
            <p:ph type="sldImg"/>
          </p:nvPr>
        </p:nvSpPr>
        <p:spPr>
          <a:xfrm>
            <a:off x="622440" y="1143000"/>
            <a:ext cx="5611680" cy="3084480"/>
          </a:xfrm>
          <a:prstGeom prst="rect">
            <a:avLst/>
          </a:prstGeom>
          <a:ln w="0">
            <a:noFill/>
          </a:ln>
        </p:spPr>
      </p:sp>
      <p:sp>
        <p:nvSpPr>
          <p:cNvPr id="4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AADC919-B7B4-4CEF-B231-35DD7797580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PlaceHolder 1"/>
          <p:cNvSpPr>
            <a:spLocks noGrp="1"/>
          </p:cNvSpPr>
          <p:nvPr>
            <p:ph type="sldImg"/>
          </p:nvPr>
        </p:nvSpPr>
        <p:spPr>
          <a:xfrm>
            <a:off x="622440" y="1143000"/>
            <a:ext cx="5611680" cy="3084480"/>
          </a:xfrm>
          <a:prstGeom prst="rect">
            <a:avLst/>
          </a:prstGeom>
          <a:ln w="0">
            <a:noFill/>
          </a:ln>
        </p:spPr>
      </p:sp>
      <p:sp>
        <p:nvSpPr>
          <p:cNvPr id="4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E15027C-B0B1-476A-A7F8-7342E166F82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PlaceHolder 1"/>
          <p:cNvSpPr>
            <a:spLocks noGrp="1"/>
          </p:cNvSpPr>
          <p:nvPr>
            <p:ph type="sldImg"/>
          </p:nvPr>
        </p:nvSpPr>
        <p:spPr>
          <a:xfrm>
            <a:off x="622440" y="1143000"/>
            <a:ext cx="5611680" cy="3084480"/>
          </a:xfrm>
          <a:prstGeom prst="rect">
            <a:avLst/>
          </a:prstGeom>
          <a:ln w="0">
            <a:noFill/>
          </a:ln>
        </p:spPr>
      </p:sp>
      <p:sp>
        <p:nvSpPr>
          <p:cNvPr id="4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A7382E4-CFE7-426A-9363-5653A7B022A7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PlaceHolder 1"/>
          <p:cNvSpPr>
            <a:spLocks noGrp="1"/>
          </p:cNvSpPr>
          <p:nvPr>
            <p:ph type="sldImg"/>
          </p:nvPr>
        </p:nvSpPr>
        <p:spPr>
          <a:xfrm>
            <a:off x="622440" y="1143000"/>
            <a:ext cx="5611680" cy="3084480"/>
          </a:xfrm>
          <a:prstGeom prst="rect">
            <a:avLst/>
          </a:prstGeom>
          <a:ln w="0">
            <a:noFill/>
          </a:ln>
        </p:spPr>
      </p:sp>
      <p:sp>
        <p:nvSpPr>
          <p:cNvPr id="4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E17EEFD-6E19-4661-8574-2D473FC9D5D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PlaceHolder 1"/>
          <p:cNvSpPr>
            <a:spLocks noGrp="1"/>
          </p:cNvSpPr>
          <p:nvPr>
            <p:ph type="sldImg"/>
          </p:nvPr>
        </p:nvSpPr>
        <p:spPr>
          <a:xfrm>
            <a:off x="622440" y="1143000"/>
            <a:ext cx="5611680" cy="3084480"/>
          </a:xfrm>
          <a:prstGeom prst="rect">
            <a:avLst/>
          </a:prstGeom>
          <a:ln w="0">
            <a:noFill/>
          </a:ln>
        </p:spPr>
      </p:sp>
      <p:sp>
        <p:nvSpPr>
          <p:cNvPr id="4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1D43659-278A-499E-B715-1CAAE98E1507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PlaceHolder 1"/>
          <p:cNvSpPr>
            <a:spLocks noGrp="1"/>
          </p:cNvSpPr>
          <p:nvPr>
            <p:ph type="sldImg"/>
          </p:nvPr>
        </p:nvSpPr>
        <p:spPr>
          <a:xfrm>
            <a:off x="622440" y="1143000"/>
            <a:ext cx="5611680" cy="3084480"/>
          </a:xfrm>
          <a:prstGeom prst="rect">
            <a:avLst/>
          </a:prstGeom>
          <a:ln w="0">
            <a:noFill/>
          </a:ln>
        </p:spPr>
      </p:sp>
      <p:sp>
        <p:nvSpPr>
          <p:cNvPr id="4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217B697-0A85-4127-849D-894AB7549E8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PlaceHolder 1"/>
          <p:cNvSpPr>
            <a:spLocks noGrp="1"/>
          </p:cNvSpPr>
          <p:nvPr>
            <p:ph type="sldImg"/>
          </p:nvPr>
        </p:nvSpPr>
        <p:spPr>
          <a:xfrm>
            <a:off x="622440" y="1143000"/>
            <a:ext cx="5611680" cy="3084480"/>
          </a:xfrm>
          <a:prstGeom prst="rect">
            <a:avLst/>
          </a:prstGeom>
          <a:ln w="0">
            <a:noFill/>
          </a:ln>
        </p:spPr>
      </p:sp>
      <p:sp>
        <p:nvSpPr>
          <p:cNvPr id="4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BB18E45-FEE8-4F03-B77B-F463572F39AD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PlaceHolder 1"/>
          <p:cNvSpPr>
            <a:spLocks noGrp="1"/>
          </p:cNvSpPr>
          <p:nvPr>
            <p:ph type="sldImg"/>
          </p:nvPr>
        </p:nvSpPr>
        <p:spPr>
          <a:xfrm>
            <a:off x="622440" y="1143000"/>
            <a:ext cx="5611680" cy="3084480"/>
          </a:xfrm>
          <a:prstGeom prst="rect">
            <a:avLst/>
          </a:prstGeom>
          <a:ln w="0">
            <a:noFill/>
          </a:ln>
        </p:spPr>
      </p:sp>
      <p:sp>
        <p:nvSpPr>
          <p:cNvPr id="4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A7492ED-97C5-41EF-AD44-9D1E7E2ED1F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PlaceHolder 1"/>
          <p:cNvSpPr>
            <a:spLocks noGrp="1"/>
          </p:cNvSpPr>
          <p:nvPr>
            <p:ph type="sldImg"/>
          </p:nvPr>
        </p:nvSpPr>
        <p:spPr>
          <a:xfrm>
            <a:off x="622440" y="1143000"/>
            <a:ext cx="5611680" cy="3084480"/>
          </a:xfrm>
          <a:prstGeom prst="rect">
            <a:avLst/>
          </a:prstGeom>
          <a:ln w="0">
            <a:noFill/>
          </a:ln>
        </p:spPr>
      </p:sp>
      <p:sp>
        <p:nvSpPr>
          <p:cNvPr id="4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0590202-FD0E-4362-B58F-3D576971DB2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PlaceHolder 1"/>
          <p:cNvSpPr>
            <a:spLocks noGrp="1"/>
          </p:cNvSpPr>
          <p:nvPr>
            <p:ph type="sldImg"/>
          </p:nvPr>
        </p:nvSpPr>
        <p:spPr>
          <a:xfrm>
            <a:off x="622440" y="1143000"/>
            <a:ext cx="5611680" cy="3084480"/>
          </a:xfrm>
          <a:prstGeom prst="rect">
            <a:avLst/>
          </a:prstGeom>
          <a:ln w="0">
            <a:noFill/>
          </a:ln>
        </p:spPr>
      </p:sp>
      <p:sp>
        <p:nvSpPr>
          <p:cNvPr id="5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3EC1F21-89F5-457B-8359-9AC56E9214B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PlaceHolder 1"/>
          <p:cNvSpPr>
            <a:spLocks noGrp="1"/>
          </p:cNvSpPr>
          <p:nvPr>
            <p:ph type="sldImg"/>
          </p:nvPr>
        </p:nvSpPr>
        <p:spPr>
          <a:xfrm>
            <a:off x="622440" y="1143000"/>
            <a:ext cx="5611680" cy="3084480"/>
          </a:xfrm>
          <a:prstGeom prst="rect">
            <a:avLst/>
          </a:prstGeom>
          <a:ln w="0">
            <a:noFill/>
          </a:ln>
        </p:spPr>
      </p:sp>
      <p:sp>
        <p:nvSpPr>
          <p:cNvPr id="5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DB02081-5894-4541-84B1-70867E8D13D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PlaceHolder 1"/>
          <p:cNvSpPr>
            <a:spLocks noGrp="1"/>
          </p:cNvSpPr>
          <p:nvPr>
            <p:ph type="sldImg"/>
          </p:nvPr>
        </p:nvSpPr>
        <p:spPr>
          <a:xfrm>
            <a:off x="622440" y="1143000"/>
            <a:ext cx="5611680" cy="3084480"/>
          </a:xfrm>
          <a:prstGeom prst="rect">
            <a:avLst/>
          </a:prstGeom>
          <a:ln w="0">
            <a:noFill/>
          </a:ln>
        </p:spPr>
      </p:sp>
      <p:sp>
        <p:nvSpPr>
          <p:cNvPr id="5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18D4621-2119-4019-B286-69D2BE363E2D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PlaceHolder 1"/>
          <p:cNvSpPr>
            <a:spLocks noGrp="1"/>
          </p:cNvSpPr>
          <p:nvPr>
            <p:ph type="sldImg"/>
          </p:nvPr>
        </p:nvSpPr>
        <p:spPr>
          <a:xfrm>
            <a:off x="622440" y="1143000"/>
            <a:ext cx="5611680" cy="3084480"/>
          </a:xfrm>
          <a:prstGeom prst="rect">
            <a:avLst/>
          </a:prstGeom>
          <a:ln w="0">
            <a:noFill/>
          </a:ln>
        </p:spPr>
      </p:sp>
      <p:sp>
        <p:nvSpPr>
          <p:cNvPr id="5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CBC742E-6641-4BA7-BB7F-E27DDF491DF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PlaceHolder 1"/>
          <p:cNvSpPr>
            <a:spLocks noGrp="1"/>
          </p:cNvSpPr>
          <p:nvPr>
            <p:ph type="sldImg"/>
          </p:nvPr>
        </p:nvSpPr>
        <p:spPr>
          <a:xfrm>
            <a:off x="622440" y="1143000"/>
            <a:ext cx="5611680" cy="3084480"/>
          </a:xfrm>
          <a:prstGeom prst="rect">
            <a:avLst/>
          </a:prstGeom>
          <a:ln w="0">
            <a:noFill/>
          </a:ln>
        </p:spPr>
      </p:sp>
      <p:sp>
        <p:nvSpPr>
          <p:cNvPr id="5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5CF1A9A-0490-43C0-AF86-C45846465C7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PlaceHolder 1"/>
          <p:cNvSpPr>
            <a:spLocks noGrp="1"/>
          </p:cNvSpPr>
          <p:nvPr>
            <p:ph type="sldImg"/>
          </p:nvPr>
        </p:nvSpPr>
        <p:spPr>
          <a:xfrm>
            <a:off x="622440" y="1143000"/>
            <a:ext cx="5611680" cy="3084480"/>
          </a:xfrm>
          <a:prstGeom prst="rect">
            <a:avLst/>
          </a:prstGeom>
          <a:ln w="0">
            <a:noFill/>
          </a:ln>
        </p:spPr>
      </p:sp>
      <p:sp>
        <p:nvSpPr>
          <p:cNvPr id="5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D342B97-A0B3-4D97-9E46-59E6BA04C5E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PlaceHolder 1"/>
          <p:cNvSpPr>
            <a:spLocks noGrp="1"/>
          </p:cNvSpPr>
          <p:nvPr>
            <p:ph type="sldImg"/>
          </p:nvPr>
        </p:nvSpPr>
        <p:spPr>
          <a:xfrm>
            <a:off x="622440" y="1143000"/>
            <a:ext cx="5611680" cy="3084480"/>
          </a:xfrm>
          <a:prstGeom prst="rect">
            <a:avLst/>
          </a:prstGeom>
          <a:ln w="0">
            <a:noFill/>
          </a:ln>
        </p:spPr>
      </p:sp>
      <p:sp>
        <p:nvSpPr>
          <p:cNvPr id="5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09E3CAD-FE93-49DA-8200-8F72AEA2E34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PlaceHolder 1"/>
          <p:cNvSpPr>
            <a:spLocks noGrp="1"/>
          </p:cNvSpPr>
          <p:nvPr>
            <p:ph type="sldImg"/>
          </p:nvPr>
        </p:nvSpPr>
        <p:spPr>
          <a:xfrm>
            <a:off x="622440" y="1143000"/>
            <a:ext cx="5611680" cy="3084480"/>
          </a:xfrm>
          <a:prstGeom prst="rect">
            <a:avLst/>
          </a:prstGeom>
          <a:ln w="0">
            <a:noFill/>
          </a:ln>
        </p:spPr>
      </p:sp>
      <p:sp>
        <p:nvSpPr>
          <p:cNvPr id="5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16AE163-A0FE-46FA-9387-AB4F4DF730F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PlaceHolder 1"/>
          <p:cNvSpPr>
            <a:spLocks noGrp="1"/>
          </p:cNvSpPr>
          <p:nvPr>
            <p:ph type="sldImg"/>
          </p:nvPr>
        </p:nvSpPr>
        <p:spPr>
          <a:xfrm>
            <a:off x="622440" y="1143000"/>
            <a:ext cx="5611680" cy="3084480"/>
          </a:xfrm>
          <a:prstGeom prst="rect">
            <a:avLst/>
          </a:prstGeom>
          <a:ln w="0">
            <a:noFill/>
          </a:ln>
        </p:spPr>
      </p:sp>
      <p:sp>
        <p:nvSpPr>
          <p:cNvPr id="5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535A533-28A7-4211-A757-6812DD76B62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PlaceHolder 1"/>
          <p:cNvSpPr>
            <a:spLocks noGrp="1"/>
          </p:cNvSpPr>
          <p:nvPr>
            <p:ph type="sldImg"/>
          </p:nvPr>
        </p:nvSpPr>
        <p:spPr>
          <a:xfrm>
            <a:off x="622440" y="1143000"/>
            <a:ext cx="5611680" cy="3084480"/>
          </a:xfrm>
          <a:prstGeom prst="rect">
            <a:avLst/>
          </a:prstGeom>
          <a:ln w="0">
            <a:noFill/>
          </a:ln>
        </p:spPr>
      </p:sp>
      <p:sp>
        <p:nvSpPr>
          <p:cNvPr id="5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81D8CDC-D1A8-4258-994E-CC9BA469C48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PlaceHolder 1"/>
          <p:cNvSpPr>
            <a:spLocks noGrp="1"/>
          </p:cNvSpPr>
          <p:nvPr>
            <p:ph type="sldImg"/>
          </p:nvPr>
        </p:nvSpPr>
        <p:spPr>
          <a:xfrm>
            <a:off x="622440" y="1143000"/>
            <a:ext cx="5611680" cy="3084480"/>
          </a:xfrm>
          <a:prstGeom prst="rect">
            <a:avLst/>
          </a:prstGeom>
          <a:ln w="0">
            <a:noFill/>
          </a:ln>
        </p:spPr>
      </p:sp>
      <p:sp>
        <p:nvSpPr>
          <p:cNvPr id="5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4E46B09-66ED-445B-97A4-EF0DB5C52B1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PlaceHolder 1"/>
          <p:cNvSpPr>
            <a:spLocks noGrp="1"/>
          </p:cNvSpPr>
          <p:nvPr>
            <p:ph type="sldImg"/>
          </p:nvPr>
        </p:nvSpPr>
        <p:spPr>
          <a:xfrm>
            <a:off x="622440" y="1143000"/>
            <a:ext cx="5611680" cy="3084480"/>
          </a:xfrm>
          <a:prstGeom prst="rect">
            <a:avLst/>
          </a:prstGeom>
          <a:ln w="0">
            <a:noFill/>
          </a:ln>
        </p:spPr>
      </p:sp>
      <p:sp>
        <p:nvSpPr>
          <p:cNvPr id="5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78D4812-F747-4514-90E0-960B251A720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PlaceHolder 1"/>
          <p:cNvSpPr>
            <a:spLocks noGrp="1"/>
          </p:cNvSpPr>
          <p:nvPr>
            <p:ph type="sldImg"/>
          </p:nvPr>
        </p:nvSpPr>
        <p:spPr>
          <a:xfrm>
            <a:off x="622440" y="1143000"/>
            <a:ext cx="5611680" cy="3084480"/>
          </a:xfrm>
          <a:prstGeom prst="rect">
            <a:avLst/>
          </a:prstGeom>
          <a:ln w="0">
            <a:noFill/>
          </a:ln>
        </p:spPr>
      </p:sp>
      <p:sp>
        <p:nvSpPr>
          <p:cNvPr id="5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4CCCF22-EB3A-4F4C-9827-CABFC2DDF7E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PlaceHolder 1"/>
          <p:cNvSpPr>
            <a:spLocks noGrp="1"/>
          </p:cNvSpPr>
          <p:nvPr>
            <p:ph type="sldImg"/>
          </p:nvPr>
        </p:nvSpPr>
        <p:spPr>
          <a:xfrm>
            <a:off x="622440" y="1143000"/>
            <a:ext cx="5611680" cy="3084480"/>
          </a:xfrm>
          <a:prstGeom prst="rect">
            <a:avLst/>
          </a:prstGeom>
          <a:ln w="0">
            <a:noFill/>
          </a:ln>
        </p:spPr>
      </p:sp>
      <p:sp>
        <p:nvSpPr>
          <p:cNvPr id="5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5C28F04-2F8A-42A2-926F-8FB93F2EC97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PlaceHolder 1"/>
          <p:cNvSpPr>
            <a:spLocks noGrp="1"/>
          </p:cNvSpPr>
          <p:nvPr>
            <p:ph type="sldImg"/>
          </p:nvPr>
        </p:nvSpPr>
        <p:spPr>
          <a:xfrm>
            <a:off x="622440" y="1143000"/>
            <a:ext cx="5611680" cy="3084480"/>
          </a:xfrm>
          <a:prstGeom prst="rect">
            <a:avLst/>
          </a:prstGeom>
          <a:ln w="0">
            <a:noFill/>
          </a:ln>
        </p:spPr>
      </p:sp>
      <p:sp>
        <p:nvSpPr>
          <p:cNvPr id="5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A366EF0-8CB2-40AB-8FD1-7AE6E649F99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PlaceHolder 1"/>
          <p:cNvSpPr>
            <a:spLocks noGrp="1"/>
          </p:cNvSpPr>
          <p:nvPr>
            <p:ph type="sldImg"/>
          </p:nvPr>
        </p:nvSpPr>
        <p:spPr>
          <a:xfrm>
            <a:off x="622440" y="1143000"/>
            <a:ext cx="5611680" cy="3084480"/>
          </a:xfrm>
          <a:prstGeom prst="rect">
            <a:avLst/>
          </a:prstGeom>
          <a:ln w="0">
            <a:noFill/>
          </a:ln>
        </p:spPr>
      </p:sp>
      <p:sp>
        <p:nvSpPr>
          <p:cNvPr id="5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81560A0-6926-47AD-94A4-994371C2AF8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PlaceHolder 1"/>
          <p:cNvSpPr>
            <a:spLocks noGrp="1"/>
          </p:cNvSpPr>
          <p:nvPr>
            <p:ph type="sldImg"/>
          </p:nvPr>
        </p:nvSpPr>
        <p:spPr>
          <a:xfrm>
            <a:off x="622440" y="1143000"/>
            <a:ext cx="5611680" cy="3084480"/>
          </a:xfrm>
          <a:prstGeom prst="rect">
            <a:avLst/>
          </a:prstGeom>
          <a:ln w="0">
            <a:noFill/>
          </a:ln>
        </p:spPr>
      </p:sp>
      <p:sp>
        <p:nvSpPr>
          <p:cNvPr id="5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0B8368E-0889-419D-84C6-C86EEAE2FE8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PlaceHolder 1"/>
          <p:cNvSpPr>
            <a:spLocks noGrp="1"/>
          </p:cNvSpPr>
          <p:nvPr>
            <p:ph type="sldImg"/>
          </p:nvPr>
        </p:nvSpPr>
        <p:spPr>
          <a:xfrm>
            <a:off x="622440" y="1143000"/>
            <a:ext cx="5611680" cy="3084480"/>
          </a:xfrm>
          <a:prstGeom prst="rect">
            <a:avLst/>
          </a:prstGeom>
          <a:ln w="0">
            <a:noFill/>
          </a:ln>
        </p:spPr>
      </p:sp>
      <p:sp>
        <p:nvSpPr>
          <p:cNvPr id="5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4D84EA4-664F-4DC8-B333-A6670F15AE9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PlaceHolder 1"/>
          <p:cNvSpPr>
            <a:spLocks noGrp="1"/>
          </p:cNvSpPr>
          <p:nvPr>
            <p:ph type="sldImg"/>
          </p:nvPr>
        </p:nvSpPr>
        <p:spPr>
          <a:xfrm>
            <a:off x="622440" y="1143000"/>
            <a:ext cx="5611680" cy="3084480"/>
          </a:xfrm>
          <a:prstGeom prst="rect">
            <a:avLst/>
          </a:prstGeom>
          <a:ln w="0">
            <a:noFill/>
          </a:ln>
        </p:spPr>
      </p:sp>
      <p:sp>
        <p:nvSpPr>
          <p:cNvPr id="5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46974B3-7CCD-4498-BC3A-2CC65550CAB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PlaceHolder 1"/>
          <p:cNvSpPr>
            <a:spLocks noGrp="1"/>
          </p:cNvSpPr>
          <p:nvPr>
            <p:ph type="sldImg"/>
          </p:nvPr>
        </p:nvSpPr>
        <p:spPr>
          <a:xfrm>
            <a:off x="622440" y="1143000"/>
            <a:ext cx="5611680" cy="3084480"/>
          </a:xfrm>
          <a:prstGeom prst="rect">
            <a:avLst/>
          </a:prstGeom>
          <a:ln w="0">
            <a:noFill/>
          </a:ln>
        </p:spPr>
      </p:sp>
      <p:sp>
        <p:nvSpPr>
          <p:cNvPr id="5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AA025B9-EEA0-45F9-8249-819527FE4532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PlaceHolder 1"/>
          <p:cNvSpPr>
            <a:spLocks noGrp="1"/>
          </p:cNvSpPr>
          <p:nvPr>
            <p:ph type="sldImg"/>
          </p:nvPr>
        </p:nvSpPr>
        <p:spPr>
          <a:xfrm>
            <a:off x="622440" y="1143000"/>
            <a:ext cx="5611680" cy="3084480"/>
          </a:xfrm>
          <a:prstGeom prst="rect">
            <a:avLst/>
          </a:prstGeom>
          <a:ln w="0">
            <a:noFill/>
          </a:ln>
        </p:spPr>
      </p:sp>
      <p:sp>
        <p:nvSpPr>
          <p:cNvPr id="5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2C05BC4-F446-4E45-9F81-251C5C765637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PlaceHolder 1"/>
          <p:cNvSpPr>
            <a:spLocks noGrp="1"/>
          </p:cNvSpPr>
          <p:nvPr>
            <p:ph type="sldImg"/>
          </p:nvPr>
        </p:nvSpPr>
        <p:spPr>
          <a:xfrm>
            <a:off x="622440" y="1143000"/>
            <a:ext cx="5611680" cy="3084480"/>
          </a:xfrm>
          <a:prstGeom prst="rect">
            <a:avLst/>
          </a:prstGeom>
          <a:ln w="0">
            <a:noFill/>
          </a:ln>
        </p:spPr>
      </p:sp>
      <p:sp>
        <p:nvSpPr>
          <p:cNvPr id="5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02062F4-8A26-4138-B8D5-89D9BC06380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PlaceHolder 1"/>
          <p:cNvSpPr>
            <a:spLocks noGrp="1"/>
          </p:cNvSpPr>
          <p:nvPr>
            <p:ph type="sldImg"/>
          </p:nvPr>
        </p:nvSpPr>
        <p:spPr>
          <a:xfrm>
            <a:off x="622440" y="1143000"/>
            <a:ext cx="5611680" cy="3084480"/>
          </a:xfrm>
          <a:prstGeom prst="rect">
            <a:avLst/>
          </a:prstGeom>
          <a:ln w="0">
            <a:noFill/>
          </a:ln>
        </p:spPr>
      </p:sp>
      <p:sp>
        <p:nvSpPr>
          <p:cNvPr id="5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5F17996-4B5B-44D7-85C8-95A3167285A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PlaceHolder 1"/>
          <p:cNvSpPr>
            <a:spLocks noGrp="1"/>
          </p:cNvSpPr>
          <p:nvPr>
            <p:ph type="sldImg"/>
          </p:nvPr>
        </p:nvSpPr>
        <p:spPr>
          <a:xfrm>
            <a:off x="622440" y="1143000"/>
            <a:ext cx="5611680" cy="3084480"/>
          </a:xfrm>
          <a:prstGeom prst="rect">
            <a:avLst/>
          </a:prstGeom>
          <a:ln w="0">
            <a:noFill/>
          </a:ln>
        </p:spPr>
      </p:sp>
      <p:sp>
        <p:nvSpPr>
          <p:cNvPr id="5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54F4DC9-A811-48D6-8A95-06DD7EF9BDF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PlaceHolder 1"/>
          <p:cNvSpPr>
            <a:spLocks noGrp="1"/>
          </p:cNvSpPr>
          <p:nvPr>
            <p:ph type="sldImg"/>
          </p:nvPr>
        </p:nvSpPr>
        <p:spPr>
          <a:xfrm>
            <a:off x="622440" y="1143000"/>
            <a:ext cx="5611680" cy="3084480"/>
          </a:xfrm>
          <a:prstGeom prst="rect">
            <a:avLst/>
          </a:prstGeom>
          <a:ln w="0">
            <a:noFill/>
          </a:ln>
        </p:spPr>
      </p:sp>
      <p:sp>
        <p:nvSpPr>
          <p:cNvPr id="5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9AC283E-777A-434F-B81A-17B895502CB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PlaceHolder 1"/>
          <p:cNvSpPr>
            <a:spLocks noGrp="1"/>
          </p:cNvSpPr>
          <p:nvPr>
            <p:ph type="sldImg"/>
          </p:nvPr>
        </p:nvSpPr>
        <p:spPr>
          <a:xfrm>
            <a:off x="622440" y="1143000"/>
            <a:ext cx="5611680" cy="3084480"/>
          </a:xfrm>
          <a:prstGeom prst="rect">
            <a:avLst/>
          </a:prstGeom>
          <a:ln w="0">
            <a:noFill/>
          </a:ln>
        </p:spPr>
      </p:sp>
      <p:sp>
        <p:nvSpPr>
          <p:cNvPr id="5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70A1935-189E-4014-8BBA-74CB32E0792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PlaceHolder 1"/>
          <p:cNvSpPr>
            <a:spLocks noGrp="1"/>
          </p:cNvSpPr>
          <p:nvPr>
            <p:ph type="sldImg"/>
          </p:nvPr>
        </p:nvSpPr>
        <p:spPr>
          <a:xfrm>
            <a:off x="622440" y="1143000"/>
            <a:ext cx="5611680" cy="3084480"/>
          </a:xfrm>
          <a:prstGeom prst="rect">
            <a:avLst/>
          </a:prstGeom>
          <a:ln w="0">
            <a:noFill/>
          </a:ln>
        </p:spPr>
      </p:sp>
      <p:sp>
        <p:nvSpPr>
          <p:cNvPr id="5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F380CD7-AD01-4826-8885-8E97AAB6E90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PlaceHolder 1"/>
          <p:cNvSpPr>
            <a:spLocks noGrp="1"/>
          </p:cNvSpPr>
          <p:nvPr>
            <p:ph type="sldImg"/>
          </p:nvPr>
        </p:nvSpPr>
        <p:spPr>
          <a:xfrm>
            <a:off x="622440" y="1143000"/>
            <a:ext cx="5611680" cy="3084480"/>
          </a:xfrm>
          <a:prstGeom prst="rect">
            <a:avLst/>
          </a:prstGeom>
          <a:ln w="0">
            <a:noFill/>
          </a:ln>
        </p:spPr>
      </p:sp>
      <p:sp>
        <p:nvSpPr>
          <p:cNvPr id="5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DF76824-47A3-45DC-8159-53DB41CE0DE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PlaceHolder 1"/>
          <p:cNvSpPr>
            <a:spLocks noGrp="1"/>
          </p:cNvSpPr>
          <p:nvPr>
            <p:ph type="sldImg"/>
          </p:nvPr>
        </p:nvSpPr>
        <p:spPr>
          <a:xfrm>
            <a:off x="622440" y="1143000"/>
            <a:ext cx="5611680" cy="3084480"/>
          </a:xfrm>
          <a:prstGeom prst="rect">
            <a:avLst/>
          </a:prstGeom>
          <a:ln w="0">
            <a:noFill/>
          </a:ln>
        </p:spPr>
      </p:sp>
      <p:sp>
        <p:nvSpPr>
          <p:cNvPr id="5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7ACFD24-25AA-49BA-BDA9-F5179B5D0482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PlaceHolder 1"/>
          <p:cNvSpPr>
            <a:spLocks noGrp="1"/>
          </p:cNvSpPr>
          <p:nvPr>
            <p:ph type="sldImg"/>
          </p:nvPr>
        </p:nvSpPr>
        <p:spPr>
          <a:xfrm>
            <a:off x="622440" y="1143000"/>
            <a:ext cx="5611680" cy="3084480"/>
          </a:xfrm>
          <a:prstGeom prst="rect">
            <a:avLst/>
          </a:prstGeom>
          <a:ln w="0">
            <a:noFill/>
          </a:ln>
        </p:spPr>
      </p:sp>
      <p:sp>
        <p:nvSpPr>
          <p:cNvPr id="5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559A1AE-8B15-4C5F-9690-771825F4E0C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PlaceHolder 1"/>
          <p:cNvSpPr>
            <a:spLocks noGrp="1"/>
          </p:cNvSpPr>
          <p:nvPr>
            <p:ph type="sldImg"/>
          </p:nvPr>
        </p:nvSpPr>
        <p:spPr>
          <a:xfrm>
            <a:off x="622440" y="1143000"/>
            <a:ext cx="5611680" cy="3084480"/>
          </a:xfrm>
          <a:prstGeom prst="rect">
            <a:avLst/>
          </a:prstGeom>
          <a:ln w="0">
            <a:noFill/>
          </a:ln>
        </p:spPr>
      </p:sp>
      <p:sp>
        <p:nvSpPr>
          <p:cNvPr id="5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BCEB844-4856-4C6A-A03A-8808D5F7DDA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PlaceHolder 1"/>
          <p:cNvSpPr>
            <a:spLocks noGrp="1"/>
          </p:cNvSpPr>
          <p:nvPr>
            <p:ph type="sldImg"/>
          </p:nvPr>
        </p:nvSpPr>
        <p:spPr>
          <a:xfrm>
            <a:off x="622440" y="1143000"/>
            <a:ext cx="5611680" cy="3084480"/>
          </a:xfrm>
          <a:prstGeom prst="rect">
            <a:avLst/>
          </a:prstGeom>
          <a:ln w="0">
            <a:noFill/>
          </a:ln>
        </p:spPr>
      </p:sp>
      <p:sp>
        <p:nvSpPr>
          <p:cNvPr id="5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435318E-363B-45AA-891D-2D316812B8A2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PlaceHolder 1"/>
          <p:cNvSpPr>
            <a:spLocks noGrp="1"/>
          </p:cNvSpPr>
          <p:nvPr>
            <p:ph type="sldImg"/>
          </p:nvPr>
        </p:nvSpPr>
        <p:spPr>
          <a:xfrm>
            <a:off x="622440" y="1143000"/>
            <a:ext cx="5611680" cy="3084480"/>
          </a:xfrm>
          <a:prstGeom prst="rect">
            <a:avLst/>
          </a:prstGeom>
          <a:ln w="0">
            <a:noFill/>
          </a:ln>
        </p:spPr>
      </p:sp>
      <p:sp>
        <p:nvSpPr>
          <p:cNvPr id="5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7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AA9214A-069D-4B22-869E-C6BAEEA0312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PlaceHolder 1"/>
          <p:cNvSpPr>
            <a:spLocks noGrp="1"/>
          </p:cNvSpPr>
          <p:nvPr>
            <p:ph type="sldImg"/>
          </p:nvPr>
        </p:nvSpPr>
        <p:spPr>
          <a:xfrm>
            <a:off x="622440" y="1143000"/>
            <a:ext cx="5611680" cy="3084480"/>
          </a:xfrm>
          <a:prstGeom prst="rect">
            <a:avLst/>
          </a:prstGeom>
          <a:ln w="0">
            <a:noFill/>
          </a:ln>
        </p:spPr>
      </p:sp>
      <p:sp>
        <p:nvSpPr>
          <p:cNvPr id="5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0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1F4E006-A0BA-486A-884A-74DECBB40FD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PlaceHolder 1"/>
          <p:cNvSpPr>
            <a:spLocks noGrp="1"/>
          </p:cNvSpPr>
          <p:nvPr>
            <p:ph type="sldImg"/>
          </p:nvPr>
        </p:nvSpPr>
        <p:spPr>
          <a:xfrm>
            <a:off x="622440" y="1143000"/>
            <a:ext cx="5611680" cy="3084480"/>
          </a:xfrm>
          <a:prstGeom prst="rect">
            <a:avLst/>
          </a:prstGeom>
          <a:ln w="0">
            <a:noFill/>
          </a:ln>
        </p:spPr>
      </p:sp>
      <p:sp>
        <p:nvSpPr>
          <p:cNvPr id="6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D0F845E-BB29-4800-8083-6E4C2D57A53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PlaceHolder 1"/>
          <p:cNvSpPr>
            <a:spLocks noGrp="1"/>
          </p:cNvSpPr>
          <p:nvPr>
            <p:ph type="sldImg"/>
          </p:nvPr>
        </p:nvSpPr>
        <p:spPr>
          <a:xfrm>
            <a:off x="622440" y="1143000"/>
            <a:ext cx="5611680" cy="3084480"/>
          </a:xfrm>
          <a:prstGeom prst="rect">
            <a:avLst/>
          </a:prstGeom>
          <a:ln w="0">
            <a:noFill/>
          </a:ln>
        </p:spPr>
      </p:sp>
      <p:sp>
        <p:nvSpPr>
          <p:cNvPr id="6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488DA99-119D-4A3B-99A5-02EC8C7E8F7D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PlaceHolder 1"/>
          <p:cNvSpPr>
            <a:spLocks noGrp="1"/>
          </p:cNvSpPr>
          <p:nvPr>
            <p:ph type="sldImg"/>
          </p:nvPr>
        </p:nvSpPr>
        <p:spPr>
          <a:xfrm>
            <a:off x="622440" y="1143000"/>
            <a:ext cx="5611680" cy="3084480"/>
          </a:xfrm>
          <a:prstGeom prst="rect">
            <a:avLst/>
          </a:prstGeom>
          <a:ln w="0">
            <a:noFill/>
          </a:ln>
        </p:spPr>
      </p:sp>
      <p:sp>
        <p:nvSpPr>
          <p:cNvPr id="6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BB641B5-6CDE-4BB2-B9BE-BDB16C36403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PlaceHolder 1"/>
          <p:cNvSpPr>
            <a:spLocks noGrp="1"/>
          </p:cNvSpPr>
          <p:nvPr>
            <p:ph type="sldImg"/>
          </p:nvPr>
        </p:nvSpPr>
        <p:spPr>
          <a:xfrm>
            <a:off x="622440" y="1143000"/>
            <a:ext cx="5611680" cy="3084480"/>
          </a:xfrm>
          <a:prstGeom prst="rect">
            <a:avLst/>
          </a:prstGeom>
          <a:ln w="0">
            <a:noFill/>
          </a:ln>
        </p:spPr>
      </p:sp>
      <p:sp>
        <p:nvSpPr>
          <p:cNvPr id="6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4EAD5A9-AFC9-445F-B794-17E2D73B2904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PlaceHolder 1"/>
          <p:cNvSpPr>
            <a:spLocks noGrp="1"/>
          </p:cNvSpPr>
          <p:nvPr>
            <p:ph type="sldImg"/>
          </p:nvPr>
        </p:nvSpPr>
        <p:spPr>
          <a:xfrm>
            <a:off x="622440" y="1143000"/>
            <a:ext cx="5611680" cy="3084480"/>
          </a:xfrm>
          <a:prstGeom prst="rect">
            <a:avLst/>
          </a:prstGeom>
          <a:ln w="0">
            <a:noFill/>
          </a:ln>
        </p:spPr>
      </p:sp>
      <p:sp>
        <p:nvSpPr>
          <p:cNvPr id="6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5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1CF1FA8-E623-4C8C-8300-C84B6B9E8C22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PlaceHolder 1"/>
          <p:cNvSpPr>
            <a:spLocks noGrp="1"/>
          </p:cNvSpPr>
          <p:nvPr>
            <p:ph type="sldImg"/>
          </p:nvPr>
        </p:nvSpPr>
        <p:spPr>
          <a:xfrm>
            <a:off x="622440" y="1143000"/>
            <a:ext cx="5611680" cy="3084480"/>
          </a:xfrm>
          <a:prstGeom prst="rect">
            <a:avLst/>
          </a:prstGeom>
          <a:ln w="0">
            <a:noFill/>
          </a:ln>
        </p:spPr>
      </p:sp>
      <p:sp>
        <p:nvSpPr>
          <p:cNvPr id="6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8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E35EE31-87A7-4E43-8AF5-F5ECB6C03EC2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PlaceHolder 1"/>
          <p:cNvSpPr>
            <a:spLocks noGrp="1"/>
          </p:cNvSpPr>
          <p:nvPr>
            <p:ph type="sldImg"/>
          </p:nvPr>
        </p:nvSpPr>
        <p:spPr>
          <a:xfrm>
            <a:off x="622440" y="1143000"/>
            <a:ext cx="5611680" cy="3084480"/>
          </a:xfrm>
          <a:prstGeom prst="rect">
            <a:avLst/>
          </a:prstGeom>
          <a:ln w="0">
            <a:noFill/>
          </a:ln>
        </p:spPr>
      </p:sp>
      <p:sp>
        <p:nvSpPr>
          <p:cNvPr id="6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1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21547A0-2064-4BBA-89FB-AF771531C21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PlaceHolder 1"/>
          <p:cNvSpPr>
            <a:spLocks noGrp="1"/>
          </p:cNvSpPr>
          <p:nvPr>
            <p:ph type="sldImg"/>
          </p:nvPr>
        </p:nvSpPr>
        <p:spPr>
          <a:xfrm>
            <a:off x="622440" y="1143000"/>
            <a:ext cx="5611680" cy="3084480"/>
          </a:xfrm>
          <a:prstGeom prst="rect">
            <a:avLst/>
          </a:prstGeom>
          <a:ln w="0">
            <a:noFill/>
          </a:ln>
        </p:spPr>
      </p:sp>
      <p:sp>
        <p:nvSpPr>
          <p:cNvPr id="6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4" name="PlaceHolder 3"/>
          <p:cNvSpPr>
            <a:spLocks noGrp="1"/>
          </p:cNvSpPr>
          <p:nvPr>
            <p:ph type="sldNum" idx="63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43CC664-4A94-4E68-94F9-9352F36E59E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PlaceHolder 1"/>
          <p:cNvSpPr>
            <a:spLocks noGrp="1"/>
          </p:cNvSpPr>
          <p:nvPr>
            <p:ph type="sldImg"/>
          </p:nvPr>
        </p:nvSpPr>
        <p:spPr>
          <a:xfrm>
            <a:off x="622440" y="1143000"/>
            <a:ext cx="5611680" cy="3084480"/>
          </a:xfrm>
          <a:prstGeom prst="rect">
            <a:avLst/>
          </a:prstGeom>
          <a:ln w="0">
            <a:noFill/>
          </a:ln>
        </p:spPr>
      </p:sp>
      <p:sp>
        <p:nvSpPr>
          <p:cNvPr id="6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7" name="PlaceHolder 3"/>
          <p:cNvSpPr>
            <a:spLocks noGrp="1"/>
          </p:cNvSpPr>
          <p:nvPr>
            <p:ph type="sldNum" idx="64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D3B4267-F3EC-4D04-BA9D-EEDD2449DB5D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PlaceHolder 1"/>
          <p:cNvSpPr>
            <a:spLocks noGrp="1"/>
          </p:cNvSpPr>
          <p:nvPr>
            <p:ph type="sldImg"/>
          </p:nvPr>
        </p:nvSpPr>
        <p:spPr>
          <a:xfrm>
            <a:off x="622440" y="1143000"/>
            <a:ext cx="5611680" cy="3084480"/>
          </a:xfrm>
          <a:prstGeom prst="rect">
            <a:avLst/>
          </a:prstGeom>
          <a:ln w="0">
            <a:noFill/>
          </a:ln>
        </p:spPr>
      </p:sp>
      <p:sp>
        <p:nvSpPr>
          <p:cNvPr id="6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0" name="PlaceHolder 3"/>
          <p:cNvSpPr>
            <a:spLocks noGrp="1"/>
          </p:cNvSpPr>
          <p:nvPr>
            <p:ph type="sldNum" idx="65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C5D26AE-3A9A-4437-BEDA-4E5AB1F68DF2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PlaceHolder 1"/>
          <p:cNvSpPr>
            <a:spLocks noGrp="1"/>
          </p:cNvSpPr>
          <p:nvPr>
            <p:ph type="sldImg"/>
          </p:nvPr>
        </p:nvSpPr>
        <p:spPr>
          <a:xfrm>
            <a:off x="622440" y="1143000"/>
            <a:ext cx="5611680" cy="3084480"/>
          </a:xfrm>
          <a:prstGeom prst="rect">
            <a:avLst/>
          </a:prstGeom>
          <a:ln w="0">
            <a:noFill/>
          </a:ln>
        </p:spPr>
      </p:sp>
      <p:sp>
        <p:nvSpPr>
          <p:cNvPr id="6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3" name="PlaceHolder 3"/>
          <p:cNvSpPr>
            <a:spLocks noGrp="1"/>
          </p:cNvSpPr>
          <p:nvPr>
            <p:ph type="sldNum" idx="66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FDEF803-DD41-4192-BDC2-BB8882C8AD37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PlaceHolder 1"/>
          <p:cNvSpPr>
            <a:spLocks noGrp="1"/>
          </p:cNvSpPr>
          <p:nvPr>
            <p:ph type="sldImg"/>
          </p:nvPr>
        </p:nvSpPr>
        <p:spPr>
          <a:xfrm>
            <a:off x="622440" y="1143000"/>
            <a:ext cx="5611680" cy="3084480"/>
          </a:xfrm>
          <a:prstGeom prst="rect">
            <a:avLst/>
          </a:prstGeom>
          <a:ln w="0">
            <a:noFill/>
          </a:ln>
        </p:spPr>
      </p:sp>
      <p:sp>
        <p:nvSpPr>
          <p:cNvPr id="6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PlaceHolder 3"/>
          <p:cNvSpPr>
            <a:spLocks noGrp="1"/>
          </p:cNvSpPr>
          <p:nvPr>
            <p:ph type="sldNum" idx="67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8790F46-5CE0-46BD-B934-F53B4D308EE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PlaceHolder 1"/>
          <p:cNvSpPr>
            <a:spLocks noGrp="1"/>
          </p:cNvSpPr>
          <p:nvPr>
            <p:ph type="sldImg"/>
          </p:nvPr>
        </p:nvSpPr>
        <p:spPr>
          <a:xfrm>
            <a:off x="622440" y="1143000"/>
            <a:ext cx="5611680" cy="3084480"/>
          </a:xfrm>
          <a:prstGeom prst="rect">
            <a:avLst/>
          </a:prstGeom>
          <a:ln w="0">
            <a:noFill/>
          </a:ln>
        </p:spPr>
      </p:sp>
      <p:sp>
        <p:nvSpPr>
          <p:cNvPr id="6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9" name="PlaceHolder 3"/>
          <p:cNvSpPr>
            <a:spLocks noGrp="1"/>
          </p:cNvSpPr>
          <p:nvPr>
            <p:ph type="sldNum" idx="68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5501A3E-1131-49D7-866E-FC8CF558D60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PlaceHolder 1"/>
          <p:cNvSpPr>
            <a:spLocks noGrp="1"/>
          </p:cNvSpPr>
          <p:nvPr>
            <p:ph type="sldImg"/>
          </p:nvPr>
        </p:nvSpPr>
        <p:spPr>
          <a:xfrm>
            <a:off x="622440" y="1143000"/>
            <a:ext cx="5611680" cy="3084480"/>
          </a:xfrm>
          <a:prstGeom prst="rect">
            <a:avLst/>
          </a:prstGeom>
          <a:ln w="0">
            <a:noFill/>
          </a:ln>
        </p:spPr>
      </p:sp>
      <p:sp>
        <p:nvSpPr>
          <p:cNvPr id="6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2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0EB3988-3DF6-48AA-8FA2-9E6612DF667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PlaceHolder 1"/>
          <p:cNvSpPr>
            <a:spLocks noGrp="1"/>
          </p:cNvSpPr>
          <p:nvPr>
            <p:ph type="sldImg"/>
          </p:nvPr>
        </p:nvSpPr>
        <p:spPr>
          <a:xfrm>
            <a:off x="622440" y="1143000"/>
            <a:ext cx="5611680" cy="3084480"/>
          </a:xfrm>
          <a:prstGeom prst="rect">
            <a:avLst/>
          </a:prstGeom>
          <a:ln w="0">
            <a:noFill/>
          </a:ln>
        </p:spPr>
      </p:sp>
      <p:sp>
        <p:nvSpPr>
          <p:cNvPr id="6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5" name="PlaceHolder 3"/>
          <p:cNvSpPr>
            <a:spLocks noGrp="1"/>
          </p:cNvSpPr>
          <p:nvPr>
            <p:ph type="sldNum" idx="70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5260799-01CB-4165-8174-A03830EB4CC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/>
          <p:cNvSpPr>
            <a:spLocks noGrp="1"/>
          </p:cNvSpPr>
          <p:nvPr>
            <p:ph type="sldImg"/>
          </p:nvPr>
        </p:nvSpPr>
        <p:spPr>
          <a:xfrm>
            <a:off x="622440" y="1143000"/>
            <a:ext cx="5611680" cy="3084480"/>
          </a:xfrm>
          <a:prstGeom prst="rect">
            <a:avLst/>
          </a:prstGeom>
          <a:ln w="0">
            <a:noFill/>
          </a:ln>
        </p:spPr>
      </p:sp>
      <p:sp>
        <p:nvSpPr>
          <p:cNvPr id="6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PlaceHolder 3"/>
          <p:cNvSpPr>
            <a:spLocks noGrp="1"/>
          </p:cNvSpPr>
          <p:nvPr>
            <p:ph type="sldNum" idx="71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96D97B3-48EF-4B82-8D40-A1E0C3FC3E7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935640" y="410400"/>
            <a:ext cx="16846200" cy="171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935640" y="2406960"/>
            <a:ext cx="16846200" cy="5964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A63C7F0-AC61-4D1C-8D1A-5CDF978DEEA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935640" y="410400"/>
            <a:ext cx="16846200" cy="171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ubTitle"/>
          </p:nvPr>
        </p:nvSpPr>
        <p:spPr>
          <a:xfrm>
            <a:off x="935640" y="2406960"/>
            <a:ext cx="16846200" cy="5964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93EBF98-4DE7-4B37-A5F9-18372F8FC0E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935640" y="410400"/>
            <a:ext cx="16846200" cy="171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subTitle"/>
          </p:nvPr>
        </p:nvSpPr>
        <p:spPr>
          <a:xfrm>
            <a:off x="935640" y="2406960"/>
            <a:ext cx="16846200" cy="5964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C347F1BA-B493-4674-872B-F989C8A85CF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1_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"/>
          <p:cNvSpPr/>
          <p:nvPr/>
        </p:nvSpPr>
        <p:spPr>
          <a:xfrm>
            <a:off x="0" y="0"/>
            <a:ext cx="18717840" cy="10285200"/>
          </a:xfrm>
          <a:custGeom>
            <a:avLst/>
            <a:gdLst>
              <a:gd name="textAreaLeft" fmla="*/ 0 w 18717840"/>
              <a:gd name="textAreaRight" fmla="*/ 18719640 w 18717840"/>
              <a:gd name="textAreaTop" fmla="*/ 0 h 10285200"/>
              <a:gd name="textAreaBottom" fmla="*/ 10287000 h 10285200"/>
            </a:gdLst>
            <a:ahLst/>
            <a:cxnLst/>
            <a:rect l="textAreaLeft" t="textAreaTop" r="textAreaRight" b="textAreaBottom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4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935640" y="410400"/>
            <a:ext cx="16846200" cy="171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935640" y="2406960"/>
            <a:ext cx="16846200" cy="5964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 2"/>
          <p:cNvSpPr/>
          <p:nvPr/>
        </p:nvSpPr>
        <p:spPr>
          <a:xfrm>
            <a:off x="0" y="0"/>
            <a:ext cx="18717840" cy="10285200"/>
          </a:xfrm>
          <a:custGeom>
            <a:avLst/>
            <a:gdLst>
              <a:gd name="textAreaLeft" fmla="*/ 0 w 18717840"/>
              <a:gd name="textAreaRight" fmla="*/ 18719640 w 18717840"/>
              <a:gd name="textAreaTop" fmla="*/ 0 h 10285200"/>
              <a:gd name="textAreaBottom" fmla="*/ 10287000 h 10285200"/>
            </a:gdLst>
            <a:ahLst/>
            <a:cxnLst/>
            <a:rect l="textAreaLeft" t="textAreaTop" r="textAreaRight" b="textAreaBottom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4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935640" y="410400"/>
            <a:ext cx="16846200" cy="171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935640" y="2406960"/>
            <a:ext cx="16846200" cy="5964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reeform 2"/>
          <p:cNvSpPr/>
          <p:nvPr/>
        </p:nvSpPr>
        <p:spPr>
          <a:xfrm>
            <a:off x="0" y="0"/>
            <a:ext cx="18717840" cy="10285200"/>
          </a:xfrm>
          <a:custGeom>
            <a:avLst/>
            <a:gdLst>
              <a:gd name="textAreaLeft" fmla="*/ 0 w 18717840"/>
              <a:gd name="textAreaRight" fmla="*/ 18719640 w 18717840"/>
              <a:gd name="textAreaTop" fmla="*/ 0 h 10285200"/>
              <a:gd name="textAreaBottom" fmla="*/ 10287000 h 10285200"/>
            </a:gdLst>
            <a:ahLst/>
            <a:cxnLst/>
            <a:rect l="textAreaLeft" t="textAreaTop" r="textAreaRight" b="textAreaBottom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4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935640" y="410400"/>
            <a:ext cx="16846200" cy="171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935640" y="2406960"/>
            <a:ext cx="16846200" cy="5964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 2"/>
          <p:cNvSpPr/>
          <p:nvPr/>
        </p:nvSpPr>
        <p:spPr>
          <a:xfrm>
            <a:off x="0" y="0"/>
            <a:ext cx="18717840" cy="10285200"/>
          </a:xfrm>
          <a:custGeom>
            <a:avLst/>
            <a:gdLst>
              <a:gd name="textAreaLeft" fmla="*/ 0 w 18717840"/>
              <a:gd name="textAreaRight" fmla="*/ 18719640 w 18717840"/>
              <a:gd name="textAreaTop" fmla="*/ 0 h 10285200"/>
              <a:gd name="textAreaBottom" fmla="*/ 10287000 h 10285200"/>
            </a:gdLst>
            <a:ahLst/>
            <a:cxnLst/>
            <a:rect l="textAreaLeft" t="textAreaTop" r="textAreaRight" b="textAreaBottom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4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935640" y="410400"/>
            <a:ext cx="16846200" cy="171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935640" y="2406960"/>
            <a:ext cx="16846200" cy="5964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 2"/>
          <p:cNvSpPr/>
          <p:nvPr/>
        </p:nvSpPr>
        <p:spPr>
          <a:xfrm>
            <a:off x="0" y="0"/>
            <a:ext cx="18717840" cy="10285200"/>
          </a:xfrm>
          <a:custGeom>
            <a:avLst/>
            <a:gdLst>
              <a:gd name="textAreaLeft" fmla="*/ 0 w 18717840"/>
              <a:gd name="textAreaRight" fmla="*/ 18719640 w 18717840"/>
              <a:gd name="textAreaTop" fmla="*/ 0 h 10285200"/>
              <a:gd name="textAreaBottom" fmla="*/ 10287000 h 10285200"/>
            </a:gdLst>
            <a:ahLst/>
            <a:cxnLst/>
            <a:rect l="textAreaLeft" t="textAreaTop" r="textAreaRight" b="textAreaBottom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4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935640" y="410400"/>
            <a:ext cx="16846200" cy="171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935640" y="2406960"/>
            <a:ext cx="16846200" cy="5964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 2"/>
          <p:cNvSpPr/>
          <p:nvPr/>
        </p:nvSpPr>
        <p:spPr>
          <a:xfrm>
            <a:off x="0" y="0"/>
            <a:ext cx="18717840" cy="10285200"/>
          </a:xfrm>
          <a:custGeom>
            <a:avLst/>
            <a:gdLst>
              <a:gd name="textAreaLeft" fmla="*/ 0 w 18717840"/>
              <a:gd name="textAreaRight" fmla="*/ 18719640 w 18717840"/>
              <a:gd name="textAreaTop" fmla="*/ 0 h 10285200"/>
              <a:gd name="textAreaBottom" fmla="*/ 10287000 h 10285200"/>
            </a:gdLst>
            <a:ahLst/>
            <a:cxnLst/>
            <a:rect l="textAreaLeft" t="textAreaTop" r="textAreaRight" b="textAreaBottom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4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935640" y="1131480"/>
            <a:ext cx="168458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935640" y="2406960"/>
            <a:ext cx="16846200" cy="5964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Section Header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935640" y="1131120"/>
            <a:ext cx="1684620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>
          <a:xfrm>
            <a:off x="3197880" y="6356520"/>
            <a:ext cx="29620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>
          <a:xfrm>
            <a:off x="6707880" y="6356520"/>
            <a:ext cx="21823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3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F330D53-1BCB-4D61-B717-D1716A1AE9A3}" type="slidenum">
              <a:rPr lang="en-US" sz="123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>
          <a:xfrm>
            <a:off x="468000" y="6356520"/>
            <a:ext cx="21823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935640" y="1131120"/>
            <a:ext cx="1684620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ftr" idx="4"/>
          </p:nvPr>
        </p:nvSpPr>
        <p:spPr>
          <a:xfrm>
            <a:off x="3197880" y="6356520"/>
            <a:ext cx="29620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sldNum" idx="5"/>
          </p:nvPr>
        </p:nvSpPr>
        <p:spPr>
          <a:xfrm>
            <a:off x="6707880" y="6356520"/>
            <a:ext cx="21823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3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993287B-62B5-45E0-8F7F-DD47DB8725B4}" type="slidenum">
              <a:rPr lang="en-US" sz="123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dt" idx="6"/>
          </p:nvPr>
        </p:nvSpPr>
        <p:spPr>
          <a:xfrm>
            <a:off x="468000" y="6356520"/>
            <a:ext cx="21823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935640" y="410400"/>
            <a:ext cx="16846200" cy="171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vert="eaVert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ftr" idx="7"/>
          </p:nvPr>
        </p:nvSpPr>
        <p:spPr>
          <a:xfrm>
            <a:off x="3197880" y="6356520"/>
            <a:ext cx="29620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sldNum" idx="8"/>
          </p:nvPr>
        </p:nvSpPr>
        <p:spPr>
          <a:xfrm>
            <a:off x="6707880" y="6356520"/>
            <a:ext cx="21823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3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5FFA056-791E-4438-A957-1A77D95923AB}" type="slidenum">
              <a:rPr lang="en-US" sz="123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dt" idx="9"/>
          </p:nvPr>
        </p:nvSpPr>
        <p:spPr>
          <a:xfrm>
            <a:off x="468000" y="6356520"/>
            <a:ext cx="21823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 2"/>
          <p:cNvSpPr/>
          <p:nvPr/>
        </p:nvSpPr>
        <p:spPr>
          <a:xfrm>
            <a:off x="0" y="0"/>
            <a:ext cx="18717840" cy="10285200"/>
          </a:xfrm>
          <a:custGeom>
            <a:avLst/>
            <a:gdLst>
              <a:gd name="textAreaLeft" fmla="*/ 0 w 18717840"/>
              <a:gd name="textAreaRight" fmla="*/ 18719640 w 18717840"/>
              <a:gd name="textAreaTop" fmla="*/ 0 h 10285200"/>
              <a:gd name="textAreaBottom" fmla="*/ 10287000 h 10285200"/>
            </a:gdLst>
            <a:ahLst/>
            <a:cxnLst/>
            <a:rect l="textAreaLeft" t="textAreaTop" r="textAreaRight" b="textAreaBottom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4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935640" y="410400"/>
            <a:ext cx="1684728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935640" y="2406960"/>
            <a:ext cx="1684728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slideLayout" Target="../slideLayouts/slideLayout8.xml"/><Relationship Id="rId5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7.png"/><Relationship Id="rId6" Type="http://schemas.openxmlformats.org/officeDocument/2006/relationships/hyperlink" Target="https://www.linkedin.com/in/mitchelkoster/" TargetMode="External"/><Relationship Id="rId7" Type="http://schemas.openxmlformats.org/officeDocument/2006/relationships/slideLayout" Target="../slideLayouts/slideLayout8.xml"/><Relationship Id="rId8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hyperlink" Target="https://www.destroyallsoftware.com/talks/wat" TargetMode="External"/><Relationship Id="rId8" Type="http://schemas.openxmlformats.org/officeDocument/2006/relationships/slideLayout" Target="../slideLayouts/slideLayout10.xml"/><Relationship Id="rId9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8.png"/><Relationship Id="rId6" Type="http://schemas.openxmlformats.org/officeDocument/2006/relationships/slideLayout" Target="../slideLayouts/slideLayout10.xml"/><Relationship Id="rId7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hyperlink" Target="https://gobyexample.com/" TargetMode="External"/><Relationship Id="rId6" Type="http://schemas.openxmlformats.org/officeDocument/2006/relationships/image" Target="../media/image8.png"/><Relationship Id="rId7" Type="http://schemas.openxmlformats.org/officeDocument/2006/relationships/hyperlink" Target="https://www.youtube.com/watch?v=oV9rvDllKEg" TargetMode="External"/><Relationship Id="rId8" Type="http://schemas.openxmlformats.org/officeDocument/2006/relationships/hyperlink" Target="https://www.amazon.nl/Learning-Go-Idiomatic-Real-World-Programming/dp/1098139291" TargetMode="External"/><Relationship Id="rId9" Type="http://schemas.openxmlformats.org/officeDocument/2006/relationships/slideLayout" Target="../slideLayouts/slideLayout10.xml"/><Relationship Id="rId10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slideLayout" Target="../slideLayouts/slideLayout8.xml"/><Relationship Id="rId5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hyperlink" Target="https://go.dev/" TargetMode="External"/><Relationship Id="rId6" Type="http://schemas.openxmlformats.org/officeDocument/2006/relationships/image" Target="../media/image8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slideLayout" Target="../slideLayouts/slideLayout10.xml"/><Relationship Id="rId10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8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slideLayout" Target="../slideLayouts/slideLayout10.xml"/><Relationship Id="rId9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8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slideLayout" Target="../slideLayouts/slideLayout10.xml"/><Relationship Id="rId9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8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slideLayout" Target="../slideLayouts/slideLayout10.xml"/><Relationship Id="rId9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slideLayout" Target="../slideLayouts/slideLayout8.xml"/><Relationship Id="rId5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8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slideLayout" Target="../slideLayouts/slideLayout10.xml"/><Relationship Id="rId10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8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slideLayout" Target="../slideLayouts/slideLayout10.xml"/><Relationship Id="rId9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8.png"/><Relationship Id="rId6" Type="http://schemas.openxmlformats.org/officeDocument/2006/relationships/image" Target="../media/image23.png"/><Relationship Id="rId7" Type="http://schemas.openxmlformats.org/officeDocument/2006/relationships/slideLayout" Target="../slideLayouts/slideLayout10.xml"/><Relationship Id="rId8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8.png"/><Relationship Id="rId6" Type="http://schemas.openxmlformats.org/officeDocument/2006/relationships/image" Target="../media/image24.png"/><Relationship Id="rId7" Type="http://schemas.openxmlformats.org/officeDocument/2006/relationships/slideLayout" Target="../slideLayouts/slideLayout10.xml"/><Relationship Id="rId8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8.png"/><Relationship Id="rId6" Type="http://schemas.openxmlformats.org/officeDocument/2006/relationships/image" Target="../media/image25.png"/><Relationship Id="rId7" Type="http://schemas.openxmlformats.org/officeDocument/2006/relationships/slideLayout" Target="../slideLayouts/slideLayout10.xml"/><Relationship Id="rId8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8.png"/><Relationship Id="rId6" Type="http://schemas.openxmlformats.org/officeDocument/2006/relationships/image" Target="../media/image26.png"/><Relationship Id="rId7" Type="http://schemas.openxmlformats.org/officeDocument/2006/relationships/slideLayout" Target="../slideLayouts/slideLayout10.xml"/><Relationship Id="rId8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8.png"/><Relationship Id="rId6" Type="http://schemas.openxmlformats.org/officeDocument/2006/relationships/image" Target="../media/image27.png"/><Relationship Id="rId7" Type="http://schemas.openxmlformats.org/officeDocument/2006/relationships/slideLayout" Target="../slideLayouts/slideLayout10.xml"/><Relationship Id="rId8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8.png"/><Relationship Id="rId6" Type="http://schemas.openxmlformats.org/officeDocument/2006/relationships/image" Target="../media/image28.png"/><Relationship Id="rId7" Type="http://schemas.openxmlformats.org/officeDocument/2006/relationships/slideLayout" Target="../slideLayouts/slideLayout10.xml"/><Relationship Id="rId8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8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slideLayout" Target="../slideLayouts/slideLayout10.xml"/><Relationship Id="rId10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8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slideLayout" Target="../slideLayouts/slideLayout10.xml"/><Relationship Id="rId9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8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Relationship Id="rId9" Type="http://schemas.openxmlformats.org/officeDocument/2006/relationships/image" Target="../media/image36.png"/><Relationship Id="rId10" Type="http://schemas.openxmlformats.org/officeDocument/2006/relationships/slideLayout" Target="../slideLayouts/slideLayout10.xml"/><Relationship Id="rId11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8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Relationship Id="rId9" Type="http://schemas.openxmlformats.org/officeDocument/2006/relationships/slideLayout" Target="../slideLayouts/slideLayout10.xml"/><Relationship Id="rId10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8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Relationship Id="rId8" Type="http://schemas.openxmlformats.org/officeDocument/2006/relationships/slideLayout" Target="../slideLayouts/slideLayout10.xml"/><Relationship Id="rId9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8.png"/><Relationship Id="rId6" Type="http://schemas.openxmlformats.org/officeDocument/2006/relationships/image" Target="../media/image42.png"/><Relationship Id="rId7" Type="http://schemas.openxmlformats.org/officeDocument/2006/relationships/image" Target="../media/image43.png"/><Relationship Id="rId8" Type="http://schemas.openxmlformats.org/officeDocument/2006/relationships/slideLayout" Target="../slideLayouts/slideLayout10.xml"/><Relationship Id="rId9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slideLayout" Target="../slideLayouts/slideLayout8.xml"/><Relationship Id="rId5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8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Relationship Id="rId8" Type="http://schemas.openxmlformats.org/officeDocument/2006/relationships/slideLayout" Target="../slideLayouts/slideLayout10.xml"/><Relationship Id="rId9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8.png"/><Relationship Id="rId6" Type="http://schemas.openxmlformats.org/officeDocument/2006/relationships/image" Target="../media/image46.png"/><Relationship Id="rId7" Type="http://schemas.openxmlformats.org/officeDocument/2006/relationships/image" Target="../media/image47.png"/><Relationship Id="rId8" Type="http://schemas.openxmlformats.org/officeDocument/2006/relationships/slideLayout" Target="../slideLayouts/slideLayout10.xml"/><Relationship Id="rId9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8.png"/><Relationship Id="rId6" Type="http://schemas.openxmlformats.org/officeDocument/2006/relationships/image" Target="../media/image48.png"/><Relationship Id="rId7" Type="http://schemas.openxmlformats.org/officeDocument/2006/relationships/image" Target="../media/image49.png"/><Relationship Id="rId8" Type="http://schemas.openxmlformats.org/officeDocument/2006/relationships/slideLayout" Target="../slideLayouts/slideLayout10.xml"/><Relationship Id="rId9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8.png"/><Relationship Id="rId6" Type="http://schemas.openxmlformats.org/officeDocument/2006/relationships/image" Target="../media/image50.png"/><Relationship Id="rId7" Type="http://schemas.openxmlformats.org/officeDocument/2006/relationships/image" Target="../media/image51.png"/><Relationship Id="rId8" Type="http://schemas.openxmlformats.org/officeDocument/2006/relationships/slideLayout" Target="../slideLayouts/slideLayout10.xml"/><Relationship Id="rId9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svg"/><Relationship Id="rId3" Type="http://schemas.openxmlformats.org/officeDocument/2006/relationships/hyperlink" Target="https://github.com/mitchelkoster/vacay-gaurdian/blob/main/storage/storage.go" TargetMode="External"/><Relationship Id="rId4" Type="http://schemas.openxmlformats.org/officeDocument/2006/relationships/image" Target="../media/image52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slideLayout" Target="../slideLayouts/slideLayout8.xml"/><Relationship Id="rId5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8.png"/><Relationship Id="rId6" Type="http://schemas.openxmlformats.org/officeDocument/2006/relationships/image" Target="../media/image53.png"/><Relationship Id="rId7" Type="http://schemas.openxmlformats.org/officeDocument/2006/relationships/slideLayout" Target="../slideLayouts/slideLayout10.xml"/><Relationship Id="rId8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8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slideLayout" Target="../slideLayouts/slideLayout10.xml"/><Relationship Id="rId9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8.png"/><Relationship Id="rId6" Type="http://schemas.openxmlformats.org/officeDocument/2006/relationships/image" Target="../media/image56.png"/><Relationship Id="rId7" Type="http://schemas.openxmlformats.org/officeDocument/2006/relationships/slideLayout" Target="../slideLayouts/slideLayout10.xml"/><Relationship Id="rId8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8.png"/><Relationship Id="rId6" Type="http://schemas.openxmlformats.org/officeDocument/2006/relationships/image" Target="../media/image57.png"/><Relationship Id="rId7" Type="http://schemas.openxmlformats.org/officeDocument/2006/relationships/image" Target="../media/image58.png"/><Relationship Id="rId8" Type="http://schemas.openxmlformats.org/officeDocument/2006/relationships/slideLayout" Target="../slideLayouts/slideLayout10.xml"/><Relationship Id="rId9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8.png"/><Relationship Id="rId6" Type="http://schemas.openxmlformats.org/officeDocument/2006/relationships/image" Target="../media/image59.png"/><Relationship Id="rId7" Type="http://schemas.openxmlformats.org/officeDocument/2006/relationships/image" Target="../media/image60.png"/><Relationship Id="rId8" Type="http://schemas.openxmlformats.org/officeDocument/2006/relationships/image" Target="../media/image61.png"/><Relationship Id="rId9" Type="http://schemas.openxmlformats.org/officeDocument/2006/relationships/slideLayout" Target="../slideLayouts/slideLayout10.xml"/><Relationship Id="rId10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8.png"/><Relationship Id="rId6" Type="http://schemas.openxmlformats.org/officeDocument/2006/relationships/image" Target="../media/image62.png"/><Relationship Id="rId7" Type="http://schemas.openxmlformats.org/officeDocument/2006/relationships/image" Target="../media/image63.png"/><Relationship Id="rId8" Type="http://schemas.openxmlformats.org/officeDocument/2006/relationships/slideLayout" Target="../slideLayouts/slideLayout10.xml"/><Relationship Id="rId9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8.png"/><Relationship Id="rId6" Type="http://schemas.openxmlformats.org/officeDocument/2006/relationships/image" Target="../media/image64.png"/><Relationship Id="rId7" Type="http://schemas.openxmlformats.org/officeDocument/2006/relationships/image" Target="../media/image65.png"/><Relationship Id="rId8" Type="http://schemas.openxmlformats.org/officeDocument/2006/relationships/slideLayout" Target="../slideLayouts/slideLayout10.xml"/><Relationship Id="rId9" Type="http://schemas.openxmlformats.org/officeDocument/2006/relationships/notesSlide" Target="../notesSlides/notesSlide4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8.png"/><Relationship Id="rId6" Type="http://schemas.openxmlformats.org/officeDocument/2006/relationships/image" Target="../media/image66.png"/><Relationship Id="rId7" Type="http://schemas.openxmlformats.org/officeDocument/2006/relationships/slideLayout" Target="../slideLayouts/slideLayout10.xml"/><Relationship Id="rId8" Type="http://schemas.openxmlformats.org/officeDocument/2006/relationships/notesSlide" Target="../notesSlides/notesSlide4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8.png"/><Relationship Id="rId6" Type="http://schemas.openxmlformats.org/officeDocument/2006/relationships/image" Target="../media/image67.png"/><Relationship Id="rId7" Type="http://schemas.openxmlformats.org/officeDocument/2006/relationships/slideLayout" Target="../slideLayouts/slideLayout10.xml"/><Relationship Id="rId8" Type="http://schemas.openxmlformats.org/officeDocument/2006/relationships/notesSlide" Target="../notesSlides/notesSlide42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8.png"/><Relationship Id="rId6" Type="http://schemas.openxmlformats.org/officeDocument/2006/relationships/image" Target="../media/image68.png"/><Relationship Id="rId7" Type="http://schemas.openxmlformats.org/officeDocument/2006/relationships/slideLayout" Target="../slideLayouts/slideLayout10.xml"/><Relationship Id="rId8" Type="http://schemas.openxmlformats.org/officeDocument/2006/relationships/notesSlide" Target="../notesSlides/notesSlide4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8.png"/><Relationship Id="rId6" Type="http://schemas.openxmlformats.org/officeDocument/2006/relationships/image" Target="../media/image69.png"/><Relationship Id="rId7" Type="http://schemas.openxmlformats.org/officeDocument/2006/relationships/slideLayout" Target="../slideLayouts/slideLayout10.xml"/><Relationship Id="rId8" Type="http://schemas.openxmlformats.org/officeDocument/2006/relationships/notesSlide" Target="../notesSlides/notesSlide44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8.png"/><Relationship Id="rId6" Type="http://schemas.openxmlformats.org/officeDocument/2006/relationships/image" Target="../media/image70.png"/><Relationship Id="rId7" Type="http://schemas.openxmlformats.org/officeDocument/2006/relationships/image" Target="../media/image71.png"/><Relationship Id="rId8" Type="http://schemas.openxmlformats.org/officeDocument/2006/relationships/slideLayout" Target="../slideLayouts/slideLayout10.xml"/><Relationship Id="rId9" Type="http://schemas.openxmlformats.org/officeDocument/2006/relationships/notesSlide" Target="../notesSlides/notesSlide45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8.png"/><Relationship Id="rId6" Type="http://schemas.openxmlformats.org/officeDocument/2006/relationships/image" Target="../media/image72.png"/><Relationship Id="rId7" Type="http://schemas.openxmlformats.org/officeDocument/2006/relationships/slideLayout" Target="../slideLayouts/slideLayout10.xml"/><Relationship Id="rId8" Type="http://schemas.openxmlformats.org/officeDocument/2006/relationships/notesSlide" Target="../notesSlides/notesSlide46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8.png"/><Relationship Id="rId6" Type="http://schemas.openxmlformats.org/officeDocument/2006/relationships/image" Target="../media/image73.png"/><Relationship Id="rId7" Type="http://schemas.openxmlformats.org/officeDocument/2006/relationships/slideLayout" Target="../slideLayouts/slideLayout10.xml"/><Relationship Id="rId8" Type="http://schemas.openxmlformats.org/officeDocument/2006/relationships/notesSlide" Target="../notesSlides/notesSlide47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svg"/><Relationship Id="rId3" Type="http://schemas.openxmlformats.org/officeDocument/2006/relationships/hyperlink" Target="https://pastebin.com/fbW8wUZ7" TargetMode="External"/><Relationship Id="rId4" Type="http://schemas.openxmlformats.org/officeDocument/2006/relationships/image" Target="../media/image7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48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slideLayout" Target="../slideLayouts/slideLayout8.xml"/><Relationship Id="rId5" Type="http://schemas.openxmlformats.org/officeDocument/2006/relationships/notesSlide" Target="../notesSlides/notesSlide4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8.png"/><Relationship Id="rId6" Type="http://schemas.openxmlformats.org/officeDocument/2006/relationships/hyperlink" Target="https://www.youtube.com/watch?v=hxGOiiR9ZKg" TargetMode="External"/><Relationship Id="rId7" Type="http://schemas.openxmlformats.org/officeDocument/2006/relationships/slideLayout" Target="../slideLayouts/slideLayout10.xml"/><Relationship Id="rId8" Type="http://schemas.openxmlformats.org/officeDocument/2006/relationships/notesSlide" Target="../notesSlides/notesSlide50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8.png"/><Relationship Id="rId6" Type="http://schemas.openxmlformats.org/officeDocument/2006/relationships/image" Target="../media/image75.png"/><Relationship Id="rId7" Type="http://schemas.openxmlformats.org/officeDocument/2006/relationships/image" Target="../media/image76.png"/><Relationship Id="rId8" Type="http://schemas.openxmlformats.org/officeDocument/2006/relationships/image" Target="../media/image77.png"/><Relationship Id="rId9" Type="http://schemas.openxmlformats.org/officeDocument/2006/relationships/slideLayout" Target="../slideLayouts/slideLayout10.xml"/><Relationship Id="rId10" Type="http://schemas.openxmlformats.org/officeDocument/2006/relationships/notesSlide" Target="../notesSlides/notesSlide51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8.png"/><Relationship Id="rId6" Type="http://schemas.openxmlformats.org/officeDocument/2006/relationships/image" Target="../media/image78.png"/><Relationship Id="rId7" Type="http://schemas.openxmlformats.org/officeDocument/2006/relationships/image" Target="../media/image79.png"/><Relationship Id="rId8" Type="http://schemas.openxmlformats.org/officeDocument/2006/relationships/slideLayout" Target="../slideLayouts/slideLayout10.xml"/><Relationship Id="rId9" Type="http://schemas.openxmlformats.org/officeDocument/2006/relationships/notesSlide" Target="../notesSlides/notesSlide52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8.png"/><Relationship Id="rId6" Type="http://schemas.openxmlformats.org/officeDocument/2006/relationships/image" Target="../media/image80.png"/><Relationship Id="rId7" Type="http://schemas.openxmlformats.org/officeDocument/2006/relationships/hyperlink" Target="https://refactoring.guru/design-patterns/observer" TargetMode="External"/><Relationship Id="rId8" Type="http://schemas.openxmlformats.org/officeDocument/2006/relationships/slideLayout" Target="../slideLayouts/slideLayout10.xml"/><Relationship Id="rId9" Type="http://schemas.openxmlformats.org/officeDocument/2006/relationships/notesSlide" Target="../notesSlides/notesSlide53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8.png"/><Relationship Id="rId6" Type="http://schemas.openxmlformats.org/officeDocument/2006/relationships/hyperlink" Target="https://refactoring.guru/design-patterns/observer" TargetMode="External"/><Relationship Id="rId7" Type="http://schemas.openxmlformats.org/officeDocument/2006/relationships/image" Target="../media/image81.png"/><Relationship Id="rId8" Type="http://schemas.openxmlformats.org/officeDocument/2006/relationships/image" Target="../media/image82.png"/><Relationship Id="rId9" Type="http://schemas.openxmlformats.org/officeDocument/2006/relationships/hyperlink" Target="https://refactoring.guru/design-patterns/observer" TargetMode="External"/><Relationship Id="rId10" Type="http://schemas.openxmlformats.org/officeDocument/2006/relationships/slideLayout" Target="../slideLayouts/slideLayout10.xml"/><Relationship Id="rId11" Type="http://schemas.openxmlformats.org/officeDocument/2006/relationships/notesSlide" Target="../notesSlides/notesSlide54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8.png"/><Relationship Id="rId6" Type="http://schemas.openxmlformats.org/officeDocument/2006/relationships/image" Target="../media/image83.png"/><Relationship Id="rId7" Type="http://schemas.openxmlformats.org/officeDocument/2006/relationships/image" Target="../media/image84.png"/><Relationship Id="rId8" Type="http://schemas.openxmlformats.org/officeDocument/2006/relationships/image" Target="../media/image85.png"/><Relationship Id="rId9" Type="http://schemas.openxmlformats.org/officeDocument/2006/relationships/image" Target="../media/image86.png"/><Relationship Id="rId10" Type="http://schemas.openxmlformats.org/officeDocument/2006/relationships/image" Target="../media/image87.png"/><Relationship Id="rId11" Type="http://schemas.openxmlformats.org/officeDocument/2006/relationships/slideLayout" Target="../slideLayouts/slideLayout10.xml"/><Relationship Id="rId12" Type="http://schemas.openxmlformats.org/officeDocument/2006/relationships/notesSlide" Target="../notesSlides/notesSlide55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8.png"/><Relationship Id="rId6" Type="http://schemas.openxmlformats.org/officeDocument/2006/relationships/image" Target="../media/image88.png"/><Relationship Id="rId7" Type="http://schemas.openxmlformats.org/officeDocument/2006/relationships/image" Target="../media/image89.png"/><Relationship Id="rId8" Type="http://schemas.openxmlformats.org/officeDocument/2006/relationships/image" Target="../media/image90.png"/><Relationship Id="rId9" Type="http://schemas.openxmlformats.org/officeDocument/2006/relationships/slideLayout" Target="../slideLayouts/slideLayout10.xml"/><Relationship Id="rId10" Type="http://schemas.openxmlformats.org/officeDocument/2006/relationships/notesSlide" Target="../notesSlides/notesSlide56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8.png"/><Relationship Id="rId6" Type="http://schemas.openxmlformats.org/officeDocument/2006/relationships/image" Target="../media/image91.png"/><Relationship Id="rId7" Type="http://schemas.openxmlformats.org/officeDocument/2006/relationships/image" Target="../media/image92.png"/><Relationship Id="rId8" Type="http://schemas.openxmlformats.org/officeDocument/2006/relationships/image" Target="../media/image93.png"/><Relationship Id="rId9" Type="http://schemas.openxmlformats.org/officeDocument/2006/relationships/image" Target="../media/image94.png"/><Relationship Id="rId10" Type="http://schemas.openxmlformats.org/officeDocument/2006/relationships/slideLayout" Target="../slideLayouts/slideLayout10.xml"/><Relationship Id="rId11" Type="http://schemas.openxmlformats.org/officeDocument/2006/relationships/notesSlide" Target="../notesSlides/notesSlide57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svg"/><Relationship Id="rId3" Type="http://schemas.openxmlformats.org/officeDocument/2006/relationships/hyperlink" Target="https://pastebin.com/9r9ADsaQ" TargetMode="External"/><Relationship Id="rId4" Type="http://schemas.openxmlformats.org/officeDocument/2006/relationships/hyperlink" Target="https://pkg.go.dev/net/http" TargetMode="External"/><Relationship Id="rId5" Type="http://schemas.openxmlformats.org/officeDocument/2006/relationships/hyperlink" Target="https://pkg.go.dev/encoding/csv" TargetMode="External"/><Relationship Id="rId6" Type="http://schemas.openxmlformats.org/officeDocument/2006/relationships/slideLayout" Target="../slideLayouts/slideLayout8.xml"/><Relationship Id="rId7" Type="http://schemas.openxmlformats.org/officeDocument/2006/relationships/notesSlide" Target="../notesSlides/notesSlide58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slideLayout" Target="../slideLayouts/slideLayout8.xml"/><Relationship Id="rId5" Type="http://schemas.openxmlformats.org/officeDocument/2006/relationships/notesSlide" Target="../notesSlides/notesSlide5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505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Box 2"/>
          <p:cNvSpPr/>
          <p:nvPr/>
        </p:nvSpPr>
        <p:spPr>
          <a:xfrm>
            <a:off x="1130040" y="3277080"/>
            <a:ext cx="11352960" cy="30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7883"/>
              </a:lnSpc>
            </a:pPr>
            <a:r>
              <a:rPr lang="en-GB" sz="5630" b="0" u="none" strike="noStrike">
                <a:solidFill>
                  <a:schemeClr val="accent6"/>
                </a:solidFill>
                <a:effectLst/>
                <a:uFillTx/>
                <a:latin typeface="Poppins Semi-Bold"/>
                <a:ea typeface="DejaVu Sans"/>
              </a:rPr>
              <a:t>InHolland Golang 2025</a:t>
            </a:r>
            <a:endParaRPr lang="en-US" sz="56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7883"/>
              </a:lnSpc>
            </a:pPr>
            <a:r>
              <a:rPr lang="en-GB" sz="4160" b="0" u="none" strike="noStrike">
                <a:solidFill>
                  <a:srgbClr val="F1F1F3"/>
                </a:solidFill>
                <a:effectLst/>
                <a:uFillTx/>
                <a:latin typeface="Poppins Semi-Bold"/>
                <a:ea typeface="DejaVu Sans"/>
              </a:rPr>
              <a:t>A hands-on introduction to Go in </a:t>
            </a:r>
            <a:br>
              <a:rPr sz="4160"/>
            </a:br>
            <a:r>
              <a:rPr lang="en-GB" sz="4160" b="0" u="none" strike="noStrike">
                <a:solidFill>
                  <a:srgbClr val="F1F1F3"/>
                </a:solidFill>
                <a:effectLst/>
                <a:uFillTx/>
                <a:latin typeface="Poppins Semi-Bold"/>
                <a:ea typeface="DejaVu Sans"/>
              </a:rPr>
              <a:t>one day!</a:t>
            </a:r>
            <a:endParaRPr lang="en-US" sz="41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47" name="Group 3"/>
          <p:cNvGrpSpPr/>
          <p:nvPr/>
        </p:nvGrpSpPr>
        <p:grpSpPr>
          <a:xfrm>
            <a:off x="11482200" y="1690920"/>
            <a:ext cx="5847120" cy="6106680"/>
            <a:chOff x="11482200" y="1690920"/>
            <a:chExt cx="5847120" cy="6106680"/>
          </a:xfrm>
        </p:grpSpPr>
        <p:sp>
          <p:nvSpPr>
            <p:cNvPr id="48" name="Freeform 4"/>
            <p:cNvSpPr/>
            <p:nvPr/>
          </p:nvSpPr>
          <p:spPr>
            <a:xfrm>
              <a:off x="11482200" y="1690920"/>
              <a:ext cx="5847120" cy="6106680"/>
            </a:xfrm>
            <a:custGeom>
              <a:avLst/>
              <a:gdLst>
                <a:gd name="textAreaLeft" fmla="*/ 0 w 5847120"/>
                <a:gd name="textAreaRight" fmla="*/ 5848920 w 5847120"/>
                <a:gd name="textAreaTop" fmla="*/ 0 h 6106680"/>
                <a:gd name="textAreaBottom" fmla="*/ 6108480 h 6106680"/>
              </a:gdLst>
              <a:ahLst/>
              <a:cxnLst/>
              <a:rect l="textAreaLeft" t="textAreaTop" r="textAreaRight" b="textAreaBottom"/>
              <a:pathLst>
                <a:path w="7618603" h="7956550">
                  <a:moveTo>
                    <a:pt x="0" y="0"/>
                  </a:moveTo>
                  <a:lnTo>
                    <a:pt x="7618603" y="0"/>
                  </a:lnTo>
                  <a:lnTo>
                    <a:pt x="7618603" y="7956550"/>
                  </a:lnTo>
                  <a:lnTo>
                    <a:pt x="0" y="79565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4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49" name="Freeform 5"/>
          <p:cNvSpPr/>
          <p:nvPr/>
        </p:nvSpPr>
        <p:spPr>
          <a:xfrm>
            <a:off x="1053000" y="931680"/>
            <a:ext cx="4097160" cy="601920"/>
          </a:xfrm>
          <a:custGeom>
            <a:avLst/>
            <a:gdLst>
              <a:gd name="textAreaLeft" fmla="*/ 0 w 4097160"/>
              <a:gd name="textAreaRight" fmla="*/ 4098960 w 4097160"/>
              <a:gd name="textAreaTop" fmla="*/ 0 h 601920"/>
              <a:gd name="textAreaBottom" fmla="*/ 603720 h 601920"/>
            </a:gdLst>
            <a:ahLst/>
            <a:cxnLst/>
            <a:rect l="textAreaLeft" t="textAreaTop" r="textAreaRight" b="textAreaBottom"/>
            <a:pathLst>
              <a:path w="4004526" h="589757">
                <a:moveTo>
                  <a:pt x="0" y="0"/>
                </a:moveTo>
                <a:lnTo>
                  <a:pt x="4004526" y="0"/>
                </a:lnTo>
                <a:lnTo>
                  <a:pt x="4004526" y="589757"/>
                </a:lnTo>
                <a:lnTo>
                  <a:pt x="0" y="58975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4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cxnSp>
        <p:nvCxnSpPr>
          <p:cNvPr id="50" name="Straight Connector 5"/>
          <p:cNvCxnSpPr/>
          <p:nvPr/>
        </p:nvCxnSpPr>
        <p:spPr>
          <a:xfrm flipH="1">
            <a:off x="1130040" y="6667200"/>
            <a:ext cx="8384040" cy="1800"/>
          </a:xfrm>
          <a:prstGeom prst="straightConnector1">
            <a:avLst/>
          </a:prstGeom>
          <a:ln w="76320">
            <a:solidFill>
              <a:srgbClr val="EEECE1"/>
            </a:solidFill>
            <a:round/>
          </a:ln>
        </p:spPr>
      </p:cxnSp>
      <p:sp>
        <p:nvSpPr>
          <p:cNvPr id="51" name="TextBox 11"/>
          <p:cNvSpPr/>
          <p:nvPr/>
        </p:nvSpPr>
        <p:spPr>
          <a:xfrm>
            <a:off x="1053000" y="6797520"/>
            <a:ext cx="9357480" cy="10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ts val="7883"/>
              </a:lnSpc>
            </a:pPr>
            <a:r>
              <a:rPr lang="en-GB" sz="4160" b="0" u="none" strike="noStrike">
                <a:solidFill>
                  <a:schemeClr val="accent4"/>
                </a:solidFill>
                <a:effectLst/>
                <a:uFillTx/>
                <a:latin typeface="Poppins Semi-Bold"/>
                <a:ea typeface="DejaVu Sans"/>
              </a:rPr>
              <a:t>Mitchel Koster</a:t>
            </a:r>
            <a:endParaRPr lang="en-US" sz="41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Box 7"/>
          <p:cNvSpPr/>
          <p:nvPr/>
        </p:nvSpPr>
        <p:spPr>
          <a:xfrm>
            <a:off x="10462320" y="9408240"/>
            <a:ext cx="82094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457200" defTabSz="914400">
              <a:lnSpc>
                <a:spcPct val="150000"/>
              </a:lnSpc>
            </a:pPr>
            <a:r>
              <a:rPr lang="en-NL" sz="2400" b="0" u="sng" strike="noStrike">
                <a:solidFill>
                  <a:schemeClr val="accent1"/>
                </a:solidFill>
                <a:effectLst/>
                <a:uFillTx/>
                <a:latin typeface="Calibri"/>
                <a:ea typeface="DejaVu Sans"/>
              </a:rPr>
              <a:t>https://github.com/mitchelkoster/inholland-2025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505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Box 120"/>
          <p:cNvSpPr/>
          <p:nvPr/>
        </p:nvSpPr>
        <p:spPr>
          <a:xfrm>
            <a:off x="1130040" y="3277080"/>
            <a:ext cx="11352960" cy="100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7883"/>
              </a:lnSpc>
            </a:pPr>
            <a:r>
              <a:rPr lang="en-GB" sz="5630" b="0" u="none" strike="noStrike">
                <a:solidFill>
                  <a:schemeClr val="accent6"/>
                </a:solidFill>
                <a:effectLst/>
                <a:uFillTx/>
                <a:latin typeface="Poppins Semi-Bold"/>
                <a:ea typeface="DejaVu Sans"/>
              </a:rPr>
              <a:t>0x00 - Introduction</a:t>
            </a:r>
            <a:endParaRPr lang="en-US" sz="56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54" name="Group 11"/>
          <p:cNvGrpSpPr/>
          <p:nvPr/>
        </p:nvGrpSpPr>
        <p:grpSpPr>
          <a:xfrm>
            <a:off x="11482200" y="1690920"/>
            <a:ext cx="5847120" cy="6106680"/>
            <a:chOff x="11482200" y="1690920"/>
            <a:chExt cx="5847120" cy="6106680"/>
          </a:xfrm>
        </p:grpSpPr>
        <p:sp>
          <p:nvSpPr>
            <p:cNvPr id="55" name="Freeform 116"/>
            <p:cNvSpPr/>
            <p:nvPr/>
          </p:nvSpPr>
          <p:spPr>
            <a:xfrm>
              <a:off x="11482200" y="1690920"/>
              <a:ext cx="5847120" cy="6106680"/>
            </a:xfrm>
            <a:custGeom>
              <a:avLst/>
              <a:gdLst>
                <a:gd name="textAreaLeft" fmla="*/ 0 w 5847120"/>
                <a:gd name="textAreaRight" fmla="*/ 5848920 w 5847120"/>
                <a:gd name="textAreaTop" fmla="*/ 0 h 6106680"/>
                <a:gd name="textAreaBottom" fmla="*/ 6108480 h 6106680"/>
              </a:gdLst>
              <a:ahLst/>
              <a:cxnLst/>
              <a:rect l="textAreaLeft" t="textAreaTop" r="textAreaRight" b="textAreaBottom"/>
              <a:pathLst>
                <a:path w="7618603" h="7956550">
                  <a:moveTo>
                    <a:pt x="0" y="0"/>
                  </a:moveTo>
                  <a:lnTo>
                    <a:pt x="7618603" y="0"/>
                  </a:lnTo>
                  <a:lnTo>
                    <a:pt x="7618603" y="7956550"/>
                  </a:lnTo>
                  <a:lnTo>
                    <a:pt x="0" y="79565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4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56" name="Freeform 117"/>
          <p:cNvSpPr/>
          <p:nvPr/>
        </p:nvSpPr>
        <p:spPr>
          <a:xfrm>
            <a:off x="1053000" y="931680"/>
            <a:ext cx="4097160" cy="601920"/>
          </a:xfrm>
          <a:custGeom>
            <a:avLst/>
            <a:gdLst>
              <a:gd name="textAreaLeft" fmla="*/ 0 w 4097160"/>
              <a:gd name="textAreaRight" fmla="*/ 4098960 w 4097160"/>
              <a:gd name="textAreaTop" fmla="*/ 0 h 601920"/>
              <a:gd name="textAreaBottom" fmla="*/ 603720 h 601920"/>
            </a:gdLst>
            <a:ahLst/>
            <a:cxnLst/>
            <a:rect l="textAreaLeft" t="textAreaTop" r="textAreaRight" b="textAreaBottom"/>
            <a:pathLst>
              <a:path w="4004526" h="589757">
                <a:moveTo>
                  <a:pt x="0" y="0"/>
                </a:moveTo>
                <a:lnTo>
                  <a:pt x="4004526" y="0"/>
                </a:lnTo>
                <a:lnTo>
                  <a:pt x="4004526" y="589757"/>
                </a:lnTo>
                <a:lnTo>
                  <a:pt x="0" y="58975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4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TextBox 122"/>
          <p:cNvSpPr/>
          <p:nvPr/>
        </p:nvSpPr>
        <p:spPr>
          <a:xfrm>
            <a:off x="685800" y="4208040"/>
            <a:ext cx="10971000" cy="22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800280" lvl="1" indent="-343080" defTabSz="91440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Whoami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00280" lvl="1" indent="-343080" defTabSz="91440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What will we learn?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00280" lvl="1" indent="-343080" defTabSz="91440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What is Golang?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00280" lvl="1" indent="-343080" defTabSz="91440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Useful resources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Freeform 3"/>
          <p:cNvSpPr/>
          <p:nvPr/>
        </p:nvSpPr>
        <p:spPr>
          <a:xfrm>
            <a:off x="1739880" y="498600"/>
            <a:ext cx="15485400" cy="1526760"/>
          </a:xfrm>
          <a:custGeom>
            <a:avLst/>
            <a:gdLst>
              <a:gd name="textAreaLeft" fmla="*/ 0 w 15485400"/>
              <a:gd name="textAreaRight" fmla="*/ 15487200 w 15485400"/>
              <a:gd name="textAreaTop" fmla="*/ 0 h 1526760"/>
              <a:gd name="textAreaBottom" fmla="*/ 1528560 h 1526760"/>
            </a:gdLst>
            <a:ahLst/>
            <a:cxnLst/>
            <a:rect l="textAreaLeft" t="textAreaTop" r="textAreaRight" b="textAreaBottom"/>
            <a:pathLst>
              <a:path w="15129861" h="1493264">
                <a:moveTo>
                  <a:pt x="0" y="0"/>
                </a:moveTo>
                <a:lnTo>
                  <a:pt x="15129861" y="0"/>
                </a:lnTo>
                <a:lnTo>
                  <a:pt x="15129861" y="1493264"/>
                </a:lnTo>
                <a:lnTo>
                  <a:pt x="0" y="149326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4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" name="TextBox 4"/>
          <p:cNvSpPr/>
          <p:nvPr/>
        </p:nvSpPr>
        <p:spPr>
          <a:xfrm>
            <a:off x="3197880" y="613080"/>
            <a:ext cx="12758760" cy="62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36000">
              <a:lnSpc>
                <a:spcPts val="4912"/>
              </a:lnSpc>
            </a:pPr>
            <a:r>
              <a:rPr lang="en-US" sz="4610" b="0" u="none" strike="noStrike">
                <a:solidFill>
                  <a:schemeClr val="lt1"/>
                </a:solidFill>
                <a:effectLst/>
                <a:uFillTx/>
                <a:latin typeface="Poppins Semi-Bold"/>
                <a:ea typeface="DejaVu Sans"/>
              </a:rPr>
              <a:t>Whoami</a:t>
            </a:r>
            <a:endParaRPr lang="en-US" sz="46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Freeform 19"/>
          <p:cNvSpPr/>
          <p:nvPr/>
        </p:nvSpPr>
        <p:spPr>
          <a:xfrm>
            <a:off x="16071840" y="9673920"/>
            <a:ext cx="2346120" cy="344160"/>
          </a:xfrm>
          <a:custGeom>
            <a:avLst/>
            <a:gdLst>
              <a:gd name="textAreaLeft" fmla="*/ 0 w 2346120"/>
              <a:gd name="textAreaRight" fmla="*/ 2347920 w 2346120"/>
              <a:gd name="textAreaTop" fmla="*/ 0 h 344160"/>
              <a:gd name="textAreaBottom" fmla="*/ 345960 h 344160"/>
            </a:gdLst>
            <a:ahLst/>
            <a:cxnLst/>
            <a:rect l="textAreaLeft" t="textAreaTop" r="textAreaRight" b="textAreaBottom"/>
            <a:pathLst>
              <a:path w="2293806" h="337815">
                <a:moveTo>
                  <a:pt x="0" y="0"/>
                </a:moveTo>
                <a:lnTo>
                  <a:pt x="2293806" y="0"/>
                </a:lnTo>
                <a:lnTo>
                  <a:pt x="2293806" y="337815"/>
                </a:lnTo>
                <a:lnTo>
                  <a:pt x="0" y="33781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4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1" name="TextBox 4"/>
          <p:cNvSpPr/>
          <p:nvPr/>
        </p:nvSpPr>
        <p:spPr>
          <a:xfrm>
            <a:off x="1730160" y="2173680"/>
            <a:ext cx="9142200" cy="411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457200" defTabSz="914400">
              <a:lnSpc>
                <a:spcPct val="200000"/>
              </a:lnSpc>
            </a:pPr>
            <a:r>
              <a:rPr lang="en-GB" sz="3600" b="1" u="none" strike="noStrike">
                <a:solidFill>
                  <a:schemeClr val="accent6"/>
                </a:solidFill>
                <a:effectLst/>
                <a:uFillTx/>
                <a:latin typeface="Calibri"/>
                <a:ea typeface="DejaVu Sans"/>
              </a:rPr>
              <a:t>About Me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lvl="1" indent="-343080" defTabSz="91440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DejaVu Sans"/>
              </a:rPr>
              <a:t>Chief Security Researcher @ Breachlock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lvl="1" indent="-343080" defTabSz="91440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DejaVu Sans"/>
              </a:rPr>
              <a:t>Background in Software Development &amp; Embedded Systems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lvl="1" indent="-343080" defTabSz="91440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DejaVu Sans"/>
              </a:rPr>
              <a:t>Pentester, Red Teamer, Software Developer &amp; Mentor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lvl="1" indent="-343080" defTabSz="91440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DejaVu Sans"/>
              </a:rPr>
              <a:t>A passion for learning how things work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2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2" name="Picture 6" descr="Mitchel Koster - Chief Security Researcher"/>
          <p:cNvPicPr/>
          <p:nvPr/>
        </p:nvPicPr>
        <p:blipFill>
          <a:blip r:embed="rId5"/>
          <a:stretch/>
        </p:blipFill>
        <p:spPr>
          <a:xfrm>
            <a:off x="10350360" y="2173680"/>
            <a:ext cx="5408280" cy="540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TextBox 13"/>
          <p:cNvSpPr/>
          <p:nvPr/>
        </p:nvSpPr>
        <p:spPr>
          <a:xfrm>
            <a:off x="1739880" y="5485320"/>
            <a:ext cx="9360000" cy="338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457200" defTabSz="914400">
              <a:lnSpc>
                <a:spcPct val="200000"/>
              </a:lnSpc>
            </a:pPr>
            <a:r>
              <a:rPr lang="en-GB" sz="3600" b="1" u="none" strike="noStrike">
                <a:solidFill>
                  <a:schemeClr val="accent6"/>
                </a:solidFill>
                <a:effectLst/>
                <a:uFillTx/>
                <a:latin typeface="Calibri"/>
                <a:ea typeface="DejaVu Sans"/>
              </a:rPr>
              <a:t>Certifications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lvl="1" indent="-34308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nl-NL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DejaVu Sans"/>
              </a:rPr>
              <a:t>OSCP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lvl="1" indent="-34308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nl-NL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DejaVu Sans"/>
              </a:rPr>
              <a:t>OSCE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lvl="1" indent="-34308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nl-NL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DejaVu Sans"/>
              </a:rPr>
              <a:t>CREST: CPSA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lvl="1" indent="-343080" defTabSz="914400">
              <a:lnSpc>
                <a:spcPct val="150000"/>
              </a:lnSpc>
              <a:buClr>
                <a:srgbClr val="FFFFFF"/>
              </a:buClr>
              <a:buFont typeface="OpenSymbol"/>
              <a:buChar char="-"/>
            </a:pPr>
            <a:r>
              <a:rPr lang="nl-NL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DejaVu Sans"/>
              </a:rPr>
              <a:t>CREST: CRPT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4" name="Straight Connector 14"/>
          <p:cNvCxnSpPr/>
          <p:nvPr/>
        </p:nvCxnSpPr>
        <p:spPr>
          <a:xfrm>
            <a:off x="1587240" y="1913760"/>
            <a:ext cx="1800" cy="7164720"/>
          </a:xfrm>
          <a:prstGeom prst="straightConnector1">
            <a:avLst/>
          </a:prstGeom>
          <a:ln w="76320">
            <a:solidFill>
              <a:srgbClr val="EEECE1"/>
            </a:solidFill>
            <a:round/>
          </a:ln>
        </p:spPr>
      </p:cxnSp>
      <p:sp>
        <p:nvSpPr>
          <p:cNvPr id="65" name="TextBox 5"/>
          <p:cNvSpPr/>
          <p:nvPr/>
        </p:nvSpPr>
        <p:spPr>
          <a:xfrm>
            <a:off x="9798480" y="7730640"/>
            <a:ext cx="65124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457200" defTabSz="914400">
              <a:lnSpc>
                <a:spcPct val="150000"/>
              </a:lnSpc>
            </a:pPr>
            <a:r>
              <a:rPr lang="en-NL" sz="2400" b="0" u="sng" strike="noStrike">
                <a:solidFill>
                  <a:schemeClr val="accent1"/>
                </a:solidFill>
                <a:effectLst/>
                <a:uFillTx/>
                <a:latin typeface="Calibri"/>
                <a:ea typeface="DejaVu Sans"/>
                <a:hlinkClick r:id="rId6"/>
              </a:rPr>
              <a:t>https://www.linkedin.com/in/mitchelkoster/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slow">
    <p:push dir="u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Freeform 8"/>
          <p:cNvSpPr/>
          <p:nvPr/>
        </p:nvSpPr>
        <p:spPr>
          <a:xfrm>
            <a:off x="1739880" y="498600"/>
            <a:ext cx="15485400" cy="1526760"/>
          </a:xfrm>
          <a:custGeom>
            <a:avLst/>
            <a:gdLst>
              <a:gd name="textAreaLeft" fmla="*/ 0 w 15485400"/>
              <a:gd name="textAreaRight" fmla="*/ 15487200 w 15485400"/>
              <a:gd name="textAreaTop" fmla="*/ 0 h 1526760"/>
              <a:gd name="textAreaBottom" fmla="*/ 1528560 h 1526760"/>
            </a:gdLst>
            <a:ahLst/>
            <a:cxnLst/>
            <a:rect l="textAreaLeft" t="textAreaTop" r="textAreaRight" b="textAreaBottom"/>
            <a:pathLst>
              <a:path w="15129861" h="1493264">
                <a:moveTo>
                  <a:pt x="0" y="0"/>
                </a:moveTo>
                <a:lnTo>
                  <a:pt x="15129861" y="0"/>
                </a:lnTo>
                <a:lnTo>
                  <a:pt x="15129861" y="1493264"/>
                </a:lnTo>
                <a:lnTo>
                  <a:pt x="0" y="149326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4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TextBox 8"/>
          <p:cNvSpPr/>
          <p:nvPr/>
        </p:nvSpPr>
        <p:spPr>
          <a:xfrm>
            <a:off x="3197880" y="613080"/>
            <a:ext cx="12758760" cy="62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36000">
              <a:lnSpc>
                <a:spcPts val="4912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4610" b="0" u="none" strike="noStrike">
                <a:solidFill>
                  <a:schemeClr val="lt1"/>
                </a:solidFill>
                <a:effectLst/>
                <a:uFillTx/>
                <a:latin typeface="Poppins Semi-Bold"/>
                <a:ea typeface="DejaVu Sans"/>
              </a:rPr>
              <a:t>What is Go?</a:t>
            </a:r>
            <a:endParaRPr lang="en-US" sz="46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Freeform 9"/>
          <p:cNvSpPr/>
          <p:nvPr/>
        </p:nvSpPr>
        <p:spPr>
          <a:xfrm>
            <a:off x="16071840" y="9673920"/>
            <a:ext cx="2346120" cy="344160"/>
          </a:xfrm>
          <a:custGeom>
            <a:avLst/>
            <a:gdLst>
              <a:gd name="textAreaLeft" fmla="*/ 0 w 2346120"/>
              <a:gd name="textAreaRight" fmla="*/ 2347920 w 2346120"/>
              <a:gd name="textAreaTop" fmla="*/ 0 h 344160"/>
              <a:gd name="textAreaBottom" fmla="*/ 345960 h 344160"/>
            </a:gdLst>
            <a:ahLst/>
            <a:cxnLst/>
            <a:rect l="textAreaLeft" t="textAreaTop" r="textAreaRight" b="textAreaBottom"/>
            <a:pathLst>
              <a:path w="2293806" h="337815">
                <a:moveTo>
                  <a:pt x="0" y="0"/>
                </a:moveTo>
                <a:lnTo>
                  <a:pt x="2293806" y="0"/>
                </a:lnTo>
                <a:lnTo>
                  <a:pt x="2293806" y="337815"/>
                </a:lnTo>
                <a:lnTo>
                  <a:pt x="0" y="33781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4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" name="TextBox 28"/>
          <p:cNvSpPr/>
          <p:nvPr/>
        </p:nvSpPr>
        <p:spPr>
          <a:xfrm>
            <a:off x="2057400" y="2286000"/>
            <a:ext cx="9469800" cy="411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457200" defTabSz="914400">
              <a:lnSpc>
                <a:spcPct val="200000"/>
              </a:lnSpc>
            </a:pPr>
            <a:r>
              <a:rPr lang="en-GB" sz="3600" b="1" u="none" strike="noStrike">
                <a:solidFill>
                  <a:schemeClr val="accent6"/>
                </a:solidFill>
                <a:effectLst/>
                <a:uFillTx/>
                <a:latin typeface="Calibri"/>
                <a:ea typeface="DejaVu Sans"/>
              </a:rPr>
              <a:t>What Google Says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lvl="1" indent="-343080" defTabSz="91440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An open-source programming language supported by Google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lvl="1" indent="-343080" defTabSz="91440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Easy to learn and great for teams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lvl="1" indent="-343080" defTabSz="91440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Built-in concurrency and a robust standard library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lvl="1" indent="-343080" defTabSz="91440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Large ecosystem of partners, communities, and tools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2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0" name=""/>
          <p:cNvPicPr/>
          <p:nvPr/>
        </p:nvPicPr>
        <p:blipFill>
          <a:blip r:embed="rId5"/>
          <a:stretch/>
        </p:blipFill>
        <p:spPr>
          <a:xfrm>
            <a:off x="314640" y="4572000"/>
            <a:ext cx="1741320" cy="5446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1" name=""/>
          <p:cNvPicPr/>
          <p:nvPr/>
        </p:nvPicPr>
        <p:blipFill>
          <a:blip r:embed="rId6"/>
          <a:stretch/>
        </p:blipFill>
        <p:spPr>
          <a:xfrm>
            <a:off x="11658600" y="2743200"/>
            <a:ext cx="5942160" cy="5942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TextBox 29"/>
          <p:cNvSpPr/>
          <p:nvPr/>
        </p:nvSpPr>
        <p:spPr>
          <a:xfrm>
            <a:off x="2057400" y="5396760"/>
            <a:ext cx="9469800" cy="46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457200" defTabSz="914400">
              <a:lnSpc>
                <a:spcPct val="200000"/>
              </a:lnSpc>
            </a:pPr>
            <a:r>
              <a:rPr lang="en-GB" sz="3600" b="1" u="none" strike="noStrike">
                <a:solidFill>
                  <a:schemeClr val="accent6"/>
                </a:solidFill>
                <a:effectLst/>
                <a:uFillTx/>
                <a:latin typeface="Calibri"/>
                <a:ea typeface="DejaVu Sans"/>
              </a:rPr>
              <a:t>My own additions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lvl="1" indent="-343080" defTabSz="91440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A language with a </a:t>
            </a:r>
            <a:r>
              <a:rPr lang="en-GB" sz="2400" b="0" i="1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“simplicity first”</a:t>
            </a: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 approach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lvl="1" indent="-343080" defTabSz="91440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It’s not a loosely-typed language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lvl="1" indent="-343080" defTabSz="91440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Build from the ground up with scalability in mind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lvl="1" indent="-343080" defTabSz="91440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It’s compiled and supports cross-platform compilation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lvl="1" indent="-343080" defTabSz="91440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Is one of the fastest languages out there!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2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10270440" y="8915400"/>
            <a:ext cx="778896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800280" lvl="1" indent="-343080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Font typeface="Arial"/>
              <a:buChar char="•"/>
            </a:pPr>
            <a:r>
              <a:rPr lang="en-NL" sz="2400" b="0" u="sng" strike="noStrike">
                <a:solidFill>
                  <a:schemeClr val="accent1"/>
                </a:solidFill>
                <a:effectLst/>
                <a:uFillTx/>
                <a:latin typeface="Calibri"/>
                <a:ea typeface="DejaVu Sans"/>
                <a:hlinkClick r:id="rId7"/>
              </a:rPr>
              <a:t>https://www.destroyallsoftware.com/talks/wat</a:t>
            </a:r>
            <a:r>
              <a:rPr lang="en-NL" sz="2400" b="0" u="sng" strike="noStrike">
                <a:solidFill>
                  <a:schemeClr val="accent1"/>
                </a:solidFill>
                <a:effectLst/>
                <a:uFillTx/>
                <a:latin typeface="Calibri"/>
                <a:ea typeface="DejaVu Sans"/>
              </a:rPr>
              <a:t> (video)</a:t>
            </a:r>
            <a:endParaRPr lang="en-US" sz="2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slow">
    <p:push dir="u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Freeform 10"/>
          <p:cNvSpPr/>
          <p:nvPr/>
        </p:nvSpPr>
        <p:spPr>
          <a:xfrm>
            <a:off x="1739880" y="498600"/>
            <a:ext cx="15485400" cy="1526760"/>
          </a:xfrm>
          <a:custGeom>
            <a:avLst/>
            <a:gdLst>
              <a:gd name="textAreaLeft" fmla="*/ 0 w 15485400"/>
              <a:gd name="textAreaRight" fmla="*/ 15487200 w 15485400"/>
              <a:gd name="textAreaTop" fmla="*/ 0 h 1526760"/>
              <a:gd name="textAreaBottom" fmla="*/ 1528560 h 1526760"/>
            </a:gdLst>
            <a:ahLst/>
            <a:cxnLst/>
            <a:rect l="textAreaLeft" t="textAreaTop" r="textAreaRight" b="textAreaBottom"/>
            <a:pathLst>
              <a:path w="15129861" h="1493264">
                <a:moveTo>
                  <a:pt x="0" y="0"/>
                </a:moveTo>
                <a:lnTo>
                  <a:pt x="15129861" y="0"/>
                </a:lnTo>
                <a:lnTo>
                  <a:pt x="15129861" y="1493264"/>
                </a:lnTo>
                <a:lnTo>
                  <a:pt x="0" y="149326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4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TextBox 9"/>
          <p:cNvSpPr/>
          <p:nvPr/>
        </p:nvSpPr>
        <p:spPr>
          <a:xfrm>
            <a:off x="3197880" y="613080"/>
            <a:ext cx="12758760" cy="62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36000">
              <a:lnSpc>
                <a:spcPts val="4912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4610" b="0" u="none" strike="noStrike">
                <a:solidFill>
                  <a:schemeClr val="lt1"/>
                </a:solidFill>
                <a:effectLst/>
                <a:uFillTx/>
                <a:latin typeface="Poppins Semi-Bold"/>
                <a:ea typeface="DejaVu Sans"/>
              </a:rPr>
              <a:t>What will we learn?</a:t>
            </a:r>
            <a:endParaRPr lang="en-US" sz="46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Freeform 11"/>
          <p:cNvSpPr/>
          <p:nvPr/>
        </p:nvSpPr>
        <p:spPr>
          <a:xfrm>
            <a:off x="16071840" y="9673920"/>
            <a:ext cx="2346120" cy="344160"/>
          </a:xfrm>
          <a:custGeom>
            <a:avLst/>
            <a:gdLst>
              <a:gd name="textAreaLeft" fmla="*/ 0 w 2346120"/>
              <a:gd name="textAreaRight" fmla="*/ 2347920 w 2346120"/>
              <a:gd name="textAreaTop" fmla="*/ 0 h 344160"/>
              <a:gd name="textAreaBottom" fmla="*/ 345960 h 344160"/>
            </a:gdLst>
            <a:ahLst/>
            <a:cxnLst/>
            <a:rect l="textAreaLeft" t="textAreaTop" r="textAreaRight" b="textAreaBottom"/>
            <a:pathLst>
              <a:path w="2293806" h="337815">
                <a:moveTo>
                  <a:pt x="0" y="0"/>
                </a:moveTo>
                <a:lnTo>
                  <a:pt x="2293806" y="0"/>
                </a:lnTo>
                <a:lnTo>
                  <a:pt x="2293806" y="337815"/>
                </a:lnTo>
                <a:lnTo>
                  <a:pt x="0" y="33781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4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7" name=""/>
          <p:cNvPicPr/>
          <p:nvPr/>
        </p:nvPicPr>
        <p:blipFill>
          <a:blip r:embed="rId5"/>
          <a:stretch/>
        </p:blipFill>
        <p:spPr>
          <a:xfrm>
            <a:off x="315000" y="4572360"/>
            <a:ext cx="1741320" cy="5446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TextBox 30"/>
          <p:cNvSpPr/>
          <p:nvPr/>
        </p:nvSpPr>
        <p:spPr>
          <a:xfrm>
            <a:off x="2286000" y="1828800"/>
            <a:ext cx="15413400" cy="66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 defTabSz="914400">
              <a:lnSpc>
                <a:spcPct val="2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2400" b="1" u="none" strike="noStrike">
                <a:solidFill>
                  <a:srgbClr val="FF8000"/>
                </a:solidFill>
                <a:effectLst/>
                <a:uFillTx/>
                <a:latin typeface="Calibri"/>
                <a:ea typeface="Noto Sans CJK SC"/>
              </a:rPr>
              <a:t>0x01 - Setup &amp; Tooling</a:t>
            </a: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 Install Go, write and compile your first program.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2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2400" b="1" u="none" strike="noStrike">
                <a:solidFill>
                  <a:srgbClr val="FF8000"/>
                </a:solidFill>
                <a:effectLst/>
                <a:uFillTx/>
                <a:latin typeface="Calibri"/>
                <a:ea typeface="Noto Sans CJK SC"/>
              </a:rPr>
              <a:t>0x02 – Language Basics</a:t>
            </a: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 Learn variables, control flow, and functions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2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2400" b="1" u="none" strike="noStrike">
                <a:solidFill>
                  <a:srgbClr val="FF8000"/>
                </a:solidFill>
                <a:effectLst/>
                <a:uFillTx/>
                <a:latin typeface="Calibri"/>
                <a:ea typeface="Noto Sans CJK SC"/>
              </a:rPr>
              <a:t>0x03 - Files &amp; Errors</a:t>
            </a:r>
            <a:r>
              <a:rPr lang="en-GB" sz="2400" b="1" u="none" strike="noStrike">
                <a:solidFill>
                  <a:srgbClr val="2A6099"/>
                </a:solidFill>
                <a:effectLst/>
                <a:uFillTx/>
                <a:latin typeface="Calibri"/>
                <a:ea typeface="Noto Sans CJK SC"/>
              </a:rPr>
              <a:t> </a:t>
            </a: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 Understand the “Go way” of error handling and basic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2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2400" b="1" u="none" strike="noStrike">
                <a:solidFill>
                  <a:srgbClr val="3465A4"/>
                </a:solidFill>
                <a:effectLst/>
                <a:uFillTx/>
                <a:latin typeface="Calibri"/>
                <a:ea typeface="Noto Sans CJK SC"/>
              </a:rPr>
              <a:t>Exercise</a:t>
            </a:r>
            <a:r>
              <a:rPr lang="en-GB" sz="2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 </a:t>
            </a: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 Spot my mistake!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2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2400" b="1" u="none" strike="noStrike">
                <a:solidFill>
                  <a:srgbClr val="FF8000"/>
                </a:solidFill>
                <a:effectLst/>
                <a:uFillTx/>
                <a:latin typeface="Calibri"/>
                <a:ea typeface="Noto Sans CJK SC"/>
              </a:rPr>
              <a:t>0x04 - Data Structures</a:t>
            </a:r>
            <a:r>
              <a:rPr lang="en-GB" sz="2400" b="1" u="none" strike="noStrike">
                <a:solidFill>
                  <a:srgbClr val="2A6099"/>
                </a:solidFill>
                <a:effectLst/>
                <a:uFillTx/>
                <a:latin typeface="Calibri"/>
                <a:ea typeface="Noto Sans CJK SC"/>
              </a:rPr>
              <a:t> </a:t>
            </a: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Work with slices, maps, and structs and pointers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2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2400" b="1" u="none" strike="noStrike">
                <a:solidFill>
                  <a:srgbClr val="3465A4"/>
                </a:solidFill>
                <a:effectLst/>
                <a:uFillTx/>
                <a:latin typeface="Calibri"/>
                <a:ea typeface="Noto Sans CJK SC"/>
              </a:rPr>
              <a:t>Exercise</a:t>
            </a:r>
            <a:r>
              <a:rPr lang="en-GB" sz="2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 </a:t>
            </a: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 Parse web server log books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2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2400" b="1" u="none" strike="noStrike">
                <a:solidFill>
                  <a:srgbClr val="FF8000"/>
                </a:solidFill>
                <a:effectLst/>
                <a:uFillTx/>
                <a:latin typeface="Calibri"/>
                <a:ea typeface="Noto Sans CJK SC"/>
              </a:rPr>
              <a:t>0x05 Go != OOP</a:t>
            </a: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 Use composition and interfaces to build a website uptime monitor.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2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2400" b="1" u="none" strike="noStrike">
                <a:solidFill>
                  <a:srgbClr val="3465A4"/>
                </a:solidFill>
                <a:effectLst/>
                <a:uFillTx/>
                <a:latin typeface="Calibri"/>
                <a:ea typeface="Noto Sans CJK SC"/>
              </a:rPr>
              <a:t>Exercise</a:t>
            </a:r>
            <a:r>
              <a:rPr lang="en-GB" sz="2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 </a:t>
            </a: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 Build a website up-time monitor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2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slow">
    <p:push dir="u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Freeform 14"/>
          <p:cNvSpPr/>
          <p:nvPr/>
        </p:nvSpPr>
        <p:spPr>
          <a:xfrm>
            <a:off x="1739880" y="498600"/>
            <a:ext cx="15485400" cy="1526760"/>
          </a:xfrm>
          <a:custGeom>
            <a:avLst/>
            <a:gdLst>
              <a:gd name="textAreaLeft" fmla="*/ 0 w 15485400"/>
              <a:gd name="textAreaRight" fmla="*/ 15487200 w 15485400"/>
              <a:gd name="textAreaTop" fmla="*/ 0 h 1526760"/>
              <a:gd name="textAreaBottom" fmla="*/ 1528560 h 1526760"/>
            </a:gdLst>
            <a:ahLst/>
            <a:cxnLst/>
            <a:rect l="textAreaLeft" t="textAreaTop" r="textAreaRight" b="textAreaBottom"/>
            <a:pathLst>
              <a:path w="15129861" h="1493264">
                <a:moveTo>
                  <a:pt x="0" y="0"/>
                </a:moveTo>
                <a:lnTo>
                  <a:pt x="15129861" y="0"/>
                </a:lnTo>
                <a:lnTo>
                  <a:pt x="15129861" y="1493264"/>
                </a:lnTo>
                <a:lnTo>
                  <a:pt x="0" y="149326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4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TextBox 12"/>
          <p:cNvSpPr/>
          <p:nvPr/>
        </p:nvSpPr>
        <p:spPr>
          <a:xfrm>
            <a:off x="3197880" y="613080"/>
            <a:ext cx="12758760" cy="62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36000">
              <a:lnSpc>
                <a:spcPts val="4912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4610" b="0" u="none" strike="noStrike">
                <a:solidFill>
                  <a:schemeClr val="lt1"/>
                </a:solidFill>
                <a:effectLst/>
                <a:uFillTx/>
                <a:latin typeface="Poppins Semi-Bold"/>
                <a:ea typeface="DejaVu Sans"/>
              </a:rPr>
              <a:t>Useful Resources</a:t>
            </a:r>
            <a:endParaRPr lang="en-US" sz="46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Freeform 15"/>
          <p:cNvSpPr/>
          <p:nvPr/>
        </p:nvSpPr>
        <p:spPr>
          <a:xfrm>
            <a:off x="16071840" y="9673920"/>
            <a:ext cx="2346120" cy="344160"/>
          </a:xfrm>
          <a:custGeom>
            <a:avLst/>
            <a:gdLst>
              <a:gd name="textAreaLeft" fmla="*/ 0 w 2346120"/>
              <a:gd name="textAreaRight" fmla="*/ 2347920 w 2346120"/>
              <a:gd name="textAreaTop" fmla="*/ 0 h 344160"/>
              <a:gd name="textAreaBottom" fmla="*/ 345960 h 344160"/>
            </a:gdLst>
            <a:ahLst/>
            <a:cxnLst/>
            <a:rect l="textAreaLeft" t="textAreaTop" r="textAreaRight" b="textAreaBottom"/>
            <a:pathLst>
              <a:path w="2293806" h="337815">
                <a:moveTo>
                  <a:pt x="0" y="0"/>
                </a:moveTo>
                <a:lnTo>
                  <a:pt x="2293806" y="0"/>
                </a:lnTo>
                <a:lnTo>
                  <a:pt x="2293806" y="337815"/>
                </a:lnTo>
                <a:lnTo>
                  <a:pt x="0" y="33781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4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TextBox 14"/>
          <p:cNvSpPr/>
          <p:nvPr/>
        </p:nvSpPr>
        <p:spPr>
          <a:xfrm>
            <a:off x="2286000" y="2514600"/>
            <a:ext cx="9469800" cy="28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457200" defTabSz="914400">
              <a:lnSpc>
                <a:spcPct val="2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lvl="1" indent="-343080" defTabSz="91440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lang="en-NL" sz="2400" b="0" u="sng" strike="noStrike">
                <a:solidFill>
                  <a:schemeClr val="accent1"/>
                </a:solidFill>
                <a:effectLst/>
                <a:uFillTx/>
                <a:latin typeface="Calibri"/>
                <a:ea typeface="DejaVu Sans"/>
              </a:rPr>
              <a:t>https://go.dev/learn/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lvl="1" indent="-343080" defTabSz="91440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lang="en-NL" sz="2400" b="0" u="sng" strike="noStrike">
                <a:solidFill>
                  <a:schemeClr val="accent1"/>
                </a:solidFill>
                <a:effectLst/>
                <a:uFillTx/>
                <a:latin typeface="Calibri"/>
                <a:ea typeface="DejaVu Sans"/>
                <a:hlinkClick r:id="rId5"/>
              </a:rPr>
              <a:t>https://gobyexample.com/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lvl="1" indent="-343080" defTabSz="91440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lang="en-NL" sz="2400" b="0" u="sng" strike="noStrike">
                <a:solidFill>
                  <a:schemeClr val="accent1"/>
                </a:solidFill>
                <a:effectLst/>
                <a:uFillTx/>
                <a:latin typeface="Calibri"/>
                <a:ea typeface="DejaVu Sans"/>
              </a:rPr>
              <a:t>https://quii.gitbook.io/learn-go-with-tests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2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3" name=""/>
          <p:cNvPicPr/>
          <p:nvPr/>
        </p:nvPicPr>
        <p:blipFill>
          <a:blip r:embed="rId6"/>
          <a:stretch/>
        </p:blipFill>
        <p:spPr>
          <a:xfrm>
            <a:off x="314640" y="4572000"/>
            <a:ext cx="1741320" cy="5446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"/>
          <p:cNvSpPr/>
          <p:nvPr/>
        </p:nvSpPr>
        <p:spPr>
          <a:xfrm>
            <a:off x="2743200" y="2514600"/>
            <a:ext cx="70855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GB" sz="3600" b="1" u="none" strike="noStrike">
                <a:solidFill>
                  <a:schemeClr val="accent6"/>
                </a:solidFill>
                <a:effectLst/>
                <a:uFillTx/>
                <a:latin typeface="Calibri"/>
                <a:ea typeface="DejaVu Sans"/>
              </a:rPr>
              <a:t>Concepts &amp; Reference Material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2743560" y="4800600"/>
            <a:ext cx="708552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GB" sz="3600" b="1" u="none" strike="noStrike">
                <a:solidFill>
                  <a:schemeClr val="accent6"/>
                </a:solidFill>
                <a:effectLst/>
                <a:uFillTx/>
                <a:latin typeface="Calibri"/>
                <a:ea typeface="DejaVu Sans"/>
              </a:rPr>
              <a:t>Go Package Repository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2523960" y="5258160"/>
            <a:ext cx="3419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800280" lvl="1" indent="-343080" defTabSz="91440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lang="en-NL" sz="2400" b="0" u="sng" strike="noStrike">
                <a:solidFill>
                  <a:schemeClr val="accent1"/>
                </a:solidFill>
                <a:effectLst/>
                <a:uFillTx/>
                <a:latin typeface="Calibri"/>
                <a:ea typeface="DejaVu Sans"/>
              </a:rPr>
              <a:t>https://pkg.go.dev/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2497320" y="6401160"/>
            <a:ext cx="6188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800280" lvl="1" indent="-343080" defTabSz="91440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lang="en-NL" sz="2400" b="0" u="sng" strike="noStrike">
                <a:solidFill>
                  <a:schemeClr val="accent1"/>
                </a:solidFill>
                <a:effectLst/>
                <a:uFillTx/>
                <a:latin typeface="Calibri"/>
                <a:ea typeface="DejaVu Sans"/>
              </a:rPr>
              <a:t>https://github.com/projectdiscovery/nuclei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2743560" y="6035040"/>
            <a:ext cx="708552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GB" sz="3600" b="1" u="none" strike="noStrike">
                <a:solidFill>
                  <a:schemeClr val="accent6"/>
                </a:solidFill>
                <a:effectLst/>
                <a:uFillTx/>
                <a:latin typeface="Calibri"/>
                <a:ea typeface="DejaVu Sans"/>
              </a:rPr>
              <a:t>A Professional Project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2498040" y="7605000"/>
            <a:ext cx="7788960" cy="86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800280" lvl="1" indent="-34308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FFFFFF"/>
              </a:buClr>
              <a:buFont typeface="Arial"/>
              <a:buChar char="•"/>
            </a:pPr>
            <a:r>
              <a:rPr lang="en-NL" sz="2400" b="0" u="sng" strike="noStrike">
                <a:solidFill>
                  <a:schemeClr val="accent1"/>
                </a:solidFill>
                <a:effectLst/>
                <a:uFillTx/>
                <a:latin typeface="Calibri"/>
                <a:ea typeface="DejaVu Sans"/>
                <a:hlinkClick r:id="rId7"/>
              </a:rPr>
              <a:t>Concurrency is not Parallelism by Rob Pike  (video)</a:t>
            </a:r>
            <a:endParaRPr lang="en-US" sz="2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lvl="1" indent="-34308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FFFFFF"/>
              </a:buClr>
              <a:buFont typeface="Arial"/>
              <a:buChar char="•"/>
            </a:pPr>
            <a:r>
              <a:rPr lang="en-NL" sz="2400" b="0" u="sng" strike="noStrike">
                <a:solidFill>
                  <a:schemeClr val="accent1"/>
                </a:solidFill>
                <a:effectLst/>
                <a:uFillTx/>
                <a:latin typeface="Calibri"/>
                <a:ea typeface="DejaVu Sans"/>
                <a:hlinkClick r:id="rId8"/>
              </a:rPr>
              <a:t>Learning Go – O’Reilly (ISBN: 978-1-098-13929-2)</a:t>
            </a:r>
            <a:endParaRPr lang="en-US" sz="2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2744280" y="7086600"/>
            <a:ext cx="708552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GB" sz="3600" b="1" u="none" strike="noStrike">
                <a:solidFill>
                  <a:schemeClr val="accent6"/>
                </a:solidFill>
                <a:effectLst/>
                <a:uFillTx/>
                <a:latin typeface="Calibri"/>
                <a:ea typeface="DejaVu Sans"/>
              </a:rPr>
              <a:t>Obtain the “Go Mindset”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slow">
    <p:push dir="u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505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Box 6"/>
          <p:cNvSpPr/>
          <p:nvPr/>
        </p:nvSpPr>
        <p:spPr>
          <a:xfrm>
            <a:off x="1130040" y="3277080"/>
            <a:ext cx="11352960" cy="100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7883"/>
              </a:lnSpc>
            </a:pPr>
            <a:r>
              <a:rPr lang="en-GB" sz="5630" b="0" u="none" strike="noStrike">
                <a:solidFill>
                  <a:schemeClr val="accent6"/>
                </a:solidFill>
                <a:effectLst/>
                <a:uFillTx/>
                <a:latin typeface="Poppins Semi-Bold"/>
                <a:ea typeface="DejaVu Sans"/>
              </a:rPr>
              <a:t>0x01 - The Go Environment</a:t>
            </a:r>
            <a:endParaRPr lang="en-US" sz="56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92" name="Group 4"/>
          <p:cNvGrpSpPr/>
          <p:nvPr/>
        </p:nvGrpSpPr>
        <p:grpSpPr>
          <a:xfrm>
            <a:off x="11482200" y="1690920"/>
            <a:ext cx="5847120" cy="6106680"/>
            <a:chOff x="11482200" y="1690920"/>
            <a:chExt cx="5847120" cy="6106680"/>
          </a:xfrm>
        </p:grpSpPr>
        <p:sp>
          <p:nvSpPr>
            <p:cNvPr id="93" name="Freeform 6"/>
            <p:cNvSpPr/>
            <p:nvPr/>
          </p:nvSpPr>
          <p:spPr>
            <a:xfrm>
              <a:off x="11482200" y="1690920"/>
              <a:ext cx="5847120" cy="6106680"/>
            </a:xfrm>
            <a:custGeom>
              <a:avLst/>
              <a:gdLst>
                <a:gd name="textAreaLeft" fmla="*/ 0 w 5847120"/>
                <a:gd name="textAreaRight" fmla="*/ 5848920 w 5847120"/>
                <a:gd name="textAreaTop" fmla="*/ 0 h 6106680"/>
                <a:gd name="textAreaBottom" fmla="*/ 6108480 h 6106680"/>
              </a:gdLst>
              <a:ahLst/>
              <a:cxnLst/>
              <a:rect l="textAreaLeft" t="textAreaTop" r="textAreaRight" b="textAreaBottom"/>
              <a:pathLst>
                <a:path w="7618603" h="7956550">
                  <a:moveTo>
                    <a:pt x="0" y="0"/>
                  </a:moveTo>
                  <a:lnTo>
                    <a:pt x="7618603" y="0"/>
                  </a:lnTo>
                  <a:lnTo>
                    <a:pt x="7618603" y="7956550"/>
                  </a:lnTo>
                  <a:lnTo>
                    <a:pt x="0" y="79565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4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94" name="Freeform 7"/>
          <p:cNvSpPr/>
          <p:nvPr/>
        </p:nvSpPr>
        <p:spPr>
          <a:xfrm>
            <a:off x="1053000" y="931680"/>
            <a:ext cx="4097160" cy="601920"/>
          </a:xfrm>
          <a:custGeom>
            <a:avLst/>
            <a:gdLst>
              <a:gd name="textAreaLeft" fmla="*/ 0 w 4097160"/>
              <a:gd name="textAreaRight" fmla="*/ 4098960 w 4097160"/>
              <a:gd name="textAreaTop" fmla="*/ 0 h 601920"/>
              <a:gd name="textAreaBottom" fmla="*/ 603720 h 601920"/>
            </a:gdLst>
            <a:ahLst/>
            <a:cxnLst/>
            <a:rect l="textAreaLeft" t="textAreaTop" r="textAreaRight" b="textAreaBottom"/>
            <a:pathLst>
              <a:path w="4004526" h="589757">
                <a:moveTo>
                  <a:pt x="0" y="0"/>
                </a:moveTo>
                <a:lnTo>
                  <a:pt x="4004526" y="0"/>
                </a:lnTo>
                <a:lnTo>
                  <a:pt x="4004526" y="589757"/>
                </a:lnTo>
                <a:lnTo>
                  <a:pt x="0" y="58975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4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5" name="TextBox 15"/>
          <p:cNvSpPr/>
          <p:nvPr/>
        </p:nvSpPr>
        <p:spPr>
          <a:xfrm>
            <a:off x="914760" y="4127040"/>
            <a:ext cx="10971000" cy="40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Students configure their environment, get familiar with the CLI, and build </a:t>
            </a:r>
            <a:br>
              <a:rPr sz="2400"/>
            </a:b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their first program.</a:t>
            </a:r>
            <a:br>
              <a:rPr sz="2400"/>
            </a:b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 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00280" lvl="1" indent="-343080" defTabSz="91440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Setting up the Go environment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00280" lvl="1" indent="-343080" defTabSz="91440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Getting familiar with Go CLI tools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00280" lvl="1" indent="-343080" defTabSz="91440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Understanding Go modules &amp; packages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Freeform 12"/>
          <p:cNvSpPr/>
          <p:nvPr/>
        </p:nvSpPr>
        <p:spPr>
          <a:xfrm>
            <a:off x="1739880" y="498600"/>
            <a:ext cx="15485400" cy="1526760"/>
          </a:xfrm>
          <a:custGeom>
            <a:avLst/>
            <a:gdLst>
              <a:gd name="textAreaLeft" fmla="*/ 0 w 15485400"/>
              <a:gd name="textAreaRight" fmla="*/ 15487200 w 15485400"/>
              <a:gd name="textAreaTop" fmla="*/ 0 h 1526760"/>
              <a:gd name="textAreaBottom" fmla="*/ 1528560 h 1526760"/>
            </a:gdLst>
            <a:ahLst/>
            <a:cxnLst/>
            <a:rect l="textAreaLeft" t="textAreaTop" r="textAreaRight" b="textAreaBottom"/>
            <a:pathLst>
              <a:path w="15129861" h="1493264">
                <a:moveTo>
                  <a:pt x="0" y="0"/>
                </a:moveTo>
                <a:lnTo>
                  <a:pt x="15129861" y="0"/>
                </a:lnTo>
                <a:lnTo>
                  <a:pt x="15129861" y="1493264"/>
                </a:lnTo>
                <a:lnTo>
                  <a:pt x="0" y="149326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endParaRPr lang="en-US" sz="4610" b="0" u="none" strike="noStrike">
              <a:solidFill>
                <a:schemeClr val="lt1"/>
              </a:solidFill>
              <a:effectLst/>
              <a:uFillTx/>
              <a:latin typeface="Poppins Semi-Bold"/>
            </a:endParaRPr>
          </a:p>
        </p:txBody>
      </p:sp>
      <p:sp>
        <p:nvSpPr>
          <p:cNvPr id="97" name="TextBox 10"/>
          <p:cNvSpPr/>
          <p:nvPr/>
        </p:nvSpPr>
        <p:spPr>
          <a:xfrm>
            <a:off x="3197880" y="613080"/>
            <a:ext cx="12758760" cy="62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36000">
              <a:lnSpc>
                <a:spcPts val="4912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4610" b="0" u="none" strike="noStrike">
                <a:solidFill>
                  <a:schemeClr val="lt1"/>
                </a:solidFill>
                <a:effectLst/>
                <a:uFillTx/>
                <a:latin typeface="Poppins Semi-Bold"/>
                <a:ea typeface="DejaVu Sans"/>
              </a:rPr>
              <a:t>Setting up the Go environment</a:t>
            </a:r>
            <a:endParaRPr lang="en-US" sz="46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Freeform 13"/>
          <p:cNvSpPr/>
          <p:nvPr/>
        </p:nvSpPr>
        <p:spPr>
          <a:xfrm>
            <a:off x="16071840" y="9673920"/>
            <a:ext cx="2346120" cy="344160"/>
          </a:xfrm>
          <a:custGeom>
            <a:avLst/>
            <a:gdLst>
              <a:gd name="textAreaLeft" fmla="*/ 0 w 2346120"/>
              <a:gd name="textAreaRight" fmla="*/ 2347920 w 2346120"/>
              <a:gd name="textAreaTop" fmla="*/ 0 h 344160"/>
              <a:gd name="textAreaBottom" fmla="*/ 345960 h 344160"/>
            </a:gdLst>
            <a:ahLst/>
            <a:cxnLst/>
            <a:rect l="textAreaLeft" t="textAreaTop" r="textAreaRight" b="textAreaBottom"/>
            <a:pathLst>
              <a:path w="2293806" h="337815">
                <a:moveTo>
                  <a:pt x="0" y="0"/>
                </a:moveTo>
                <a:lnTo>
                  <a:pt x="2293806" y="0"/>
                </a:lnTo>
                <a:lnTo>
                  <a:pt x="2293806" y="337815"/>
                </a:lnTo>
                <a:lnTo>
                  <a:pt x="0" y="33781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4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TextBox 31"/>
          <p:cNvSpPr/>
          <p:nvPr/>
        </p:nvSpPr>
        <p:spPr>
          <a:xfrm>
            <a:off x="2057400" y="2286000"/>
            <a:ext cx="9469800" cy="411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457200" defTabSz="914400">
              <a:lnSpc>
                <a:spcPct val="200000"/>
              </a:lnSpc>
            </a:pPr>
            <a:r>
              <a:rPr lang="en-GB" sz="3600" b="1" u="none" strike="noStrike">
                <a:solidFill>
                  <a:schemeClr val="accent6"/>
                </a:solidFill>
                <a:effectLst/>
                <a:uFillTx/>
                <a:latin typeface="Calibri"/>
                <a:ea typeface="DejaVu Sans"/>
              </a:rPr>
              <a:t>Setting up the Go environment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lvl="1" indent="-343080" defTabSz="91440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Download Go on </a:t>
            </a:r>
            <a:r>
              <a:rPr lang="en-NL" sz="2400" b="0" u="sng" strike="noStrike">
                <a:solidFill>
                  <a:schemeClr val="accent1"/>
                </a:solidFill>
                <a:effectLst/>
                <a:uFillTx/>
                <a:latin typeface="Calibri"/>
                <a:ea typeface="DejaVu Sans"/>
                <a:hlinkClick r:id="rId5"/>
              </a:rPr>
              <a:t>https://go.dev/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lvl="1" indent="-343080" defTabSz="91440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Install Go!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lvl="1" indent="-343080" defTabSz="91440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Open a Terminal and type </a:t>
            </a:r>
            <a:r>
              <a:rPr lang="en-GB" sz="2400" b="0" i="1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“</a:t>
            </a:r>
            <a:r>
              <a:rPr lang="en-GB" sz="2400" b="0" i="1" u="none" strike="noStrike">
                <a:solidFill>
                  <a:srgbClr val="729FCF"/>
                </a:solidFill>
                <a:effectLst/>
                <a:uFillTx/>
                <a:latin typeface="Calibri"/>
                <a:ea typeface="Noto Sans CJK SC"/>
              </a:rPr>
              <a:t>go version</a:t>
            </a:r>
            <a:r>
              <a:rPr lang="en-GB" sz="2400" b="0" i="1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”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lvl="1" indent="-343080" defTabSz="91440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If this does not work check </a:t>
            </a:r>
            <a:r>
              <a:rPr lang="en-GB" sz="2400" b="0" u="none" strike="noStrike">
                <a:solidFill>
                  <a:srgbClr val="729FCF"/>
                </a:solidFill>
                <a:effectLst/>
                <a:uFillTx/>
                <a:latin typeface="Calibri"/>
                <a:ea typeface="Noto Sans CJK SC"/>
              </a:rPr>
              <a:t>$GOPATH </a:t>
            </a: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and </a:t>
            </a:r>
            <a:r>
              <a:rPr lang="en-GB" sz="2400" b="0" u="none" strike="noStrike">
                <a:solidFill>
                  <a:srgbClr val="729FCF"/>
                </a:solidFill>
                <a:effectLst/>
                <a:uFillTx/>
                <a:latin typeface="Calibri"/>
                <a:ea typeface="Noto Sans CJK SC"/>
              </a:rPr>
              <a:t>$PATH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2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0" name=""/>
          <p:cNvPicPr/>
          <p:nvPr/>
        </p:nvPicPr>
        <p:blipFill>
          <a:blip r:embed="rId6"/>
          <a:stretch/>
        </p:blipFill>
        <p:spPr>
          <a:xfrm>
            <a:off x="314640" y="4572000"/>
            <a:ext cx="1741320" cy="5446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1" name=""/>
          <p:cNvPicPr/>
          <p:nvPr/>
        </p:nvPicPr>
        <p:blipFill>
          <a:blip r:embed="rId7"/>
          <a:stretch/>
        </p:blipFill>
        <p:spPr>
          <a:xfrm>
            <a:off x="10058400" y="3200400"/>
            <a:ext cx="5878080" cy="2288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2" name=""/>
          <p:cNvPicPr/>
          <p:nvPr/>
        </p:nvPicPr>
        <p:blipFill>
          <a:blip r:embed="rId8"/>
          <a:stretch/>
        </p:blipFill>
        <p:spPr>
          <a:xfrm>
            <a:off x="2450520" y="6172200"/>
            <a:ext cx="15150240" cy="291816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push dir="u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Freeform 33"/>
          <p:cNvSpPr/>
          <p:nvPr/>
        </p:nvSpPr>
        <p:spPr>
          <a:xfrm>
            <a:off x="1739880" y="498600"/>
            <a:ext cx="15485400" cy="1526760"/>
          </a:xfrm>
          <a:custGeom>
            <a:avLst/>
            <a:gdLst>
              <a:gd name="textAreaLeft" fmla="*/ 0 w 15485400"/>
              <a:gd name="textAreaRight" fmla="*/ 15487200 w 15485400"/>
              <a:gd name="textAreaTop" fmla="*/ 0 h 1526760"/>
              <a:gd name="textAreaBottom" fmla="*/ 1528560 h 1526760"/>
            </a:gdLst>
            <a:ahLst/>
            <a:cxnLst/>
            <a:rect l="textAreaLeft" t="textAreaTop" r="textAreaRight" b="textAreaBottom"/>
            <a:pathLst>
              <a:path w="15129861" h="1493264">
                <a:moveTo>
                  <a:pt x="0" y="0"/>
                </a:moveTo>
                <a:lnTo>
                  <a:pt x="15129861" y="0"/>
                </a:lnTo>
                <a:lnTo>
                  <a:pt x="15129861" y="1493264"/>
                </a:lnTo>
                <a:lnTo>
                  <a:pt x="0" y="149326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endParaRPr lang="en-US" sz="4610" b="0" u="none" strike="noStrike">
              <a:solidFill>
                <a:schemeClr val="lt1"/>
              </a:solidFill>
              <a:effectLst/>
              <a:uFillTx/>
              <a:latin typeface="Poppins Semi-Bold"/>
            </a:endParaRPr>
          </a:p>
        </p:txBody>
      </p:sp>
      <p:sp>
        <p:nvSpPr>
          <p:cNvPr id="104" name="TextBox 36"/>
          <p:cNvSpPr/>
          <p:nvPr/>
        </p:nvSpPr>
        <p:spPr>
          <a:xfrm>
            <a:off x="3197880" y="613080"/>
            <a:ext cx="12758760" cy="62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36000">
              <a:lnSpc>
                <a:spcPts val="4912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4610" b="0" u="none" strike="noStrike">
                <a:solidFill>
                  <a:schemeClr val="lt1"/>
                </a:solidFill>
                <a:effectLst/>
                <a:uFillTx/>
                <a:latin typeface="Poppins Semi-Bold"/>
                <a:ea typeface="DejaVu Sans"/>
              </a:rPr>
              <a:t>Setting up the Go environment</a:t>
            </a:r>
            <a:endParaRPr lang="en-US" sz="46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Freeform 34"/>
          <p:cNvSpPr/>
          <p:nvPr/>
        </p:nvSpPr>
        <p:spPr>
          <a:xfrm>
            <a:off x="16071840" y="9673920"/>
            <a:ext cx="2346120" cy="344160"/>
          </a:xfrm>
          <a:custGeom>
            <a:avLst/>
            <a:gdLst>
              <a:gd name="textAreaLeft" fmla="*/ 0 w 2346120"/>
              <a:gd name="textAreaRight" fmla="*/ 2347920 w 2346120"/>
              <a:gd name="textAreaTop" fmla="*/ 0 h 344160"/>
              <a:gd name="textAreaBottom" fmla="*/ 345960 h 344160"/>
            </a:gdLst>
            <a:ahLst/>
            <a:cxnLst/>
            <a:rect l="textAreaLeft" t="textAreaTop" r="textAreaRight" b="textAreaBottom"/>
            <a:pathLst>
              <a:path w="2293806" h="337815">
                <a:moveTo>
                  <a:pt x="0" y="0"/>
                </a:moveTo>
                <a:lnTo>
                  <a:pt x="2293806" y="0"/>
                </a:lnTo>
                <a:lnTo>
                  <a:pt x="2293806" y="337815"/>
                </a:lnTo>
                <a:lnTo>
                  <a:pt x="0" y="33781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4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" name="TextBox 37"/>
          <p:cNvSpPr/>
          <p:nvPr/>
        </p:nvSpPr>
        <p:spPr>
          <a:xfrm>
            <a:off x="2057400" y="2286000"/>
            <a:ext cx="9469800" cy="24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457200" defTabSz="914400">
              <a:lnSpc>
                <a:spcPct val="200000"/>
              </a:lnSpc>
            </a:pPr>
            <a:r>
              <a:rPr lang="en-GB" sz="3600" b="1" u="none" strike="noStrike">
                <a:solidFill>
                  <a:schemeClr val="accent6"/>
                </a:solidFill>
                <a:effectLst/>
                <a:uFillTx/>
                <a:latin typeface="Calibri"/>
                <a:ea typeface="DejaVu Sans"/>
              </a:rPr>
              <a:t>Let’s create our first program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lvl="1" indent="-343080" defTabSz="91440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We always start with “Hello World”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2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7" name=""/>
          <p:cNvPicPr/>
          <p:nvPr/>
        </p:nvPicPr>
        <p:blipFill>
          <a:blip r:embed="rId5"/>
          <a:stretch/>
        </p:blipFill>
        <p:spPr>
          <a:xfrm>
            <a:off x="314640" y="4572000"/>
            <a:ext cx="1741320" cy="5446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8" name=""/>
          <p:cNvPicPr/>
          <p:nvPr/>
        </p:nvPicPr>
        <p:blipFill>
          <a:blip r:embed="rId6"/>
          <a:stretch/>
        </p:blipFill>
        <p:spPr>
          <a:xfrm>
            <a:off x="7717320" y="4753800"/>
            <a:ext cx="5997240" cy="2970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9" name=""/>
          <p:cNvPicPr/>
          <p:nvPr/>
        </p:nvPicPr>
        <p:blipFill>
          <a:blip r:embed="rId7"/>
          <a:stretch/>
        </p:blipFill>
        <p:spPr>
          <a:xfrm>
            <a:off x="3106080" y="4734720"/>
            <a:ext cx="3750480" cy="235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"/>
          <p:cNvSpPr/>
          <p:nvPr/>
        </p:nvSpPr>
        <p:spPr>
          <a:xfrm>
            <a:off x="6172200" y="5486400"/>
            <a:ext cx="1600200" cy="228600"/>
          </a:xfrm>
          <a:prstGeom prst="line">
            <a:avLst/>
          </a:prstGeom>
          <a:ln w="5472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17000" tIns="72000" rIns="117000" bIns="72000" anchor="ctr">
            <a:noAutofit/>
          </a:bodyPr>
          <a:p>
            <a:endParaRPr lang="en-US" sz="1800" b="0" u="none" strike="noStrike">
              <a:solidFill>
                <a:srgbClr val="729FCF"/>
              </a:solidFill>
              <a:effectLst/>
              <a:uFillTx/>
              <a:latin typeface="Arial"/>
            </a:endParaRPr>
          </a:p>
        </p:txBody>
      </p:sp>
    </p:spTree>
  </p:cSld>
  <p:transition spd="slow">
    <p:push dir="u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Freeform 29"/>
          <p:cNvSpPr/>
          <p:nvPr/>
        </p:nvSpPr>
        <p:spPr>
          <a:xfrm>
            <a:off x="1739880" y="498600"/>
            <a:ext cx="15485400" cy="1526760"/>
          </a:xfrm>
          <a:custGeom>
            <a:avLst/>
            <a:gdLst>
              <a:gd name="textAreaLeft" fmla="*/ 0 w 15485400"/>
              <a:gd name="textAreaRight" fmla="*/ 15487200 w 15485400"/>
              <a:gd name="textAreaTop" fmla="*/ 0 h 1526760"/>
              <a:gd name="textAreaBottom" fmla="*/ 1528560 h 1526760"/>
            </a:gdLst>
            <a:ahLst/>
            <a:cxnLst/>
            <a:rect l="textAreaLeft" t="textAreaTop" r="textAreaRight" b="textAreaBottom"/>
            <a:pathLst>
              <a:path w="15129861" h="1493264">
                <a:moveTo>
                  <a:pt x="0" y="0"/>
                </a:moveTo>
                <a:lnTo>
                  <a:pt x="15129861" y="0"/>
                </a:lnTo>
                <a:lnTo>
                  <a:pt x="15129861" y="1493264"/>
                </a:lnTo>
                <a:lnTo>
                  <a:pt x="0" y="149326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endParaRPr lang="en-US" sz="4610" b="0" u="none" strike="noStrike">
              <a:solidFill>
                <a:schemeClr val="lt1"/>
              </a:solidFill>
              <a:effectLst/>
              <a:uFillTx/>
              <a:latin typeface="Poppins Semi-Bold"/>
            </a:endParaRPr>
          </a:p>
        </p:txBody>
      </p:sp>
      <p:sp>
        <p:nvSpPr>
          <p:cNvPr id="112" name="TextBox 32"/>
          <p:cNvSpPr/>
          <p:nvPr/>
        </p:nvSpPr>
        <p:spPr>
          <a:xfrm>
            <a:off x="3197880" y="613080"/>
            <a:ext cx="12758760" cy="62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36000">
              <a:lnSpc>
                <a:spcPts val="4912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4610" b="0" u="none" strike="noStrike">
                <a:solidFill>
                  <a:schemeClr val="lt1"/>
                </a:solidFill>
                <a:effectLst/>
                <a:uFillTx/>
                <a:latin typeface="Poppins Semi-Bold"/>
                <a:ea typeface="DejaVu Sans"/>
              </a:rPr>
              <a:t>Getting familiar with Go CLI tools</a:t>
            </a:r>
            <a:endParaRPr lang="en-US" sz="46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Freeform 30"/>
          <p:cNvSpPr/>
          <p:nvPr/>
        </p:nvSpPr>
        <p:spPr>
          <a:xfrm>
            <a:off x="16071840" y="9673920"/>
            <a:ext cx="2346120" cy="344160"/>
          </a:xfrm>
          <a:custGeom>
            <a:avLst/>
            <a:gdLst>
              <a:gd name="textAreaLeft" fmla="*/ 0 w 2346120"/>
              <a:gd name="textAreaRight" fmla="*/ 2347920 w 2346120"/>
              <a:gd name="textAreaTop" fmla="*/ 0 h 344160"/>
              <a:gd name="textAreaBottom" fmla="*/ 345960 h 344160"/>
            </a:gdLst>
            <a:ahLst/>
            <a:cxnLst/>
            <a:rect l="textAreaLeft" t="textAreaTop" r="textAreaRight" b="textAreaBottom"/>
            <a:pathLst>
              <a:path w="2293806" h="337815">
                <a:moveTo>
                  <a:pt x="0" y="0"/>
                </a:moveTo>
                <a:lnTo>
                  <a:pt x="2293806" y="0"/>
                </a:lnTo>
                <a:lnTo>
                  <a:pt x="2293806" y="337815"/>
                </a:lnTo>
                <a:lnTo>
                  <a:pt x="0" y="33781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4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TextBox 33"/>
          <p:cNvSpPr/>
          <p:nvPr/>
        </p:nvSpPr>
        <p:spPr>
          <a:xfrm>
            <a:off x="2057400" y="2286000"/>
            <a:ext cx="7999560" cy="669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457200" defTabSz="914400">
              <a:lnSpc>
                <a:spcPct val="200000"/>
              </a:lnSpc>
            </a:pPr>
            <a:r>
              <a:rPr lang="en-GB" sz="3600" b="1" u="none" strike="noStrike">
                <a:solidFill>
                  <a:schemeClr val="accent6"/>
                </a:solidFill>
                <a:effectLst/>
                <a:uFillTx/>
                <a:latin typeface="Calibri"/>
                <a:ea typeface="DejaVu Sans"/>
              </a:rPr>
              <a:t>The Go Tool kit is awesome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lvl="1" indent="-343080" defTabSz="914400">
              <a:lnSpc>
                <a:spcPct val="150000"/>
              </a:lnSpc>
              <a:spcBef>
                <a:spcPts val="624"/>
              </a:spcBef>
              <a:spcAft>
                <a:spcPts val="425"/>
              </a:spcAft>
              <a:buClr>
                <a:srgbClr val="FFFFFF"/>
              </a:buClr>
              <a:buFont typeface="Arial"/>
              <a:buChar char="•"/>
            </a:pPr>
            <a:r>
              <a:rPr lang="en-GB" sz="2400" b="0" u="none" strike="noStrike">
                <a:solidFill>
                  <a:srgbClr val="729FCF"/>
                </a:solidFill>
                <a:effectLst/>
                <a:uFillTx/>
                <a:latin typeface="Calibri"/>
                <a:ea typeface="Noto Sans CJK SC"/>
              </a:rPr>
              <a:t>go run main.go</a:t>
            </a: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 compile &amp; run a program quickly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lvl="1" indent="-343080" defTabSz="914400">
              <a:lnSpc>
                <a:spcPct val="150000"/>
              </a:lnSpc>
              <a:spcBef>
                <a:spcPts val="624"/>
              </a:spcBef>
              <a:spcAft>
                <a:spcPts val="425"/>
              </a:spcAft>
              <a:buClr>
                <a:srgbClr val="FFFFFF"/>
              </a:buClr>
              <a:buFont typeface="Arial"/>
              <a:buChar char="•"/>
            </a:pPr>
            <a:r>
              <a:rPr lang="en-GB" sz="2400" b="0" u="none" strike="noStrike">
                <a:solidFill>
                  <a:srgbClr val="729FCF"/>
                </a:solidFill>
                <a:effectLst/>
                <a:uFillTx/>
                <a:latin typeface="Calibri"/>
                <a:ea typeface="Noto Sans CJK SC"/>
              </a:rPr>
              <a:t>go build</a:t>
            </a: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 build a binary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lvl="1" indent="-343080" defTabSz="914400">
              <a:lnSpc>
                <a:spcPct val="150000"/>
              </a:lnSpc>
              <a:spcBef>
                <a:spcPts val="624"/>
              </a:spcBef>
              <a:spcAft>
                <a:spcPts val="425"/>
              </a:spcAft>
              <a:buClr>
                <a:srgbClr val="FFFFFF"/>
              </a:buClr>
              <a:buFont typeface="Arial"/>
              <a:buChar char="•"/>
            </a:pPr>
            <a:r>
              <a:rPr lang="en-GB" sz="2400" b="0" u="none" strike="noStrike">
                <a:solidFill>
                  <a:srgbClr val="729FCF"/>
                </a:solidFill>
                <a:effectLst/>
                <a:uFillTx/>
                <a:latin typeface="Calibri"/>
                <a:ea typeface="Noto Sans CJK SC"/>
              </a:rPr>
              <a:t>go fmt</a:t>
            </a: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  format code automatically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lvl="1" indent="-343080" defTabSz="914400">
              <a:lnSpc>
                <a:spcPct val="150000"/>
              </a:lnSpc>
              <a:spcBef>
                <a:spcPts val="624"/>
              </a:spcBef>
              <a:spcAft>
                <a:spcPts val="425"/>
              </a:spcAft>
              <a:buClr>
                <a:srgbClr val="FFFFFF"/>
              </a:buClr>
              <a:buFont typeface="Arial"/>
              <a:buChar char="•"/>
            </a:pPr>
            <a:r>
              <a:rPr lang="en-GB" sz="2400" b="0" u="none" strike="noStrike">
                <a:solidFill>
                  <a:srgbClr val="729FCF"/>
                </a:solidFill>
                <a:effectLst/>
                <a:uFillTx/>
                <a:latin typeface="Calibri"/>
                <a:ea typeface="Noto Sans CJK SC"/>
              </a:rPr>
              <a:t>go doc </a:t>
            </a: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view documentation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lvl="1" indent="-343080" defTabSz="914400">
              <a:lnSpc>
                <a:spcPct val="150000"/>
              </a:lnSpc>
              <a:spcBef>
                <a:spcPts val="624"/>
              </a:spcBef>
              <a:spcAft>
                <a:spcPts val="425"/>
              </a:spcAft>
              <a:buClr>
                <a:srgbClr val="FFFFFF"/>
              </a:buClr>
              <a:buFont typeface="Arial"/>
              <a:buChar char="•"/>
            </a:pPr>
            <a:r>
              <a:rPr lang="en-GB" sz="2400" b="0" u="none" strike="noStrike">
                <a:solidFill>
                  <a:srgbClr val="729FCF"/>
                </a:solidFill>
                <a:effectLst/>
                <a:uFillTx/>
                <a:latin typeface="Calibri"/>
                <a:ea typeface="Noto Sans CJK SC"/>
              </a:rPr>
              <a:t>go test </a:t>
            </a: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run tests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lvl="1" indent="-343080" defTabSz="914400">
              <a:lnSpc>
                <a:spcPct val="150000"/>
              </a:lnSpc>
              <a:spcBef>
                <a:spcPts val="624"/>
              </a:spcBef>
              <a:spcAft>
                <a:spcPts val="425"/>
              </a:spcAft>
              <a:buClr>
                <a:srgbClr val="FFFFFF"/>
              </a:buClr>
              <a:buFont typeface="Arial"/>
              <a:buChar char="•"/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Tests can do </a:t>
            </a:r>
            <a:r>
              <a:rPr lang="en-GB" sz="2400" b="0" u="none" strike="noStrike">
                <a:solidFill>
                  <a:srgbClr val="729FCF"/>
                </a:solidFill>
                <a:effectLst/>
                <a:uFillTx/>
                <a:latin typeface="Calibri"/>
                <a:ea typeface="Noto Sans CJK SC"/>
              </a:rPr>
              <a:t>–benchmarks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lvl="1" indent="-343080" defTabSz="914400">
              <a:lnSpc>
                <a:spcPct val="150000"/>
              </a:lnSpc>
              <a:spcBef>
                <a:spcPts val="624"/>
              </a:spcBef>
              <a:spcAft>
                <a:spcPts val="425"/>
              </a:spcAft>
              <a:buClr>
                <a:srgbClr val="FFFFFF"/>
              </a:buClr>
              <a:buFont typeface="Arial"/>
              <a:buChar char="•"/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And more!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2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" name=""/>
          <p:cNvPicPr/>
          <p:nvPr/>
        </p:nvPicPr>
        <p:blipFill>
          <a:blip r:embed="rId5"/>
          <a:stretch/>
        </p:blipFill>
        <p:spPr>
          <a:xfrm>
            <a:off x="314640" y="4572000"/>
            <a:ext cx="1741320" cy="5446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6" name=""/>
          <p:cNvPicPr/>
          <p:nvPr/>
        </p:nvPicPr>
        <p:blipFill>
          <a:blip r:embed="rId6"/>
          <a:stretch/>
        </p:blipFill>
        <p:spPr>
          <a:xfrm>
            <a:off x="10287000" y="2514600"/>
            <a:ext cx="7588440" cy="3683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7" name=""/>
          <p:cNvPicPr/>
          <p:nvPr/>
        </p:nvPicPr>
        <p:blipFill>
          <a:blip r:embed="rId7"/>
          <a:stretch/>
        </p:blipFill>
        <p:spPr>
          <a:xfrm>
            <a:off x="10287000" y="6629400"/>
            <a:ext cx="7542360" cy="2846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"/>
          <p:cNvSpPr/>
          <p:nvPr/>
        </p:nvSpPr>
        <p:spPr>
          <a:xfrm>
            <a:off x="2791440" y="9372600"/>
            <a:ext cx="63514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729FCF"/>
                </a:solidFill>
                <a:effectLst/>
                <a:uFillTx/>
                <a:latin typeface="Calibri"/>
                <a:ea typeface="Noto Sans CJK SC"/>
              </a:rPr>
              <a:t>env GOOS=darwin GOARCH=amd64 go build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2743200" y="8976960"/>
            <a:ext cx="61711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To build  for a different environment: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slow">
    <p:push dir="u"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Freeform 31"/>
          <p:cNvSpPr/>
          <p:nvPr/>
        </p:nvSpPr>
        <p:spPr>
          <a:xfrm>
            <a:off x="1739880" y="498600"/>
            <a:ext cx="15485400" cy="1526760"/>
          </a:xfrm>
          <a:custGeom>
            <a:avLst/>
            <a:gdLst>
              <a:gd name="textAreaLeft" fmla="*/ 0 w 15485400"/>
              <a:gd name="textAreaRight" fmla="*/ 15487200 w 15485400"/>
              <a:gd name="textAreaTop" fmla="*/ 0 h 1526760"/>
              <a:gd name="textAreaBottom" fmla="*/ 1528560 h 1526760"/>
            </a:gdLst>
            <a:ahLst/>
            <a:cxnLst/>
            <a:rect l="textAreaLeft" t="textAreaTop" r="textAreaRight" b="textAreaBottom"/>
            <a:pathLst>
              <a:path w="15129861" h="1493264">
                <a:moveTo>
                  <a:pt x="0" y="0"/>
                </a:moveTo>
                <a:lnTo>
                  <a:pt x="15129861" y="0"/>
                </a:lnTo>
                <a:lnTo>
                  <a:pt x="15129861" y="1493264"/>
                </a:lnTo>
                <a:lnTo>
                  <a:pt x="0" y="149326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endParaRPr lang="en-US" sz="4610" b="0" u="none" strike="noStrike">
              <a:solidFill>
                <a:schemeClr val="lt1"/>
              </a:solidFill>
              <a:effectLst/>
              <a:uFillTx/>
              <a:latin typeface="Poppins Semi-Bold"/>
            </a:endParaRPr>
          </a:p>
        </p:txBody>
      </p:sp>
      <p:sp>
        <p:nvSpPr>
          <p:cNvPr id="121" name="TextBox 34"/>
          <p:cNvSpPr/>
          <p:nvPr/>
        </p:nvSpPr>
        <p:spPr>
          <a:xfrm>
            <a:off x="3197880" y="613080"/>
            <a:ext cx="12758760" cy="62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36000">
              <a:lnSpc>
                <a:spcPts val="4912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4610" b="0" u="none" strike="noStrike">
                <a:solidFill>
                  <a:schemeClr val="lt1"/>
                </a:solidFill>
                <a:effectLst/>
                <a:uFillTx/>
                <a:latin typeface="Poppins Semi-Bold"/>
                <a:ea typeface="DejaVu Sans"/>
              </a:rPr>
              <a:t>Understand Go Modules and Packages</a:t>
            </a:r>
            <a:endParaRPr lang="en-US" sz="46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Freeform 32"/>
          <p:cNvSpPr/>
          <p:nvPr/>
        </p:nvSpPr>
        <p:spPr>
          <a:xfrm>
            <a:off x="16071840" y="9673920"/>
            <a:ext cx="2346120" cy="344160"/>
          </a:xfrm>
          <a:custGeom>
            <a:avLst/>
            <a:gdLst>
              <a:gd name="textAreaLeft" fmla="*/ 0 w 2346120"/>
              <a:gd name="textAreaRight" fmla="*/ 2347920 w 2346120"/>
              <a:gd name="textAreaTop" fmla="*/ 0 h 344160"/>
              <a:gd name="textAreaBottom" fmla="*/ 345960 h 344160"/>
            </a:gdLst>
            <a:ahLst/>
            <a:cxnLst/>
            <a:rect l="textAreaLeft" t="textAreaTop" r="textAreaRight" b="textAreaBottom"/>
            <a:pathLst>
              <a:path w="2293806" h="337815">
                <a:moveTo>
                  <a:pt x="0" y="0"/>
                </a:moveTo>
                <a:lnTo>
                  <a:pt x="2293806" y="0"/>
                </a:lnTo>
                <a:lnTo>
                  <a:pt x="2293806" y="337815"/>
                </a:lnTo>
                <a:lnTo>
                  <a:pt x="0" y="33781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4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" name="TextBox 35"/>
          <p:cNvSpPr/>
          <p:nvPr/>
        </p:nvSpPr>
        <p:spPr>
          <a:xfrm>
            <a:off x="2057400" y="2286000"/>
            <a:ext cx="7085160" cy="935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457200" defTabSz="914400">
              <a:lnSpc>
                <a:spcPct val="200000"/>
              </a:lnSpc>
            </a:pPr>
            <a:r>
              <a:rPr lang="en-GB" sz="3600" b="1" u="none" strike="noStrike">
                <a:solidFill>
                  <a:schemeClr val="accent6"/>
                </a:solidFill>
                <a:effectLst/>
                <a:uFillTx/>
                <a:latin typeface="Calibri"/>
                <a:ea typeface="Noto Sans CJK SC"/>
              </a:rPr>
              <a:t>Go Modules &amp; Packages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A </a:t>
            </a:r>
            <a:r>
              <a:rPr lang="en-GB" sz="2400" b="0" u="none" strike="noStrike">
                <a:solidFill>
                  <a:srgbClr val="729FCF"/>
                </a:solidFill>
                <a:effectLst/>
                <a:uFillTx/>
                <a:latin typeface="Calibri"/>
                <a:ea typeface="Noto Sans CJK SC"/>
              </a:rPr>
              <a:t>module</a:t>
            </a: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 is a Go project or a </a:t>
            </a:r>
            <a:r>
              <a:rPr lang="en-GB" sz="2400" b="0" i="1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“container of dependencies” (third party code). A </a:t>
            </a:r>
            <a:r>
              <a:rPr lang="en-GB" sz="2400" b="0" u="none" strike="noStrike">
                <a:solidFill>
                  <a:srgbClr val="729FCF"/>
                </a:solidFill>
                <a:effectLst/>
                <a:uFillTx/>
                <a:latin typeface="Calibri"/>
                <a:ea typeface="Noto Sans CJK SC"/>
              </a:rPr>
              <a:t>package</a:t>
            </a: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 is a “name space” within your program.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r>
              <a:rPr lang="en-GB" sz="3600" b="1" u="none" strike="noStrike">
                <a:solidFill>
                  <a:schemeClr val="accent6"/>
                </a:solidFill>
                <a:effectLst/>
                <a:uFillTx/>
                <a:latin typeface="Calibri"/>
                <a:ea typeface="DejaVu Sans"/>
              </a:rPr>
              <a:t>To import a module: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16000" defTabSz="914400">
              <a:lnSpc>
                <a:spcPct val="200000"/>
              </a:lnSpc>
              <a:buClr>
                <a:srgbClr val="FFFFFF"/>
              </a:buClr>
              <a:buFont typeface="OpenSymbol"/>
              <a:buAutoNum type="arabicParenR"/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 Initialize your project as module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16000" defTabSz="914400">
              <a:lnSpc>
                <a:spcPct val="200000"/>
              </a:lnSpc>
              <a:buClr>
                <a:srgbClr val="FFFFFF"/>
              </a:buClr>
              <a:buFont typeface="OpenSymbol"/>
              <a:buAutoNum type="arabicParenR"/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 Use the go tool kit to “get” code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16000" defTabSz="914400">
              <a:lnSpc>
                <a:spcPct val="200000"/>
              </a:lnSpc>
              <a:buClr>
                <a:srgbClr val="FFFFFF"/>
              </a:buClr>
              <a:buFont typeface="OpenSymbol"/>
              <a:buAutoNum type="arabicParenR"/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 Maintain dependencies in </a:t>
            </a:r>
            <a:r>
              <a:rPr lang="en-GB" sz="2400" b="0" u="none" strike="noStrike">
                <a:solidFill>
                  <a:srgbClr val="729FCF"/>
                </a:solidFill>
                <a:effectLst/>
                <a:uFillTx/>
                <a:latin typeface="Calibri"/>
                <a:ea typeface="Noto Sans CJK SC"/>
              </a:rPr>
              <a:t>go.mod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  <a:spcBef>
                <a:spcPts val="1191"/>
              </a:spcBef>
              <a:spcAft>
                <a:spcPts val="992"/>
              </a:spcAf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4" name=""/>
          <p:cNvPicPr/>
          <p:nvPr/>
        </p:nvPicPr>
        <p:blipFill>
          <a:blip r:embed="rId5"/>
          <a:stretch/>
        </p:blipFill>
        <p:spPr>
          <a:xfrm>
            <a:off x="314640" y="4572000"/>
            <a:ext cx="1741320" cy="5446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5" name=""/>
          <p:cNvPicPr/>
          <p:nvPr/>
        </p:nvPicPr>
        <p:blipFill>
          <a:blip r:embed="rId6"/>
          <a:stretch/>
        </p:blipFill>
        <p:spPr>
          <a:xfrm>
            <a:off x="9277200" y="3657600"/>
            <a:ext cx="8552160" cy="1902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6" name=""/>
          <p:cNvPicPr/>
          <p:nvPr/>
        </p:nvPicPr>
        <p:blipFill>
          <a:blip r:embed="rId7"/>
          <a:stretch/>
        </p:blipFill>
        <p:spPr>
          <a:xfrm>
            <a:off x="9045360" y="5710320"/>
            <a:ext cx="8784000" cy="3660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" name=""/>
          <p:cNvSpPr/>
          <p:nvPr/>
        </p:nvSpPr>
        <p:spPr>
          <a:xfrm>
            <a:off x="11658600" y="9601200"/>
            <a:ext cx="41814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NL" sz="2400" b="0" u="sng" strike="noStrike">
                <a:solidFill>
                  <a:schemeClr val="accent1"/>
                </a:solidFill>
                <a:effectLst/>
                <a:uFillTx/>
                <a:latin typeface="Calibri"/>
                <a:ea typeface="DejaVu Sans"/>
              </a:rPr>
              <a:t>https://github.com/fatih/color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slow">
    <p:push dir="u"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505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extBox 16"/>
          <p:cNvSpPr/>
          <p:nvPr/>
        </p:nvSpPr>
        <p:spPr>
          <a:xfrm>
            <a:off x="1130040" y="3277080"/>
            <a:ext cx="11352960" cy="100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7883"/>
              </a:lnSpc>
            </a:pPr>
            <a:r>
              <a:rPr lang="en-GB" sz="5630" b="0" u="none" strike="noStrike">
                <a:solidFill>
                  <a:schemeClr val="accent6"/>
                </a:solidFill>
                <a:effectLst/>
                <a:uFillTx/>
                <a:latin typeface="Poppins Semi-Bold"/>
                <a:ea typeface="DejaVu Sans"/>
              </a:rPr>
              <a:t>0x02 - Language basics</a:t>
            </a:r>
            <a:endParaRPr lang="en-US" sz="56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29" name="Group 5"/>
          <p:cNvGrpSpPr/>
          <p:nvPr/>
        </p:nvGrpSpPr>
        <p:grpSpPr>
          <a:xfrm>
            <a:off x="11482200" y="1690920"/>
            <a:ext cx="5847120" cy="6106680"/>
            <a:chOff x="11482200" y="1690920"/>
            <a:chExt cx="5847120" cy="6106680"/>
          </a:xfrm>
        </p:grpSpPr>
        <p:sp>
          <p:nvSpPr>
            <p:cNvPr id="130" name="Freeform 16"/>
            <p:cNvSpPr/>
            <p:nvPr/>
          </p:nvSpPr>
          <p:spPr>
            <a:xfrm>
              <a:off x="11482200" y="1690920"/>
              <a:ext cx="5847120" cy="6106680"/>
            </a:xfrm>
            <a:custGeom>
              <a:avLst/>
              <a:gdLst>
                <a:gd name="textAreaLeft" fmla="*/ 0 w 5847120"/>
                <a:gd name="textAreaRight" fmla="*/ 5848920 w 5847120"/>
                <a:gd name="textAreaTop" fmla="*/ 0 h 6106680"/>
                <a:gd name="textAreaBottom" fmla="*/ 6108480 h 6106680"/>
              </a:gdLst>
              <a:ahLst/>
              <a:cxnLst/>
              <a:rect l="textAreaLeft" t="textAreaTop" r="textAreaRight" b="textAreaBottom"/>
              <a:pathLst>
                <a:path w="7618603" h="7956550">
                  <a:moveTo>
                    <a:pt x="0" y="0"/>
                  </a:moveTo>
                  <a:lnTo>
                    <a:pt x="7618603" y="0"/>
                  </a:lnTo>
                  <a:lnTo>
                    <a:pt x="7618603" y="7956550"/>
                  </a:lnTo>
                  <a:lnTo>
                    <a:pt x="0" y="79565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4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31" name="Freeform 17"/>
          <p:cNvSpPr/>
          <p:nvPr/>
        </p:nvSpPr>
        <p:spPr>
          <a:xfrm>
            <a:off x="1053000" y="931680"/>
            <a:ext cx="4097160" cy="601920"/>
          </a:xfrm>
          <a:custGeom>
            <a:avLst/>
            <a:gdLst>
              <a:gd name="textAreaLeft" fmla="*/ 0 w 4097160"/>
              <a:gd name="textAreaRight" fmla="*/ 4098960 w 4097160"/>
              <a:gd name="textAreaTop" fmla="*/ 0 h 601920"/>
              <a:gd name="textAreaBottom" fmla="*/ 603720 h 601920"/>
            </a:gdLst>
            <a:ahLst/>
            <a:cxnLst/>
            <a:rect l="textAreaLeft" t="textAreaTop" r="textAreaRight" b="textAreaBottom"/>
            <a:pathLst>
              <a:path w="4004526" h="589757">
                <a:moveTo>
                  <a:pt x="0" y="0"/>
                </a:moveTo>
                <a:lnTo>
                  <a:pt x="4004526" y="0"/>
                </a:lnTo>
                <a:lnTo>
                  <a:pt x="4004526" y="589757"/>
                </a:lnTo>
                <a:lnTo>
                  <a:pt x="0" y="58975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4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2" name="TextBox 17"/>
          <p:cNvSpPr/>
          <p:nvPr/>
        </p:nvSpPr>
        <p:spPr>
          <a:xfrm>
            <a:off x="914400" y="4390920"/>
            <a:ext cx="10971000" cy="295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Minimal building blocks for writing simple programs: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00280" lvl="1" indent="-343080" defTabSz="91440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Variables, constants &amp; data types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00280" lvl="1" indent="-343080" defTabSz="91440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Control flows &amp; Defer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00280" lvl="1" indent="-343080" defTabSz="91440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Functions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11887200" y="9601200"/>
            <a:ext cx="6390360" cy="395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NL" sz="2400" b="0" u="sng" strike="noStrike">
                <a:solidFill>
                  <a:schemeClr val="accent1"/>
                </a:solidFill>
                <a:effectLst/>
                <a:uFillTx/>
                <a:latin typeface="Calibri"/>
                <a:ea typeface="DejaVu Sans"/>
              </a:rPr>
              <a:t>https://www.destroyallsoftware.com/talks/wat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Freeform 37"/>
          <p:cNvSpPr/>
          <p:nvPr/>
        </p:nvSpPr>
        <p:spPr>
          <a:xfrm>
            <a:off x="1739880" y="498600"/>
            <a:ext cx="15485400" cy="1526760"/>
          </a:xfrm>
          <a:custGeom>
            <a:avLst/>
            <a:gdLst>
              <a:gd name="textAreaLeft" fmla="*/ 0 w 15485400"/>
              <a:gd name="textAreaRight" fmla="*/ 15487200 w 15485400"/>
              <a:gd name="textAreaTop" fmla="*/ 0 h 1526760"/>
              <a:gd name="textAreaBottom" fmla="*/ 1528560 h 1526760"/>
            </a:gdLst>
            <a:ahLst/>
            <a:cxnLst/>
            <a:rect l="textAreaLeft" t="textAreaTop" r="textAreaRight" b="textAreaBottom"/>
            <a:pathLst>
              <a:path w="15129861" h="1493264">
                <a:moveTo>
                  <a:pt x="0" y="0"/>
                </a:moveTo>
                <a:lnTo>
                  <a:pt x="15129861" y="0"/>
                </a:lnTo>
                <a:lnTo>
                  <a:pt x="15129861" y="1493264"/>
                </a:lnTo>
                <a:lnTo>
                  <a:pt x="0" y="149326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endParaRPr lang="en-US" sz="4610" b="0" u="none" strike="noStrike">
              <a:solidFill>
                <a:schemeClr val="lt1"/>
              </a:solidFill>
              <a:effectLst/>
              <a:uFillTx/>
              <a:latin typeface="Poppins Semi-Bold"/>
            </a:endParaRPr>
          </a:p>
        </p:txBody>
      </p:sp>
      <p:sp>
        <p:nvSpPr>
          <p:cNvPr id="135" name="TextBox 41"/>
          <p:cNvSpPr/>
          <p:nvPr/>
        </p:nvSpPr>
        <p:spPr>
          <a:xfrm>
            <a:off x="3197880" y="613080"/>
            <a:ext cx="12758760" cy="62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36000">
              <a:lnSpc>
                <a:spcPts val="4912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4610" b="0" u="none" strike="noStrike">
                <a:solidFill>
                  <a:schemeClr val="lt1"/>
                </a:solidFill>
                <a:effectLst/>
                <a:uFillTx/>
                <a:latin typeface="Poppins Semi-Bold"/>
                <a:ea typeface="DejaVu Sans"/>
              </a:rPr>
              <a:t>Variables, Constants &amp; Data Types</a:t>
            </a:r>
            <a:endParaRPr lang="en-US" sz="46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Freeform 38"/>
          <p:cNvSpPr/>
          <p:nvPr/>
        </p:nvSpPr>
        <p:spPr>
          <a:xfrm>
            <a:off x="16071840" y="9673920"/>
            <a:ext cx="2346120" cy="344160"/>
          </a:xfrm>
          <a:custGeom>
            <a:avLst/>
            <a:gdLst>
              <a:gd name="textAreaLeft" fmla="*/ 0 w 2346120"/>
              <a:gd name="textAreaRight" fmla="*/ 2347920 w 2346120"/>
              <a:gd name="textAreaTop" fmla="*/ 0 h 344160"/>
              <a:gd name="textAreaBottom" fmla="*/ 345960 h 344160"/>
            </a:gdLst>
            <a:ahLst/>
            <a:cxnLst/>
            <a:rect l="textAreaLeft" t="textAreaTop" r="textAreaRight" b="textAreaBottom"/>
            <a:pathLst>
              <a:path w="2293806" h="337815">
                <a:moveTo>
                  <a:pt x="0" y="0"/>
                </a:moveTo>
                <a:lnTo>
                  <a:pt x="2293806" y="0"/>
                </a:lnTo>
                <a:lnTo>
                  <a:pt x="2293806" y="337815"/>
                </a:lnTo>
                <a:lnTo>
                  <a:pt x="0" y="33781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4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" name="TextBox 42"/>
          <p:cNvSpPr/>
          <p:nvPr/>
        </p:nvSpPr>
        <p:spPr>
          <a:xfrm>
            <a:off x="2971800" y="1649160"/>
            <a:ext cx="5484960" cy="475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457200" defTabSz="914400">
              <a:lnSpc>
                <a:spcPct val="200000"/>
              </a:lnSpc>
            </a:pPr>
            <a:r>
              <a:rPr lang="en-GB" sz="3600" b="1" u="none" strike="noStrike">
                <a:solidFill>
                  <a:schemeClr val="accent6"/>
                </a:solidFill>
                <a:effectLst/>
                <a:uFillTx/>
                <a:latin typeface="Calibri"/>
                <a:ea typeface="Noto Sans CJK SC"/>
              </a:rPr>
              <a:t>Basic Data Types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Go has very few data types.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  <a:spcBef>
                <a:spcPts val="1191"/>
              </a:spcBef>
              <a:spcAft>
                <a:spcPts val="992"/>
              </a:spcAf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8" name=""/>
          <p:cNvPicPr/>
          <p:nvPr/>
        </p:nvPicPr>
        <p:blipFill>
          <a:blip r:embed="rId5"/>
          <a:stretch/>
        </p:blipFill>
        <p:spPr>
          <a:xfrm>
            <a:off x="314640" y="4572000"/>
            <a:ext cx="1741320" cy="5446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9" name=""/>
          <p:cNvPicPr/>
          <p:nvPr/>
        </p:nvPicPr>
        <p:blipFill>
          <a:blip r:embed="rId6"/>
          <a:stretch/>
        </p:blipFill>
        <p:spPr>
          <a:xfrm>
            <a:off x="3515760" y="3706560"/>
            <a:ext cx="3798000" cy="591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0" name="TextBox 43"/>
          <p:cNvSpPr/>
          <p:nvPr/>
        </p:nvSpPr>
        <p:spPr>
          <a:xfrm>
            <a:off x="8686800" y="1600200"/>
            <a:ext cx="8228160" cy="53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457200" defTabSz="914400">
              <a:lnSpc>
                <a:spcPct val="200000"/>
              </a:lnSpc>
            </a:pPr>
            <a:r>
              <a:rPr lang="en-GB" sz="3600" b="1" u="none" strike="noStrike">
                <a:solidFill>
                  <a:schemeClr val="accent6"/>
                </a:solidFill>
                <a:effectLst/>
                <a:uFillTx/>
                <a:latin typeface="Calibri"/>
                <a:ea typeface="Noto Sans CJK SC"/>
              </a:rPr>
              <a:t>Variables and variable Declaration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There is some quirks to variables.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  <a:spcBef>
                <a:spcPts val="1191"/>
              </a:spcBef>
              <a:spcAft>
                <a:spcPts val="992"/>
              </a:spcAf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1" name=""/>
          <p:cNvPicPr/>
          <p:nvPr/>
        </p:nvPicPr>
        <p:blipFill>
          <a:blip r:embed="rId7"/>
          <a:stretch/>
        </p:blipFill>
        <p:spPr>
          <a:xfrm>
            <a:off x="9144360" y="3632400"/>
            <a:ext cx="7554240" cy="36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2" name=""/>
          <p:cNvPicPr/>
          <p:nvPr/>
        </p:nvPicPr>
        <p:blipFill>
          <a:blip r:embed="rId8"/>
          <a:stretch/>
        </p:blipFill>
        <p:spPr>
          <a:xfrm>
            <a:off x="9144360" y="7704000"/>
            <a:ext cx="7150680" cy="166752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push dir="u"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Freeform 35"/>
          <p:cNvSpPr/>
          <p:nvPr/>
        </p:nvSpPr>
        <p:spPr>
          <a:xfrm>
            <a:off x="1739880" y="498600"/>
            <a:ext cx="15485400" cy="1526760"/>
          </a:xfrm>
          <a:custGeom>
            <a:avLst/>
            <a:gdLst>
              <a:gd name="textAreaLeft" fmla="*/ 0 w 15485400"/>
              <a:gd name="textAreaRight" fmla="*/ 15487200 w 15485400"/>
              <a:gd name="textAreaTop" fmla="*/ 0 h 1526760"/>
              <a:gd name="textAreaBottom" fmla="*/ 1528560 h 1526760"/>
            </a:gdLst>
            <a:ahLst/>
            <a:cxnLst/>
            <a:rect l="textAreaLeft" t="textAreaTop" r="textAreaRight" b="textAreaBottom"/>
            <a:pathLst>
              <a:path w="15129861" h="1493264">
                <a:moveTo>
                  <a:pt x="0" y="0"/>
                </a:moveTo>
                <a:lnTo>
                  <a:pt x="15129861" y="0"/>
                </a:lnTo>
                <a:lnTo>
                  <a:pt x="15129861" y="1493264"/>
                </a:lnTo>
                <a:lnTo>
                  <a:pt x="0" y="149326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endParaRPr lang="en-US" sz="4610" b="0" u="none" strike="noStrike">
              <a:solidFill>
                <a:schemeClr val="lt1"/>
              </a:solidFill>
              <a:effectLst/>
              <a:uFillTx/>
              <a:latin typeface="Poppins Semi-Bold"/>
            </a:endParaRPr>
          </a:p>
        </p:txBody>
      </p:sp>
      <p:sp>
        <p:nvSpPr>
          <p:cNvPr id="144" name="TextBox 38"/>
          <p:cNvSpPr/>
          <p:nvPr/>
        </p:nvSpPr>
        <p:spPr>
          <a:xfrm>
            <a:off x="3197880" y="613080"/>
            <a:ext cx="12758760" cy="62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36000">
              <a:lnSpc>
                <a:spcPts val="4912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4610" b="0" u="none" strike="noStrike">
                <a:solidFill>
                  <a:schemeClr val="lt1"/>
                </a:solidFill>
                <a:effectLst/>
                <a:uFillTx/>
                <a:latin typeface="Poppins Semi-Bold"/>
                <a:ea typeface="DejaVu Sans"/>
              </a:rPr>
              <a:t>Variables, Constants &amp; Data Types</a:t>
            </a:r>
            <a:endParaRPr lang="en-US" sz="46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Freeform 36"/>
          <p:cNvSpPr/>
          <p:nvPr/>
        </p:nvSpPr>
        <p:spPr>
          <a:xfrm>
            <a:off x="16071840" y="9673920"/>
            <a:ext cx="2346120" cy="344160"/>
          </a:xfrm>
          <a:custGeom>
            <a:avLst/>
            <a:gdLst>
              <a:gd name="textAreaLeft" fmla="*/ 0 w 2346120"/>
              <a:gd name="textAreaRight" fmla="*/ 2347920 w 2346120"/>
              <a:gd name="textAreaTop" fmla="*/ 0 h 344160"/>
              <a:gd name="textAreaBottom" fmla="*/ 345960 h 344160"/>
            </a:gdLst>
            <a:ahLst/>
            <a:cxnLst/>
            <a:rect l="textAreaLeft" t="textAreaTop" r="textAreaRight" b="textAreaBottom"/>
            <a:pathLst>
              <a:path w="2293806" h="337815">
                <a:moveTo>
                  <a:pt x="0" y="0"/>
                </a:moveTo>
                <a:lnTo>
                  <a:pt x="2293806" y="0"/>
                </a:lnTo>
                <a:lnTo>
                  <a:pt x="2293806" y="337815"/>
                </a:lnTo>
                <a:lnTo>
                  <a:pt x="0" y="33781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4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6" name="TextBox 39"/>
          <p:cNvSpPr/>
          <p:nvPr/>
        </p:nvSpPr>
        <p:spPr>
          <a:xfrm>
            <a:off x="2971800" y="1649160"/>
            <a:ext cx="12342960" cy="475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457200" defTabSz="914400">
              <a:lnSpc>
                <a:spcPct val="200000"/>
              </a:lnSpc>
            </a:pPr>
            <a:r>
              <a:rPr lang="en-GB" sz="3600" b="1" u="none" strike="noStrike">
                <a:solidFill>
                  <a:schemeClr val="accent6"/>
                </a:solidFill>
                <a:effectLst/>
                <a:uFillTx/>
                <a:latin typeface="Calibri"/>
                <a:ea typeface="Noto Sans CJK SC"/>
              </a:rPr>
              <a:t>Constants  and Global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As in other languages, constants are immutable when initialized.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  <a:spcBef>
                <a:spcPts val="1191"/>
              </a:spcBef>
              <a:spcAft>
                <a:spcPts val="992"/>
              </a:spcAf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7" name=""/>
          <p:cNvPicPr/>
          <p:nvPr/>
        </p:nvPicPr>
        <p:blipFill>
          <a:blip r:embed="rId5"/>
          <a:stretch/>
        </p:blipFill>
        <p:spPr>
          <a:xfrm>
            <a:off x="314640" y="4572000"/>
            <a:ext cx="1741320" cy="5446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8" name=""/>
          <p:cNvPicPr/>
          <p:nvPr/>
        </p:nvPicPr>
        <p:blipFill>
          <a:blip r:embed="rId6"/>
          <a:stretch/>
        </p:blipFill>
        <p:spPr>
          <a:xfrm>
            <a:off x="3429000" y="3657600"/>
            <a:ext cx="8549280" cy="1559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9" name=""/>
          <p:cNvPicPr/>
          <p:nvPr/>
        </p:nvPicPr>
        <p:blipFill>
          <a:blip r:embed="rId7"/>
          <a:stretch/>
        </p:blipFill>
        <p:spPr>
          <a:xfrm>
            <a:off x="3429360" y="6647400"/>
            <a:ext cx="8456760" cy="2495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"/>
          <p:cNvSpPr/>
          <p:nvPr/>
        </p:nvSpPr>
        <p:spPr>
          <a:xfrm>
            <a:off x="3429000" y="5947200"/>
            <a:ext cx="812808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Global variables (must use </a:t>
            </a:r>
            <a:r>
              <a:rPr lang="en-GB" sz="2400" b="0" u="none" strike="noStrike">
                <a:solidFill>
                  <a:srgbClr val="FF7B59"/>
                </a:solidFill>
                <a:effectLst/>
                <a:uFillTx/>
                <a:latin typeface="Calibri"/>
                <a:ea typeface="Noto Sans CJK SC"/>
              </a:rPr>
              <a:t>var</a:t>
            </a: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) can be redeclared in the context of a scope.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slow">
    <p:push dir="u"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Freeform 39"/>
          <p:cNvSpPr/>
          <p:nvPr/>
        </p:nvSpPr>
        <p:spPr>
          <a:xfrm>
            <a:off x="1739880" y="498600"/>
            <a:ext cx="15485400" cy="1526760"/>
          </a:xfrm>
          <a:custGeom>
            <a:avLst/>
            <a:gdLst>
              <a:gd name="textAreaLeft" fmla="*/ 0 w 15485400"/>
              <a:gd name="textAreaRight" fmla="*/ 15487200 w 15485400"/>
              <a:gd name="textAreaTop" fmla="*/ 0 h 1526760"/>
              <a:gd name="textAreaBottom" fmla="*/ 1528560 h 1526760"/>
            </a:gdLst>
            <a:ahLst/>
            <a:cxnLst/>
            <a:rect l="textAreaLeft" t="textAreaTop" r="textAreaRight" b="textAreaBottom"/>
            <a:pathLst>
              <a:path w="15129861" h="1493264">
                <a:moveTo>
                  <a:pt x="0" y="0"/>
                </a:moveTo>
                <a:lnTo>
                  <a:pt x="15129861" y="0"/>
                </a:lnTo>
                <a:lnTo>
                  <a:pt x="15129861" y="1493264"/>
                </a:lnTo>
                <a:lnTo>
                  <a:pt x="0" y="149326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endParaRPr lang="en-US" sz="4610" b="0" u="none" strike="noStrike">
              <a:solidFill>
                <a:schemeClr val="lt1"/>
              </a:solidFill>
              <a:effectLst/>
              <a:uFillTx/>
              <a:latin typeface="Poppins Semi-Bold"/>
            </a:endParaRPr>
          </a:p>
        </p:txBody>
      </p:sp>
      <p:sp>
        <p:nvSpPr>
          <p:cNvPr id="152" name="TextBox 40"/>
          <p:cNvSpPr/>
          <p:nvPr/>
        </p:nvSpPr>
        <p:spPr>
          <a:xfrm>
            <a:off x="3197880" y="613080"/>
            <a:ext cx="12758760" cy="62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36000">
              <a:lnSpc>
                <a:spcPts val="4912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4610" b="0" u="none" strike="noStrike">
                <a:solidFill>
                  <a:schemeClr val="lt1"/>
                </a:solidFill>
                <a:effectLst/>
                <a:uFillTx/>
                <a:latin typeface="Poppins Semi-Bold"/>
                <a:ea typeface="DejaVu Sans"/>
              </a:rPr>
              <a:t>Control Flow &amp; Defer</a:t>
            </a:r>
            <a:endParaRPr lang="en-US" sz="46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Freeform 40"/>
          <p:cNvSpPr/>
          <p:nvPr/>
        </p:nvSpPr>
        <p:spPr>
          <a:xfrm>
            <a:off x="16071840" y="9673920"/>
            <a:ext cx="2346120" cy="344160"/>
          </a:xfrm>
          <a:custGeom>
            <a:avLst/>
            <a:gdLst>
              <a:gd name="textAreaLeft" fmla="*/ 0 w 2346120"/>
              <a:gd name="textAreaRight" fmla="*/ 2347920 w 2346120"/>
              <a:gd name="textAreaTop" fmla="*/ 0 h 344160"/>
              <a:gd name="textAreaBottom" fmla="*/ 345960 h 344160"/>
            </a:gdLst>
            <a:ahLst/>
            <a:cxnLst/>
            <a:rect l="textAreaLeft" t="textAreaTop" r="textAreaRight" b="textAreaBottom"/>
            <a:pathLst>
              <a:path w="2293806" h="337815">
                <a:moveTo>
                  <a:pt x="0" y="0"/>
                </a:moveTo>
                <a:lnTo>
                  <a:pt x="2293806" y="0"/>
                </a:lnTo>
                <a:lnTo>
                  <a:pt x="2293806" y="337815"/>
                </a:lnTo>
                <a:lnTo>
                  <a:pt x="0" y="33781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4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4" name="TextBox 44"/>
          <p:cNvSpPr/>
          <p:nvPr/>
        </p:nvSpPr>
        <p:spPr>
          <a:xfrm>
            <a:off x="2971800" y="1649160"/>
            <a:ext cx="14171760" cy="475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457200" defTabSz="914400">
              <a:lnSpc>
                <a:spcPct val="200000"/>
              </a:lnSpc>
            </a:pPr>
            <a:r>
              <a:rPr lang="en-GB" sz="3600" b="1" u="none" strike="noStrike">
                <a:solidFill>
                  <a:schemeClr val="accent6"/>
                </a:solidFill>
                <a:effectLst/>
                <a:uFillTx/>
                <a:latin typeface="Calibri"/>
                <a:ea typeface="Noto Sans CJK SC"/>
              </a:rPr>
              <a:t>If statements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Are no different from what you are used to, minus the parenthesis </a:t>
            </a:r>
            <a:r>
              <a:rPr lang="en-GB" sz="2400" b="0" u="none" strike="noStrike">
                <a:solidFill>
                  <a:srgbClr val="FF8000"/>
                </a:solidFill>
                <a:effectLst/>
                <a:uFillTx/>
                <a:latin typeface="Calibri"/>
                <a:ea typeface="Noto Sans CJK SC"/>
              </a:rPr>
              <a:t>( 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  <a:spcBef>
                <a:spcPts val="1191"/>
              </a:spcBef>
              <a:spcAft>
                <a:spcPts val="992"/>
              </a:spcAf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5" name=""/>
          <p:cNvPicPr/>
          <p:nvPr/>
        </p:nvPicPr>
        <p:blipFill>
          <a:blip r:embed="rId5"/>
          <a:stretch/>
        </p:blipFill>
        <p:spPr>
          <a:xfrm>
            <a:off x="314640" y="4572000"/>
            <a:ext cx="1741320" cy="5446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6" name=""/>
          <p:cNvPicPr/>
          <p:nvPr/>
        </p:nvPicPr>
        <p:blipFill>
          <a:blip r:embed="rId6"/>
          <a:stretch/>
        </p:blipFill>
        <p:spPr>
          <a:xfrm>
            <a:off x="3535200" y="3886200"/>
            <a:ext cx="10179360" cy="565596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push dir="u"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Freeform 41"/>
          <p:cNvSpPr/>
          <p:nvPr/>
        </p:nvSpPr>
        <p:spPr>
          <a:xfrm>
            <a:off x="1739880" y="498600"/>
            <a:ext cx="15485400" cy="1526760"/>
          </a:xfrm>
          <a:custGeom>
            <a:avLst/>
            <a:gdLst>
              <a:gd name="textAreaLeft" fmla="*/ 0 w 15485400"/>
              <a:gd name="textAreaRight" fmla="*/ 15487200 w 15485400"/>
              <a:gd name="textAreaTop" fmla="*/ 0 h 1526760"/>
              <a:gd name="textAreaBottom" fmla="*/ 1528560 h 1526760"/>
            </a:gdLst>
            <a:ahLst/>
            <a:cxnLst/>
            <a:rect l="textAreaLeft" t="textAreaTop" r="textAreaRight" b="textAreaBottom"/>
            <a:pathLst>
              <a:path w="15129861" h="1493264">
                <a:moveTo>
                  <a:pt x="0" y="0"/>
                </a:moveTo>
                <a:lnTo>
                  <a:pt x="15129861" y="0"/>
                </a:lnTo>
                <a:lnTo>
                  <a:pt x="15129861" y="1493264"/>
                </a:lnTo>
                <a:lnTo>
                  <a:pt x="0" y="149326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endParaRPr lang="en-US" sz="4610" b="0" u="none" strike="noStrike">
              <a:solidFill>
                <a:schemeClr val="lt1"/>
              </a:solidFill>
              <a:effectLst/>
              <a:uFillTx/>
              <a:latin typeface="Poppins Semi-Bold"/>
            </a:endParaRPr>
          </a:p>
        </p:txBody>
      </p:sp>
      <p:sp>
        <p:nvSpPr>
          <p:cNvPr id="158" name="TextBox 45"/>
          <p:cNvSpPr/>
          <p:nvPr/>
        </p:nvSpPr>
        <p:spPr>
          <a:xfrm>
            <a:off x="3197880" y="613080"/>
            <a:ext cx="12758760" cy="62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36000">
              <a:lnSpc>
                <a:spcPts val="4912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4610" b="0" u="none" strike="noStrike">
                <a:solidFill>
                  <a:schemeClr val="lt1"/>
                </a:solidFill>
                <a:effectLst/>
                <a:uFillTx/>
                <a:latin typeface="Poppins Semi-Bold"/>
                <a:ea typeface="DejaVu Sans"/>
              </a:rPr>
              <a:t>Control Flow &amp; Defer</a:t>
            </a:r>
            <a:endParaRPr lang="en-US" sz="46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Freeform 42"/>
          <p:cNvSpPr/>
          <p:nvPr/>
        </p:nvSpPr>
        <p:spPr>
          <a:xfrm>
            <a:off x="16071840" y="9673920"/>
            <a:ext cx="2346120" cy="344160"/>
          </a:xfrm>
          <a:custGeom>
            <a:avLst/>
            <a:gdLst>
              <a:gd name="textAreaLeft" fmla="*/ 0 w 2346120"/>
              <a:gd name="textAreaRight" fmla="*/ 2347920 w 2346120"/>
              <a:gd name="textAreaTop" fmla="*/ 0 h 344160"/>
              <a:gd name="textAreaBottom" fmla="*/ 345960 h 344160"/>
            </a:gdLst>
            <a:ahLst/>
            <a:cxnLst/>
            <a:rect l="textAreaLeft" t="textAreaTop" r="textAreaRight" b="textAreaBottom"/>
            <a:pathLst>
              <a:path w="2293806" h="337815">
                <a:moveTo>
                  <a:pt x="0" y="0"/>
                </a:moveTo>
                <a:lnTo>
                  <a:pt x="2293806" y="0"/>
                </a:lnTo>
                <a:lnTo>
                  <a:pt x="2293806" y="337815"/>
                </a:lnTo>
                <a:lnTo>
                  <a:pt x="0" y="33781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4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0" name="TextBox 46"/>
          <p:cNvSpPr/>
          <p:nvPr/>
        </p:nvSpPr>
        <p:spPr>
          <a:xfrm>
            <a:off x="2971800" y="1649160"/>
            <a:ext cx="14171760" cy="46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457200" defTabSz="914400">
              <a:lnSpc>
                <a:spcPct val="200000"/>
              </a:lnSpc>
            </a:pPr>
            <a:r>
              <a:rPr lang="en-GB" sz="3600" b="1" u="none" strike="noStrike">
                <a:solidFill>
                  <a:schemeClr val="accent6"/>
                </a:solidFill>
                <a:effectLst/>
                <a:uFillTx/>
                <a:latin typeface="Calibri"/>
                <a:ea typeface="Noto Sans CJK SC"/>
              </a:rPr>
              <a:t>Switches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Can run on much more than just </a:t>
            </a:r>
            <a:r>
              <a:rPr lang="en-GB" sz="2400" b="0" u="none" strike="noStrike">
                <a:solidFill>
                  <a:srgbClr val="FF8000"/>
                </a:solidFill>
                <a:effectLst/>
                <a:uFillTx/>
                <a:latin typeface="Calibri"/>
                <a:ea typeface="Noto Sans CJK SC"/>
              </a:rPr>
              <a:t>integers</a:t>
            </a: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  <a:spcBef>
                <a:spcPts val="1191"/>
              </a:spcBef>
              <a:spcAft>
                <a:spcPts val="992"/>
              </a:spcAf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1" name=""/>
          <p:cNvPicPr/>
          <p:nvPr/>
        </p:nvPicPr>
        <p:blipFill>
          <a:blip r:embed="rId5"/>
          <a:stretch/>
        </p:blipFill>
        <p:spPr>
          <a:xfrm>
            <a:off x="314640" y="4572000"/>
            <a:ext cx="1741320" cy="5446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2" name=""/>
          <p:cNvPicPr/>
          <p:nvPr/>
        </p:nvPicPr>
        <p:blipFill>
          <a:blip r:embed="rId6"/>
          <a:stretch/>
        </p:blipFill>
        <p:spPr>
          <a:xfrm>
            <a:off x="3657600" y="3849120"/>
            <a:ext cx="8864640" cy="369324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push dir="u"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Freeform 43"/>
          <p:cNvSpPr/>
          <p:nvPr/>
        </p:nvSpPr>
        <p:spPr>
          <a:xfrm>
            <a:off x="1739880" y="498600"/>
            <a:ext cx="15485400" cy="1526760"/>
          </a:xfrm>
          <a:custGeom>
            <a:avLst/>
            <a:gdLst>
              <a:gd name="textAreaLeft" fmla="*/ 0 w 15485400"/>
              <a:gd name="textAreaRight" fmla="*/ 15487200 w 15485400"/>
              <a:gd name="textAreaTop" fmla="*/ 0 h 1526760"/>
              <a:gd name="textAreaBottom" fmla="*/ 1528560 h 1526760"/>
            </a:gdLst>
            <a:ahLst/>
            <a:cxnLst/>
            <a:rect l="textAreaLeft" t="textAreaTop" r="textAreaRight" b="textAreaBottom"/>
            <a:pathLst>
              <a:path w="15129861" h="1493264">
                <a:moveTo>
                  <a:pt x="0" y="0"/>
                </a:moveTo>
                <a:lnTo>
                  <a:pt x="15129861" y="0"/>
                </a:lnTo>
                <a:lnTo>
                  <a:pt x="15129861" y="1493264"/>
                </a:lnTo>
                <a:lnTo>
                  <a:pt x="0" y="149326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endParaRPr lang="en-US" sz="4610" b="0" u="none" strike="noStrike">
              <a:solidFill>
                <a:schemeClr val="lt1"/>
              </a:solidFill>
              <a:effectLst/>
              <a:uFillTx/>
              <a:latin typeface="Poppins Semi-Bold"/>
            </a:endParaRPr>
          </a:p>
        </p:txBody>
      </p:sp>
      <p:sp>
        <p:nvSpPr>
          <p:cNvPr id="164" name="TextBox 47"/>
          <p:cNvSpPr/>
          <p:nvPr/>
        </p:nvSpPr>
        <p:spPr>
          <a:xfrm>
            <a:off x="3197880" y="613080"/>
            <a:ext cx="12758760" cy="62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36000">
              <a:lnSpc>
                <a:spcPts val="4912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4610" b="0" u="none" strike="noStrike">
                <a:solidFill>
                  <a:schemeClr val="lt1"/>
                </a:solidFill>
                <a:effectLst/>
                <a:uFillTx/>
                <a:latin typeface="Poppins Semi-Bold"/>
                <a:ea typeface="DejaVu Sans"/>
              </a:rPr>
              <a:t>Control Flow &amp; Defer</a:t>
            </a:r>
            <a:endParaRPr lang="en-US" sz="46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Freeform 44"/>
          <p:cNvSpPr/>
          <p:nvPr/>
        </p:nvSpPr>
        <p:spPr>
          <a:xfrm>
            <a:off x="16071840" y="9673920"/>
            <a:ext cx="2346120" cy="344160"/>
          </a:xfrm>
          <a:custGeom>
            <a:avLst/>
            <a:gdLst>
              <a:gd name="textAreaLeft" fmla="*/ 0 w 2346120"/>
              <a:gd name="textAreaRight" fmla="*/ 2347920 w 2346120"/>
              <a:gd name="textAreaTop" fmla="*/ 0 h 344160"/>
              <a:gd name="textAreaBottom" fmla="*/ 345960 h 344160"/>
            </a:gdLst>
            <a:ahLst/>
            <a:cxnLst/>
            <a:rect l="textAreaLeft" t="textAreaTop" r="textAreaRight" b="textAreaBottom"/>
            <a:pathLst>
              <a:path w="2293806" h="337815">
                <a:moveTo>
                  <a:pt x="0" y="0"/>
                </a:moveTo>
                <a:lnTo>
                  <a:pt x="2293806" y="0"/>
                </a:lnTo>
                <a:lnTo>
                  <a:pt x="2293806" y="337815"/>
                </a:lnTo>
                <a:lnTo>
                  <a:pt x="0" y="33781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4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6" name="TextBox 48"/>
          <p:cNvSpPr/>
          <p:nvPr/>
        </p:nvSpPr>
        <p:spPr>
          <a:xfrm>
            <a:off x="2971800" y="1649160"/>
            <a:ext cx="14171760" cy="46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457200" defTabSz="914400">
              <a:lnSpc>
                <a:spcPct val="200000"/>
              </a:lnSpc>
            </a:pPr>
            <a:r>
              <a:rPr lang="en-GB" sz="3600" b="1" u="none" strike="noStrike">
                <a:solidFill>
                  <a:schemeClr val="accent6"/>
                </a:solidFill>
                <a:effectLst/>
                <a:uFillTx/>
                <a:latin typeface="Calibri"/>
                <a:ea typeface="Noto Sans CJK SC"/>
              </a:rPr>
              <a:t>Switches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You can perform calculations in </a:t>
            </a:r>
            <a:r>
              <a:rPr lang="en-GB" sz="2400" b="0" u="none" strike="noStrike">
                <a:solidFill>
                  <a:srgbClr val="FF8000"/>
                </a:solidFill>
                <a:effectLst/>
                <a:uFillTx/>
                <a:latin typeface="Calibri"/>
                <a:ea typeface="Noto Sans CJK SC"/>
              </a:rPr>
              <a:t>cases</a:t>
            </a: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, this reduces overhead.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  <a:spcBef>
                <a:spcPts val="1191"/>
              </a:spcBef>
              <a:spcAft>
                <a:spcPts val="992"/>
              </a:spcAf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7" name=""/>
          <p:cNvPicPr/>
          <p:nvPr/>
        </p:nvPicPr>
        <p:blipFill>
          <a:blip r:embed="rId5"/>
          <a:stretch/>
        </p:blipFill>
        <p:spPr>
          <a:xfrm>
            <a:off x="314640" y="4572000"/>
            <a:ext cx="1741320" cy="5446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8" name=""/>
          <p:cNvPicPr/>
          <p:nvPr/>
        </p:nvPicPr>
        <p:blipFill>
          <a:blip r:embed="rId6"/>
          <a:stretch/>
        </p:blipFill>
        <p:spPr>
          <a:xfrm>
            <a:off x="3468240" y="3753720"/>
            <a:ext cx="6588720" cy="523620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push dir="u"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Freeform 45"/>
          <p:cNvSpPr/>
          <p:nvPr/>
        </p:nvSpPr>
        <p:spPr>
          <a:xfrm>
            <a:off x="1739880" y="498600"/>
            <a:ext cx="15485400" cy="1526760"/>
          </a:xfrm>
          <a:custGeom>
            <a:avLst/>
            <a:gdLst>
              <a:gd name="textAreaLeft" fmla="*/ 0 w 15485400"/>
              <a:gd name="textAreaRight" fmla="*/ 15487200 w 15485400"/>
              <a:gd name="textAreaTop" fmla="*/ 0 h 1526760"/>
              <a:gd name="textAreaBottom" fmla="*/ 1528560 h 1526760"/>
            </a:gdLst>
            <a:ahLst/>
            <a:cxnLst/>
            <a:rect l="textAreaLeft" t="textAreaTop" r="textAreaRight" b="textAreaBottom"/>
            <a:pathLst>
              <a:path w="15129861" h="1493264">
                <a:moveTo>
                  <a:pt x="0" y="0"/>
                </a:moveTo>
                <a:lnTo>
                  <a:pt x="15129861" y="0"/>
                </a:lnTo>
                <a:lnTo>
                  <a:pt x="15129861" y="1493264"/>
                </a:lnTo>
                <a:lnTo>
                  <a:pt x="0" y="149326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endParaRPr lang="en-US" sz="4610" b="0" u="none" strike="noStrike">
              <a:solidFill>
                <a:schemeClr val="lt1"/>
              </a:solidFill>
              <a:effectLst/>
              <a:uFillTx/>
              <a:latin typeface="Poppins Semi-Bold"/>
            </a:endParaRPr>
          </a:p>
        </p:txBody>
      </p:sp>
      <p:sp>
        <p:nvSpPr>
          <p:cNvPr id="170" name="TextBox 49"/>
          <p:cNvSpPr/>
          <p:nvPr/>
        </p:nvSpPr>
        <p:spPr>
          <a:xfrm>
            <a:off x="3197880" y="613080"/>
            <a:ext cx="12758760" cy="62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36000">
              <a:lnSpc>
                <a:spcPts val="4912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4610" b="0" u="none" strike="noStrike">
                <a:solidFill>
                  <a:schemeClr val="lt1"/>
                </a:solidFill>
                <a:effectLst/>
                <a:uFillTx/>
                <a:latin typeface="Poppins Semi-Bold"/>
                <a:ea typeface="DejaVu Sans"/>
              </a:rPr>
              <a:t>Control Flow &amp; Defer</a:t>
            </a:r>
            <a:endParaRPr lang="en-US" sz="46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Freeform 46"/>
          <p:cNvSpPr/>
          <p:nvPr/>
        </p:nvSpPr>
        <p:spPr>
          <a:xfrm>
            <a:off x="16071840" y="9673920"/>
            <a:ext cx="2346120" cy="344160"/>
          </a:xfrm>
          <a:custGeom>
            <a:avLst/>
            <a:gdLst>
              <a:gd name="textAreaLeft" fmla="*/ 0 w 2346120"/>
              <a:gd name="textAreaRight" fmla="*/ 2347920 w 2346120"/>
              <a:gd name="textAreaTop" fmla="*/ 0 h 344160"/>
              <a:gd name="textAreaBottom" fmla="*/ 345960 h 344160"/>
            </a:gdLst>
            <a:ahLst/>
            <a:cxnLst/>
            <a:rect l="textAreaLeft" t="textAreaTop" r="textAreaRight" b="textAreaBottom"/>
            <a:pathLst>
              <a:path w="2293806" h="337815">
                <a:moveTo>
                  <a:pt x="0" y="0"/>
                </a:moveTo>
                <a:lnTo>
                  <a:pt x="2293806" y="0"/>
                </a:lnTo>
                <a:lnTo>
                  <a:pt x="2293806" y="337815"/>
                </a:lnTo>
                <a:lnTo>
                  <a:pt x="0" y="33781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4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2" name="TextBox 50"/>
          <p:cNvSpPr/>
          <p:nvPr/>
        </p:nvSpPr>
        <p:spPr>
          <a:xfrm>
            <a:off x="2971800" y="1649160"/>
            <a:ext cx="14171760" cy="46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457200" defTabSz="914400">
              <a:lnSpc>
                <a:spcPct val="200000"/>
              </a:lnSpc>
            </a:pPr>
            <a:r>
              <a:rPr lang="en-GB" sz="3600" b="1" u="none" strike="noStrike">
                <a:solidFill>
                  <a:schemeClr val="accent6"/>
                </a:solidFill>
                <a:effectLst/>
                <a:uFillTx/>
                <a:latin typeface="Calibri"/>
                <a:ea typeface="Noto Sans CJK SC"/>
              </a:rPr>
              <a:t>Switches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Or create switches </a:t>
            </a:r>
            <a:r>
              <a:rPr lang="en-GB" sz="2400" b="0" u="none" strike="noStrike">
                <a:solidFill>
                  <a:srgbClr val="FF8000"/>
                </a:solidFill>
                <a:effectLst/>
                <a:uFillTx/>
                <a:latin typeface="Calibri"/>
                <a:ea typeface="Noto Sans CJK SC"/>
              </a:rPr>
              <a:t>without</a:t>
            </a: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 </a:t>
            </a:r>
            <a:r>
              <a:rPr lang="en-GB" sz="2400" b="0" u="none" strike="noStrike">
                <a:solidFill>
                  <a:srgbClr val="FF8000"/>
                </a:solidFill>
                <a:effectLst/>
                <a:uFillTx/>
                <a:latin typeface="Calibri"/>
                <a:ea typeface="Noto Sans CJK SC"/>
              </a:rPr>
              <a:t>conditions </a:t>
            </a: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in place of long if-else statements.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  <a:spcBef>
                <a:spcPts val="1191"/>
              </a:spcBef>
              <a:spcAft>
                <a:spcPts val="992"/>
              </a:spcAf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3" name=""/>
          <p:cNvPicPr/>
          <p:nvPr/>
        </p:nvPicPr>
        <p:blipFill>
          <a:blip r:embed="rId5"/>
          <a:stretch/>
        </p:blipFill>
        <p:spPr>
          <a:xfrm>
            <a:off x="314640" y="4572000"/>
            <a:ext cx="1741320" cy="5446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4" name=""/>
          <p:cNvPicPr/>
          <p:nvPr/>
        </p:nvPicPr>
        <p:blipFill>
          <a:blip r:embed="rId6"/>
          <a:stretch/>
        </p:blipFill>
        <p:spPr>
          <a:xfrm>
            <a:off x="3639600" y="3886200"/>
            <a:ext cx="7786440" cy="457056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push dir="u"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Freeform 47"/>
          <p:cNvSpPr/>
          <p:nvPr/>
        </p:nvSpPr>
        <p:spPr>
          <a:xfrm>
            <a:off x="1739880" y="498600"/>
            <a:ext cx="15485400" cy="1526760"/>
          </a:xfrm>
          <a:custGeom>
            <a:avLst/>
            <a:gdLst>
              <a:gd name="textAreaLeft" fmla="*/ 0 w 15485400"/>
              <a:gd name="textAreaRight" fmla="*/ 15487200 w 15485400"/>
              <a:gd name="textAreaTop" fmla="*/ 0 h 1526760"/>
              <a:gd name="textAreaBottom" fmla="*/ 1528560 h 1526760"/>
            </a:gdLst>
            <a:ahLst/>
            <a:cxnLst/>
            <a:rect l="textAreaLeft" t="textAreaTop" r="textAreaRight" b="textAreaBottom"/>
            <a:pathLst>
              <a:path w="15129861" h="1493264">
                <a:moveTo>
                  <a:pt x="0" y="0"/>
                </a:moveTo>
                <a:lnTo>
                  <a:pt x="15129861" y="0"/>
                </a:lnTo>
                <a:lnTo>
                  <a:pt x="15129861" y="1493264"/>
                </a:lnTo>
                <a:lnTo>
                  <a:pt x="0" y="149326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endParaRPr lang="en-US" sz="4610" b="0" u="none" strike="noStrike">
              <a:solidFill>
                <a:schemeClr val="lt1"/>
              </a:solidFill>
              <a:effectLst/>
              <a:uFillTx/>
              <a:latin typeface="Poppins Semi-Bold"/>
            </a:endParaRPr>
          </a:p>
        </p:txBody>
      </p:sp>
      <p:sp>
        <p:nvSpPr>
          <p:cNvPr id="176" name="TextBox 51"/>
          <p:cNvSpPr/>
          <p:nvPr/>
        </p:nvSpPr>
        <p:spPr>
          <a:xfrm>
            <a:off x="3197880" y="613080"/>
            <a:ext cx="12758760" cy="62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36000">
              <a:lnSpc>
                <a:spcPts val="4912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4610" b="0" u="none" strike="noStrike">
                <a:solidFill>
                  <a:schemeClr val="lt1"/>
                </a:solidFill>
                <a:effectLst/>
                <a:uFillTx/>
                <a:latin typeface="Poppins Semi-Bold"/>
                <a:ea typeface="DejaVu Sans"/>
              </a:rPr>
              <a:t>Control Flow &amp; Defer</a:t>
            </a:r>
            <a:endParaRPr lang="en-US" sz="46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Freeform 48"/>
          <p:cNvSpPr/>
          <p:nvPr/>
        </p:nvSpPr>
        <p:spPr>
          <a:xfrm>
            <a:off x="16071840" y="9673920"/>
            <a:ext cx="2346120" cy="344160"/>
          </a:xfrm>
          <a:custGeom>
            <a:avLst/>
            <a:gdLst>
              <a:gd name="textAreaLeft" fmla="*/ 0 w 2346120"/>
              <a:gd name="textAreaRight" fmla="*/ 2347920 w 2346120"/>
              <a:gd name="textAreaTop" fmla="*/ 0 h 344160"/>
              <a:gd name="textAreaBottom" fmla="*/ 345960 h 344160"/>
            </a:gdLst>
            <a:ahLst/>
            <a:cxnLst/>
            <a:rect l="textAreaLeft" t="textAreaTop" r="textAreaRight" b="textAreaBottom"/>
            <a:pathLst>
              <a:path w="2293806" h="337815">
                <a:moveTo>
                  <a:pt x="0" y="0"/>
                </a:moveTo>
                <a:lnTo>
                  <a:pt x="2293806" y="0"/>
                </a:lnTo>
                <a:lnTo>
                  <a:pt x="2293806" y="337815"/>
                </a:lnTo>
                <a:lnTo>
                  <a:pt x="0" y="33781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4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8" name="TextBox 52"/>
          <p:cNvSpPr/>
          <p:nvPr/>
        </p:nvSpPr>
        <p:spPr>
          <a:xfrm>
            <a:off x="2971800" y="1649160"/>
            <a:ext cx="14171760" cy="46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457200" defTabSz="914400">
              <a:lnSpc>
                <a:spcPct val="200000"/>
              </a:lnSpc>
            </a:pPr>
            <a:r>
              <a:rPr lang="en-GB" sz="3600" b="1" u="none" strike="noStrike">
                <a:solidFill>
                  <a:schemeClr val="accent6"/>
                </a:solidFill>
                <a:effectLst/>
                <a:uFillTx/>
                <a:latin typeface="Calibri"/>
                <a:ea typeface="Noto Sans CJK SC"/>
              </a:rPr>
              <a:t>Switches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You can multiple condition meet in one </a:t>
            </a:r>
            <a:r>
              <a:rPr lang="en-GB" sz="2400" b="0" u="none" strike="noStrike">
                <a:solidFill>
                  <a:srgbClr val="FF8000"/>
                </a:solidFill>
                <a:effectLst/>
                <a:uFillTx/>
                <a:latin typeface="Calibri"/>
                <a:ea typeface="Noto Sans CJK SC"/>
              </a:rPr>
              <a:t>case</a:t>
            </a: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  <a:spcBef>
                <a:spcPts val="1191"/>
              </a:spcBef>
              <a:spcAft>
                <a:spcPts val="992"/>
              </a:spcAf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9" name=""/>
          <p:cNvPicPr/>
          <p:nvPr/>
        </p:nvPicPr>
        <p:blipFill>
          <a:blip r:embed="rId5"/>
          <a:stretch/>
        </p:blipFill>
        <p:spPr>
          <a:xfrm>
            <a:off x="314640" y="4572000"/>
            <a:ext cx="1741320" cy="5446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0" name=""/>
          <p:cNvPicPr/>
          <p:nvPr/>
        </p:nvPicPr>
        <p:blipFill>
          <a:blip r:embed="rId6"/>
          <a:stretch/>
        </p:blipFill>
        <p:spPr>
          <a:xfrm>
            <a:off x="3657600" y="3696840"/>
            <a:ext cx="7082640" cy="293148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push dir="u"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Freeform 49"/>
          <p:cNvSpPr/>
          <p:nvPr/>
        </p:nvSpPr>
        <p:spPr>
          <a:xfrm>
            <a:off x="1739880" y="498600"/>
            <a:ext cx="15485400" cy="1526760"/>
          </a:xfrm>
          <a:custGeom>
            <a:avLst/>
            <a:gdLst>
              <a:gd name="textAreaLeft" fmla="*/ 0 w 15485400"/>
              <a:gd name="textAreaRight" fmla="*/ 15487200 w 15485400"/>
              <a:gd name="textAreaTop" fmla="*/ 0 h 1526760"/>
              <a:gd name="textAreaBottom" fmla="*/ 1528560 h 1526760"/>
            </a:gdLst>
            <a:ahLst/>
            <a:cxnLst/>
            <a:rect l="textAreaLeft" t="textAreaTop" r="textAreaRight" b="textAreaBottom"/>
            <a:pathLst>
              <a:path w="15129861" h="1493264">
                <a:moveTo>
                  <a:pt x="0" y="0"/>
                </a:moveTo>
                <a:lnTo>
                  <a:pt x="15129861" y="0"/>
                </a:lnTo>
                <a:lnTo>
                  <a:pt x="15129861" y="1493264"/>
                </a:lnTo>
                <a:lnTo>
                  <a:pt x="0" y="149326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endParaRPr lang="en-US" sz="4610" b="0" u="none" strike="noStrike">
              <a:solidFill>
                <a:schemeClr val="lt1"/>
              </a:solidFill>
              <a:effectLst/>
              <a:uFillTx/>
              <a:latin typeface="Poppins Semi-Bold"/>
            </a:endParaRPr>
          </a:p>
        </p:txBody>
      </p:sp>
      <p:sp>
        <p:nvSpPr>
          <p:cNvPr id="182" name="TextBox 53"/>
          <p:cNvSpPr/>
          <p:nvPr/>
        </p:nvSpPr>
        <p:spPr>
          <a:xfrm>
            <a:off x="3197880" y="613080"/>
            <a:ext cx="12758760" cy="62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36000">
              <a:lnSpc>
                <a:spcPts val="4912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4610" b="0" u="none" strike="noStrike">
                <a:solidFill>
                  <a:schemeClr val="lt1"/>
                </a:solidFill>
                <a:effectLst/>
                <a:uFillTx/>
                <a:latin typeface="Poppins Semi-Bold"/>
                <a:ea typeface="DejaVu Sans"/>
              </a:rPr>
              <a:t>Control Flow &amp; Defer</a:t>
            </a:r>
            <a:endParaRPr lang="en-US" sz="46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Freeform 50"/>
          <p:cNvSpPr/>
          <p:nvPr/>
        </p:nvSpPr>
        <p:spPr>
          <a:xfrm>
            <a:off x="16071840" y="9673920"/>
            <a:ext cx="2346120" cy="344160"/>
          </a:xfrm>
          <a:custGeom>
            <a:avLst/>
            <a:gdLst>
              <a:gd name="textAreaLeft" fmla="*/ 0 w 2346120"/>
              <a:gd name="textAreaRight" fmla="*/ 2347920 w 2346120"/>
              <a:gd name="textAreaTop" fmla="*/ 0 h 344160"/>
              <a:gd name="textAreaBottom" fmla="*/ 345960 h 344160"/>
            </a:gdLst>
            <a:ahLst/>
            <a:cxnLst/>
            <a:rect l="textAreaLeft" t="textAreaTop" r="textAreaRight" b="textAreaBottom"/>
            <a:pathLst>
              <a:path w="2293806" h="337815">
                <a:moveTo>
                  <a:pt x="0" y="0"/>
                </a:moveTo>
                <a:lnTo>
                  <a:pt x="2293806" y="0"/>
                </a:lnTo>
                <a:lnTo>
                  <a:pt x="2293806" y="337815"/>
                </a:lnTo>
                <a:lnTo>
                  <a:pt x="0" y="33781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4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4" name="TextBox 54"/>
          <p:cNvSpPr/>
          <p:nvPr/>
        </p:nvSpPr>
        <p:spPr>
          <a:xfrm>
            <a:off x="2971800" y="1649160"/>
            <a:ext cx="14171760" cy="46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457200" defTabSz="914400">
              <a:lnSpc>
                <a:spcPct val="200000"/>
              </a:lnSpc>
            </a:pPr>
            <a:r>
              <a:rPr lang="en-GB" sz="3600" b="1" u="none" strike="noStrike">
                <a:solidFill>
                  <a:schemeClr val="accent6"/>
                </a:solidFill>
                <a:effectLst/>
                <a:uFillTx/>
                <a:latin typeface="Calibri"/>
                <a:ea typeface="Noto Sans CJK SC"/>
              </a:rPr>
              <a:t>For loops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There is nothing new about a  </a:t>
            </a:r>
            <a:r>
              <a:rPr lang="en-GB" sz="2400" b="0" u="none" strike="noStrike">
                <a:solidFill>
                  <a:srgbClr val="FF8000"/>
                </a:solidFill>
                <a:effectLst/>
                <a:uFillTx/>
                <a:latin typeface="Calibri"/>
                <a:ea typeface="Noto Sans CJK SC"/>
              </a:rPr>
              <a:t>for </a:t>
            </a: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 loop.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  <a:spcBef>
                <a:spcPts val="1191"/>
              </a:spcBef>
              <a:spcAft>
                <a:spcPts val="992"/>
              </a:spcAf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5" name=""/>
          <p:cNvPicPr/>
          <p:nvPr/>
        </p:nvPicPr>
        <p:blipFill>
          <a:blip r:embed="rId5"/>
          <a:stretch/>
        </p:blipFill>
        <p:spPr>
          <a:xfrm>
            <a:off x="314640" y="4572000"/>
            <a:ext cx="1741320" cy="5446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6" name=""/>
          <p:cNvPicPr/>
          <p:nvPr/>
        </p:nvPicPr>
        <p:blipFill>
          <a:blip r:embed="rId6"/>
          <a:stretch/>
        </p:blipFill>
        <p:spPr>
          <a:xfrm>
            <a:off x="3657600" y="3858480"/>
            <a:ext cx="5027760" cy="259200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push dir="u"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Freeform 51"/>
          <p:cNvSpPr/>
          <p:nvPr/>
        </p:nvSpPr>
        <p:spPr>
          <a:xfrm>
            <a:off x="1739880" y="498600"/>
            <a:ext cx="15485400" cy="1526760"/>
          </a:xfrm>
          <a:custGeom>
            <a:avLst/>
            <a:gdLst>
              <a:gd name="textAreaLeft" fmla="*/ 0 w 15485400"/>
              <a:gd name="textAreaRight" fmla="*/ 15487200 w 15485400"/>
              <a:gd name="textAreaTop" fmla="*/ 0 h 1526760"/>
              <a:gd name="textAreaBottom" fmla="*/ 1528560 h 1526760"/>
            </a:gdLst>
            <a:ahLst/>
            <a:cxnLst/>
            <a:rect l="textAreaLeft" t="textAreaTop" r="textAreaRight" b="textAreaBottom"/>
            <a:pathLst>
              <a:path w="15129861" h="1493264">
                <a:moveTo>
                  <a:pt x="0" y="0"/>
                </a:moveTo>
                <a:lnTo>
                  <a:pt x="15129861" y="0"/>
                </a:lnTo>
                <a:lnTo>
                  <a:pt x="15129861" y="1493264"/>
                </a:lnTo>
                <a:lnTo>
                  <a:pt x="0" y="149326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endParaRPr lang="en-US" sz="4610" b="0" u="none" strike="noStrike">
              <a:solidFill>
                <a:schemeClr val="lt1"/>
              </a:solidFill>
              <a:effectLst/>
              <a:uFillTx/>
              <a:latin typeface="Poppins Semi-Bold"/>
            </a:endParaRPr>
          </a:p>
        </p:txBody>
      </p:sp>
      <p:sp>
        <p:nvSpPr>
          <p:cNvPr id="188" name="TextBox 55"/>
          <p:cNvSpPr/>
          <p:nvPr/>
        </p:nvSpPr>
        <p:spPr>
          <a:xfrm>
            <a:off x="3197880" y="613080"/>
            <a:ext cx="12758760" cy="62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36000">
              <a:lnSpc>
                <a:spcPts val="4912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4610" b="0" u="none" strike="noStrike">
                <a:solidFill>
                  <a:schemeClr val="lt1"/>
                </a:solidFill>
                <a:effectLst/>
                <a:uFillTx/>
                <a:latin typeface="Poppins Semi-Bold"/>
                <a:ea typeface="DejaVu Sans"/>
              </a:rPr>
              <a:t>Control Flow &amp; Defer</a:t>
            </a:r>
            <a:endParaRPr lang="en-US" sz="46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Freeform 52"/>
          <p:cNvSpPr/>
          <p:nvPr/>
        </p:nvSpPr>
        <p:spPr>
          <a:xfrm>
            <a:off x="16071840" y="9673920"/>
            <a:ext cx="2346120" cy="344160"/>
          </a:xfrm>
          <a:custGeom>
            <a:avLst/>
            <a:gdLst>
              <a:gd name="textAreaLeft" fmla="*/ 0 w 2346120"/>
              <a:gd name="textAreaRight" fmla="*/ 2347920 w 2346120"/>
              <a:gd name="textAreaTop" fmla="*/ 0 h 344160"/>
              <a:gd name="textAreaBottom" fmla="*/ 345960 h 344160"/>
            </a:gdLst>
            <a:ahLst/>
            <a:cxnLst/>
            <a:rect l="textAreaLeft" t="textAreaTop" r="textAreaRight" b="textAreaBottom"/>
            <a:pathLst>
              <a:path w="2293806" h="337815">
                <a:moveTo>
                  <a:pt x="0" y="0"/>
                </a:moveTo>
                <a:lnTo>
                  <a:pt x="2293806" y="0"/>
                </a:lnTo>
                <a:lnTo>
                  <a:pt x="2293806" y="337815"/>
                </a:lnTo>
                <a:lnTo>
                  <a:pt x="0" y="33781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4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0" name="TextBox 56"/>
          <p:cNvSpPr/>
          <p:nvPr/>
        </p:nvSpPr>
        <p:spPr>
          <a:xfrm>
            <a:off x="2971800" y="1649160"/>
            <a:ext cx="14171760" cy="439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457200" defTabSz="914400">
              <a:lnSpc>
                <a:spcPct val="200000"/>
              </a:lnSpc>
            </a:pPr>
            <a:r>
              <a:rPr lang="en-GB" sz="3600" b="1" u="none" strike="noStrike">
                <a:solidFill>
                  <a:schemeClr val="accent6"/>
                </a:solidFill>
                <a:effectLst/>
                <a:uFillTx/>
                <a:latin typeface="Calibri"/>
                <a:ea typeface="Noto Sans CJK SC"/>
              </a:rPr>
              <a:t>For: One loop to rule them all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Other than it’s the only loop you’ll ever need, while do we have a while syntax?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  <a:spcBef>
                <a:spcPts val="1191"/>
              </a:spcBef>
              <a:spcAft>
                <a:spcPts val="992"/>
              </a:spcAf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1" name=""/>
          <p:cNvPicPr/>
          <p:nvPr/>
        </p:nvPicPr>
        <p:blipFill>
          <a:blip r:embed="rId5"/>
          <a:stretch/>
        </p:blipFill>
        <p:spPr>
          <a:xfrm>
            <a:off x="314640" y="4572000"/>
            <a:ext cx="1741320" cy="5446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2" name=""/>
          <p:cNvPicPr/>
          <p:nvPr/>
        </p:nvPicPr>
        <p:blipFill>
          <a:blip r:embed="rId6"/>
          <a:stretch/>
        </p:blipFill>
        <p:spPr>
          <a:xfrm>
            <a:off x="3429000" y="3925080"/>
            <a:ext cx="4799160" cy="2474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3" name=""/>
          <p:cNvPicPr/>
          <p:nvPr/>
        </p:nvPicPr>
        <p:blipFill>
          <a:blip r:embed="rId7"/>
          <a:stretch/>
        </p:blipFill>
        <p:spPr>
          <a:xfrm>
            <a:off x="6700320" y="6622920"/>
            <a:ext cx="4956840" cy="2976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4" name=""/>
          <p:cNvPicPr/>
          <p:nvPr/>
        </p:nvPicPr>
        <p:blipFill>
          <a:blip r:embed="rId8"/>
          <a:stretch/>
        </p:blipFill>
        <p:spPr>
          <a:xfrm>
            <a:off x="9632520" y="3886200"/>
            <a:ext cx="6139440" cy="228456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push dir="u"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Freeform 53"/>
          <p:cNvSpPr/>
          <p:nvPr/>
        </p:nvSpPr>
        <p:spPr>
          <a:xfrm>
            <a:off x="1739880" y="498600"/>
            <a:ext cx="15485400" cy="1526760"/>
          </a:xfrm>
          <a:custGeom>
            <a:avLst/>
            <a:gdLst>
              <a:gd name="textAreaLeft" fmla="*/ 0 w 15485400"/>
              <a:gd name="textAreaRight" fmla="*/ 15487200 w 15485400"/>
              <a:gd name="textAreaTop" fmla="*/ 0 h 1526760"/>
              <a:gd name="textAreaBottom" fmla="*/ 1528560 h 1526760"/>
            </a:gdLst>
            <a:ahLst/>
            <a:cxnLst/>
            <a:rect l="textAreaLeft" t="textAreaTop" r="textAreaRight" b="textAreaBottom"/>
            <a:pathLst>
              <a:path w="15129861" h="1493264">
                <a:moveTo>
                  <a:pt x="0" y="0"/>
                </a:moveTo>
                <a:lnTo>
                  <a:pt x="15129861" y="0"/>
                </a:lnTo>
                <a:lnTo>
                  <a:pt x="15129861" y="1493264"/>
                </a:lnTo>
                <a:lnTo>
                  <a:pt x="0" y="149326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endParaRPr lang="en-US" sz="4610" b="0" u="none" strike="noStrike">
              <a:solidFill>
                <a:schemeClr val="lt1"/>
              </a:solidFill>
              <a:effectLst/>
              <a:uFillTx/>
              <a:latin typeface="Poppins Semi-Bold"/>
            </a:endParaRPr>
          </a:p>
        </p:txBody>
      </p:sp>
      <p:sp>
        <p:nvSpPr>
          <p:cNvPr id="196" name="TextBox 57"/>
          <p:cNvSpPr/>
          <p:nvPr/>
        </p:nvSpPr>
        <p:spPr>
          <a:xfrm>
            <a:off x="3197880" y="613080"/>
            <a:ext cx="12758760" cy="62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36000">
              <a:lnSpc>
                <a:spcPts val="4912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4610" b="0" u="none" strike="noStrike">
                <a:solidFill>
                  <a:schemeClr val="lt1"/>
                </a:solidFill>
                <a:effectLst/>
                <a:uFillTx/>
                <a:latin typeface="Poppins Semi-Bold"/>
                <a:ea typeface="DejaVu Sans"/>
              </a:rPr>
              <a:t>Control Flow &amp; Defer</a:t>
            </a:r>
            <a:endParaRPr lang="en-US" sz="46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Freeform 54"/>
          <p:cNvSpPr/>
          <p:nvPr/>
        </p:nvSpPr>
        <p:spPr>
          <a:xfrm>
            <a:off x="16071840" y="9673920"/>
            <a:ext cx="2346120" cy="344160"/>
          </a:xfrm>
          <a:custGeom>
            <a:avLst/>
            <a:gdLst>
              <a:gd name="textAreaLeft" fmla="*/ 0 w 2346120"/>
              <a:gd name="textAreaRight" fmla="*/ 2347920 w 2346120"/>
              <a:gd name="textAreaTop" fmla="*/ 0 h 344160"/>
              <a:gd name="textAreaBottom" fmla="*/ 345960 h 344160"/>
            </a:gdLst>
            <a:ahLst/>
            <a:cxnLst/>
            <a:rect l="textAreaLeft" t="textAreaTop" r="textAreaRight" b="textAreaBottom"/>
            <a:pathLst>
              <a:path w="2293806" h="337815">
                <a:moveTo>
                  <a:pt x="0" y="0"/>
                </a:moveTo>
                <a:lnTo>
                  <a:pt x="2293806" y="0"/>
                </a:lnTo>
                <a:lnTo>
                  <a:pt x="2293806" y="337815"/>
                </a:lnTo>
                <a:lnTo>
                  <a:pt x="0" y="33781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4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8" name="TextBox 58"/>
          <p:cNvSpPr/>
          <p:nvPr/>
        </p:nvSpPr>
        <p:spPr>
          <a:xfrm>
            <a:off x="2971800" y="1649160"/>
            <a:ext cx="14171760" cy="439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457200" defTabSz="914400">
              <a:lnSpc>
                <a:spcPct val="200000"/>
              </a:lnSpc>
            </a:pPr>
            <a:r>
              <a:rPr lang="en-GB" sz="3600" b="1" u="none" strike="noStrike">
                <a:solidFill>
                  <a:schemeClr val="accent6"/>
                </a:solidFill>
                <a:effectLst/>
                <a:uFillTx/>
                <a:latin typeface="Calibri"/>
                <a:ea typeface="Noto Sans CJK SC"/>
              </a:rPr>
              <a:t>For: One loop to rule them all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r>
              <a:rPr lang="en-GB" sz="2400" b="0" u="none" strike="noStrike">
                <a:solidFill>
                  <a:srgbClr val="FF8000"/>
                </a:solidFill>
                <a:effectLst/>
                <a:uFillTx/>
                <a:latin typeface="Calibri"/>
                <a:ea typeface="Noto Sans CJK SC"/>
              </a:rPr>
              <a:t>For </a:t>
            </a: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loops can do iteration to, even over </a:t>
            </a:r>
            <a:r>
              <a:rPr lang="en-GB" sz="2400" b="0" u="none" strike="noStrike">
                <a:solidFill>
                  <a:srgbClr val="FF8000"/>
                </a:solidFill>
                <a:effectLst/>
                <a:uFillTx/>
                <a:latin typeface="Calibri"/>
                <a:ea typeface="Noto Sans CJK SC"/>
              </a:rPr>
              <a:t>built-in</a:t>
            </a: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 types, it’s essentially an </a:t>
            </a:r>
            <a:r>
              <a:rPr lang="en-GB" sz="2400" b="0" u="none" strike="noStrike">
                <a:solidFill>
                  <a:srgbClr val="FF8000"/>
                </a:solidFill>
                <a:effectLst/>
                <a:uFillTx/>
                <a:latin typeface="Calibri"/>
                <a:ea typeface="Noto Sans CJK SC"/>
              </a:rPr>
              <a:t>for each</a:t>
            </a: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  <a:spcBef>
                <a:spcPts val="1191"/>
              </a:spcBef>
              <a:spcAft>
                <a:spcPts val="992"/>
              </a:spcAf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9" name=""/>
          <p:cNvPicPr/>
          <p:nvPr/>
        </p:nvPicPr>
        <p:blipFill>
          <a:blip r:embed="rId5"/>
          <a:stretch/>
        </p:blipFill>
        <p:spPr>
          <a:xfrm>
            <a:off x="314640" y="4572000"/>
            <a:ext cx="1741320" cy="5446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0" name=""/>
          <p:cNvPicPr/>
          <p:nvPr/>
        </p:nvPicPr>
        <p:blipFill>
          <a:blip r:embed="rId6"/>
          <a:stretch/>
        </p:blipFill>
        <p:spPr>
          <a:xfrm>
            <a:off x="3711240" y="3886200"/>
            <a:ext cx="4257000" cy="2284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1" name=""/>
          <p:cNvPicPr/>
          <p:nvPr/>
        </p:nvPicPr>
        <p:blipFill>
          <a:blip r:embed="rId7"/>
          <a:stretch/>
        </p:blipFill>
        <p:spPr>
          <a:xfrm>
            <a:off x="8556480" y="3882960"/>
            <a:ext cx="6427440" cy="251640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push dir="u"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Freeform 55"/>
          <p:cNvSpPr/>
          <p:nvPr/>
        </p:nvSpPr>
        <p:spPr>
          <a:xfrm>
            <a:off x="1739880" y="498600"/>
            <a:ext cx="15485400" cy="1526760"/>
          </a:xfrm>
          <a:custGeom>
            <a:avLst/>
            <a:gdLst>
              <a:gd name="textAreaLeft" fmla="*/ 0 w 15485400"/>
              <a:gd name="textAreaRight" fmla="*/ 15487200 w 15485400"/>
              <a:gd name="textAreaTop" fmla="*/ 0 h 1526760"/>
              <a:gd name="textAreaBottom" fmla="*/ 1528560 h 1526760"/>
            </a:gdLst>
            <a:ahLst/>
            <a:cxnLst/>
            <a:rect l="textAreaLeft" t="textAreaTop" r="textAreaRight" b="textAreaBottom"/>
            <a:pathLst>
              <a:path w="15129861" h="1493264">
                <a:moveTo>
                  <a:pt x="0" y="0"/>
                </a:moveTo>
                <a:lnTo>
                  <a:pt x="15129861" y="0"/>
                </a:lnTo>
                <a:lnTo>
                  <a:pt x="15129861" y="1493264"/>
                </a:lnTo>
                <a:lnTo>
                  <a:pt x="0" y="149326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endParaRPr lang="en-US" sz="4610" b="0" u="none" strike="noStrike">
              <a:solidFill>
                <a:schemeClr val="lt1"/>
              </a:solidFill>
              <a:effectLst/>
              <a:uFillTx/>
              <a:latin typeface="Poppins Semi-Bold"/>
            </a:endParaRPr>
          </a:p>
        </p:txBody>
      </p:sp>
      <p:sp>
        <p:nvSpPr>
          <p:cNvPr id="203" name="TextBox 59"/>
          <p:cNvSpPr/>
          <p:nvPr/>
        </p:nvSpPr>
        <p:spPr>
          <a:xfrm>
            <a:off x="3197880" y="613080"/>
            <a:ext cx="12758760" cy="62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36000">
              <a:lnSpc>
                <a:spcPts val="4912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4610" b="0" u="none" strike="noStrike">
                <a:solidFill>
                  <a:schemeClr val="lt1"/>
                </a:solidFill>
                <a:effectLst/>
                <a:uFillTx/>
                <a:latin typeface="Poppins Semi-Bold"/>
                <a:ea typeface="DejaVu Sans"/>
              </a:rPr>
              <a:t>Functions</a:t>
            </a:r>
            <a:endParaRPr lang="en-US" sz="46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Freeform 56"/>
          <p:cNvSpPr/>
          <p:nvPr/>
        </p:nvSpPr>
        <p:spPr>
          <a:xfrm>
            <a:off x="16071840" y="9673920"/>
            <a:ext cx="2346120" cy="344160"/>
          </a:xfrm>
          <a:custGeom>
            <a:avLst/>
            <a:gdLst>
              <a:gd name="textAreaLeft" fmla="*/ 0 w 2346120"/>
              <a:gd name="textAreaRight" fmla="*/ 2347920 w 2346120"/>
              <a:gd name="textAreaTop" fmla="*/ 0 h 344160"/>
              <a:gd name="textAreaBottom" fmla="*/ 345960 h 344160"/>
            </a:gdLst>
            <a:ahLst/>
            <a:cxnLst/>
            <a:rect l="textAreaLeft" t="textAreaTop" r="textAreaRight" b="textAreaBottom"/>
            <a:pathLst>
              <a:path w="2293806" h="337815">
                <a:moveTo>
                  <a:pt x="0" y="0"/>
                </a:moveTo>
                <a:lnTo>
                  <a:pt x="2293806" y="0"/>
                </a:lnTo>
                <a:lnTo>
                  <a:pt x="2293806" y="337815"/>
                </a:lnTo>
                <a:lnTo>
                  <a:pt x="0" y="33781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4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5" name="TextBox 60"/>
          <p:cNvSpPr/>
          <p:nvPr/>
        </p:nvSpPr>
        <p:spPr>
          <a:xfrm>
            <a:off x="2971800" y="1649160"/>
            <a:ext cx="14171760" cy="496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457200" defTabSz="914400">
              <a:lnSpc>
                <a:spcPct val="200000"/>
              </a:lnSpc>
            </a:pPr>
            <a:r>
              <a:rPr lang="en-GB" sz="3600" b="1" u="none" strike="noStrike">
                <a:solidFill>
                  <a:schemeClr val="accent6"/>
                </a:solidFill>
                <a:effectLst/>
                <a:uFillTx/>
                <a:latin typeface="Calibri"/>
                <a:ea typeface="Noto Sans CJK SC"/>
              </a:rPr>
              <a:t>Functions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For every </a:t>
            </a:r>
            <a:r>
              <a:rPr lang="en-GB" sz="2400" b="0" u="none" strike="noStrike">
                <a:solidFill>
                  <a:srgbClr val="FF7B59"/>
                </a:solidFill>
                <a:effectLst/>
                <a:uFillTx/>
                <a:latin typeface="Calibri"/>
                <a:ea typeface="Noto Sans CJK SC"/>
              </a:rPr>
              <a:t>parameter</a:t>
            </a: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, name first, type second. </a:t>
            </a:r>
            <a:r>
              <a:rPr lang="en-GB" sz="2400" b="0" u="none" strike="noStrike">
                <a:solidFill>
                  <a:srgbClr val="FF7B59"/>
                </a:solidFill>
                <a:effectLst/>
                <a:uFillTx/>
                <a:latin typeface="Calibri"/>
                <a:ea typeface="Noto Sans CJK SC"/>
              </a:rPr>
              <a:t>Return</a:t>
            </a: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 a value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at the END of the function header.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  <a:spcBef>
                <a:spcPts val="1191"/>
              </a:spcBef>
              <a:spcAft>
                <a:spcPts val="992"/>
              </a:spcAf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6" name=""/>
          <p:cNvPicPr/>
          <p:nvPr/>
        </p:nvPicPr>
        <p:blipFill>
          <a:blip r:embed="rId5"/>
          <a:stretch/>
        </p:blipFill>
        <p:spPr>
          <a:xfrm>
            <a:off x="314640" y="4572000"/>
            <a:ext cx="1741320" cy="5446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7" name=""/>
          <p:cNvPicPr/>
          <p:nvPr/>
        </p:nvPicPr>
        <p:blipFill>
          <a:blip r:embed="rId6"/>
          <a:stretch/>
        </p:blipFill>
        <p:spPr>
          <a:xfrm>
            <a:off x="3429000" y="4572000"/>
            <a:ext cx="7730640" cy="2055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8" name=""/>
          <p:cNvPicPr/>
          <p:nvPr/>
        </p:nvPicPr>
        <p:blipFill>
          <a:blip r:embed="rId7"/>
          <a:stretch/>
        </p:blipFill>
        <p:spPr>
          <a:xfrm>
            <a:off x="13030200" y="3200400"/>
            <a:ext cx="3741480" cy="1432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9" name=""/>
          <p:cNvPicPr/>
          <p:nvPr/>
        </p:nvPicPr>
        <p:blipFill>
          <a:blip r:embed="rId8"/>
          <a:stretch/>
        </p:blipFill>
        <p:spPr>
          <a:xfrm>
            <a:off x="13030200" y="5029200"/>
            <a:ext cx="4474440" cy="4366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0" name=""/>
          <p:cNvSpPr/>
          <p:nvPr/>
        </p:nvSpPr>
        <p:spPr>
          <a:xfrm>
            <a:off x="16459200" y="3886200"/>
            <a:ext cx="685800" cy="1371600"/>
          </a:xfrm>
          <a:prstGeom prst="line">
            <a:avLst/>
          </a:prstGeom>
          <a:ln w="3672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8000" tIns="63000" rIns="108000" bIns="63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1" name=""/>
          <p:cNvPicPr/>
          <p:nvPr/>
        </p:nvPicPr>
        <p:blipFill>
          <a:blip r:embed="rId9"/>
          <a:stretch/>
        </p:blipFill>
        <p:spPr>
          <a:xfrm>
            <a:off x="3328920" y="7926480"/>
            <a:ext cx="8328240" cy="1444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2" name=""/>
          <p:cNvSpPr/>
          <p:nvPr/>
        </p:nvSpPr>
        <p:spPr>
          <a:xfrm flipH="1">
            <a:off x="10515600" y="4343400"/>
            <a:ext cx="2971800" cy="3886200"/>
          </a:xfrm>
          <a:prstGeom prst="line">
            <a:avLst/>
          </a:prstGeom>
          <a:ln w="3672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8000" tIns="63000" rIns="108000" bIns="63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slow">
    <p:push dir="u"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Freeform 57"/>
          <p:cNvSpPr/>
          <p:nvPr/>
        </p:nvSpPr>
        <p:spPr>
          <a:xfrm>
            <a:off x="1739880" y="498600"/>
            <a:ext cx="15485400" cy="1526760"/>
          </a:xfrm>
          <a:custGeom>
            <a:avLst/>
            <a:gdLst>
              <a:gd name="textAreaLeft" fmla="*/ 0 w 15485400"/>
              <a:gd name="textAreaRight" fmla="*/ 15487200 w 15485400"/>
              <a:gd name="textAreaTop" fmla="*/ 0 h 1526760"/>
              <a:gd name="textAreaBottom" fmla="*/ 1528560 h 1526760"/>
            </a:gdLst>
            <a:ahLst/>
            <a:cxnLst/>
            <a:rect l="textAreaLeft" t="textAreaTop" r="textAreaRight" b="textAreaBottom"/>
            <a:pathLst>
              <a:path w="15129861" h="1493264">
                <a:moveTo>
                  <a:pt x="0" y="0"/>
                </a:moveTo>
                <a:lnTo>
                  <a:pt x="15129861" y="0"/>
                </a:lnTo>
                <a:lnTo>
                  <a:pt x="15129861" y="1493264"/>
                </a:lnTo>
                <a:lnTo>
                  <a:pt x="0" y="149326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endParaRPr lang="en-US" sz="4610" b="0" u="none" strike="noStrike">
              <a:solidFill>
                <a:schemeClr val="lt1"/>
              </a:solidFill>
              <a:effectLst/>
              <a:uFillTx/>
              <a:latin typeface="Poppins Semi-Bold"/>
            </a:endParaRPr>
          </a:p>
        </p:txBody>
      </p:sp>
      <p:sp>
        <p:nvSpPr>
          <p:cNvPr id="214" name="TextBox 61"/>
          <p:cNvSpPr/>
          <p:nvPr/>
        </p:nvSpPr>
        <p:spPr>
          <a:xfrm>
            <a:off x="3197880" y="613080"/>
            <a:ext cx="12758760" cy="62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36000">
              <a:lnSpc>
                <a:spcPts val="4912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4610" b="0" u="none" strike="noStrike">
                <a:solidFill>
                  <a:schemeClr val="lt1"/>
                </a:solidFill>
                <a:effectLst/>
                <a:uFillTx/>
                <a:latin typeface="Poppins Semi-Bold"/>
                <a:ea typeface="DejaVu Sans"/>
              </a:rPr>
              <a:t>Functions</a:t>
            </a:r>
            <a:endParaRPr lang="en-US" sz="46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Freeform 58"/>
          <p:cNvSpPr/>
          <p:nvPr/>
        </p:nvSpPr>
        <p:spPr>
          <a:xfrm>
            <a:off x="16071840" y="9673920"/>
            <a:ext cx="2346120" cy="344160"/>
          </a:xfrm>
          <a:custGeom>
            <a:avLst/>
            <a:gdLst>
              <a:gd name="textAreaLeft" fmla="*/ 0 w 2346120"/>
              <a:gd name="textAreaRight" fmla="*/ 2347920 w 2346120"/>
              <a:gd name="textAreaTop" fmla="*/ 0 h 344160"/>
              <a:gd name="textAreaBottom" fmla="*/ 345960 h 344160"/>
            </a:gdLst>
            <a:ahLst/>
            <a:cxnLst/>
            <a:rect l="textAreaLeft" t="textAreaTop" r="textAreaRight" b="textAreaBottom"/>
            <a:pathLst>
              <a:path w="2293806" h="337815">
                <a:moveTo>
                  <a:pt x="0" y="0"/>
                </a:moveTo>
                <a:lnTo>
                  <a:pt x="2293806" y="0"/>
                </a:lnTo>
                <a:lnTo>
                  <a:pt x="2293806" y="337815"/>
                </a:lnTo>
                <a:lnTo>
                  <a:pt x="0" y="33781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4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6" name="TextBox 62"/>
          <p:cNvSpPr/>
          <p:nvPr/>
        </p:nvSpPr>
        <p:spPr>
          <a:xfrm>
            <a:off x="2971800" y="1649160"/>
            <a:ext cx="14171760" cy="439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457200" defTabSz="914400">
              <a:lnSpc>
                <a:spcPct val="200000"/>
              </a:lnSpc>
            </a:pPr>
            <a:r>
              <a:rPr lang="en-GB" sz="3600" b="1" u="none" strike="noStrike">
                <a:solidFill>
                  <a:schemeClr val="accent6"/>
                </a:solidFill>
                <a:effectLst/>
                <a:uFillTx/>
                <a:latin typeface="Calibri"/>
                <a:ea typeface="Noto Sans CJK SC"/>
              </a:rPr>
              <a:t>Multiple returns &amp; Named returns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It’s also possible to return more than one value, and even do returns based on name.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  <a:spcBef>
                <a:spcPts val="1191"/>
              </a:spcBef>
              <a:spcAft>
                <a:spcPts val="992"/>
              </a:spcAf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7" name=""/>
          <p:cNvPicPr/>
          <p:nvPr/>
        </p:nvPicPr>
        <p:blipFill>
          <a:blip r:embed="rId5"/>
          <a:stretch/>
        </p:blipFill>
        <p:spPr>
          <a:xfrm>
            <a:off x="314640" y="4572000"/>
            <a:ext cx="1741320" cy="5446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8" name=""/>
          <p:cNvPicPr/>
          <p:nvPr/>
        </p:nvPicPr>
        <p:blipFill>
          <a:blip r:embed="rId6"/>
          <a:stretch/>
        </p:blipFill>
        <p:spPr>
          <a:xfrm>
            <a:off x="3525480" y="3657600"/>
            <a:ext cx="5210640" cy="5484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9" name=""/>
          <p:cNvPicPr/>
          <p:nvPr/>
        </p:nvPicPr>
        <p:blipFill>
          <a:blip r:embed="rId7"/>
          <a:stretch/>
        </p:blipFill>
        <p:spPr>
          <a:xfrm>
            <a:off x="9507240" y="3657600"/>
            <a:ext cx="5816160" cy="5484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0" name=""/>
          <p:cNvPicPr/>
          <p:nvPr/>
        </p:nvPicPr>
        <p:blipFill>
          <a:blip r:embed="rId8"/>
          <a:stretch/>
        </p:blipFill>
        <p:spPr>
          <a:xfrm>
            <a:off x="6530040" y="9372600"/>
            <a:ext cx="6498720" cy="693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1" name=""/>
          <p:cNvSpPr/>
          <p:nvPr/>
        </p:nvSpPr>
        <p:spPr>
          <a:xfrm>
            <a:off x="5715000" y="8915400"/>
            <a:ext cx="815040" cy="457200"/>
          </a:xfrm>
          <a:prstGeom prst="line">
            <a:avLst/>
          </a:prstGeom>
          <a:ln w="3672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8000" tIns="63000" rIns="108000" bIns="63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"/>
          <p:cNvSpPr/>
          <p:nvPr/>
        </p:nvSpPr>
        <p:spPr>
          <a:xfrm flipH="1">
            <a:off x="11887200" y="8915400"/>
            <a:ext cx="685800" cy="457200"/>
          </a:xfrm>
          <a:prstGeom prst="line">
            <a:avLst/>
          </a:prstGeom>
          <a:ln w="3672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8000" tIns="63000" rIns="108000" bIns="63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slow">
    <p:push dir="u"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Freeform 59"/>
          <p:cNvSpPr/>
          <p:nvPr/>
        </p:nvSpPr>
        <p:spPr>
          <a:xfrm>
            <a:off x="1739880" y="498600"/>
            <a:ext cx="15485400" cy="1526760"/>
          </a:xfrm>
          <a:custGeom>
            <a:avLst/>
            <a:gdLst>
              <a:gd name="textAreaLeft" fmla="*/ 0 w 15485400"/>
              <a:gd name="textAreaRight" fmla="*/ 15487200 w 15485400"/>
              <a:gd name="textAreaTop" fmla="*/ 0 h 1526760"/>
              <a:gd name="textAreaBottom" fmla="*/ 1528560 h 1526760"/>
            </a:gdLst>
            <a:ahLst/>
            <a:cxnLst/>
            <a:rect l="textAreaLeft" t="textAreaTop" r="textAreaRight" b="textAreaBottom"/>
            <a:pathLst>
              <a:path w="15129861" h="1493264">
                <a:moveTo>
                  <a:pt x="0" y="0"/>
                </a:moveTo>
                <a:lnTo>
                  <a:pt x="15129861" y="0"/>
                </a:lnTo>
                <a:lnTo>
                  <a:pt x="15129861" y="1493264"/>
                </a:lnTo>
                <a:lnTo>
                  <a:pt x="0" y="149326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endParaRPr lang="en-US" sz="4610" b="0" u="none" strike="noStrike">
              <a:solidFill>
                <a:schemeClr val="lt1"/>
              </a:solidFill>
              <a:effectLst/>
              <a:uFillTx/>
              <a:latin typeface="Poppins Semi-Bold"/>
            </a:endParaRPr>
          </a:p>
        </p:txBody>
      </p:sp>
      <p:sp>
        <p:nvSpPr>
          <p:cNvPr id="224" name="TextBox 63"/>
          <p:cNvSpPr/>
          <p:nvPr/>
        </p:nvSpPr>
        <p:spPr>
          <a:xfrm>
            <a:off x="3197880" y="613080"/>
            <a:ext cx="12758760" cy="62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36000">
              <a:lnSpc>
                <a:spcPts val="4912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4610" b="0" u="none" strike="noStrike">
                <a:solidFill>
                  <a:schemeClr val="lt1"/>
                </a:solidFill>
                <a:effectLst/>
                <a:uFillTx/>
                <a:latin typeface="Poppins Semi-Bold"/>
                <a:ea typeface="DejaVu Sans"/>
              </a:rPr>
              <a:t>Functions</a:t>
            </a:r>
            <a:endParaRPr lang="en-US" sz="46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Freeform 60"/>
          <p:cNvSpPr/>
          <p:nvPr/>
        </p:nvSpPr>
        <p:spPr>
          <a:xfrm>
            <a:off x="16071840" y="9673920"/>
            <a:ext cx="2346120" cy="344160"/>
          </a:xfrm>
          <a:custGeom>
            <a:avLst/>
            <a:gdLst>
              <a:gd name="textAreaLeft" fmla="*/ 0 w 2346120"/>
              <a:gd name="textAreaRight" fmla="*/ 2347920 w 2346120"/>
              <a:gd name="textAreaTop" fmla="*/ 0 h 344160"/>
              <a:gd name="textAreaBottom" fmla="*/ 345960 h 344160"/>
            </a:gdLst>
            <a:ahLst/>
            <a:cxnLst/>
            <a:rect l="textAreaLeft" t="textAreaTop" r="textAreaRight" b="textAreaBottom"/>
            <a:pathLst>
              <a:path w="2293806" h="337815">
                <a:moveTo>
                  <a:pt x="0" y="0"/>
                </a:moveTo>
                <a:lnTo>
                  <a:pt x="2293806" y="0"/>
                </a:lnTo>
                <a:lnTo>
                  <a:pt x="2293806" y="337815"/>
                </a:lnTo>
                <a:lnTo>
                  <a:pt x="0" y="33781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4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6" name="TextBox 64"/>
          <p:cNvSpPr/>
          <p:nvPr/>
        </p:nvSpPr>
        <p:spPr>
          <a:xfrm>
            <a:off x="2971800" y="1649160"/>
            <a:ext cx="14171760" cy="439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457200" defTabSz="914400">
              <a:lnSpc>
                <a:spcPct val="200000"/>
              </a:lnSpc>
            </a:pPr>
            <a:r>
              <a:rPr lang="en-GB" sz="3600" b="1" u="none" strike="noStrike">
                <a:solidFill>
                  <a:schemeClr val="accent6"/>
                </a:solidFill>
                <a:effectLst/>
                <a:uFillTx/>
                <a:latin typeface="Calibri"/>
                <a:ea typeface="Noto Sans CJK SC"/>
              </a:rPr>
              <a:t>Variadic Functions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If you need to supply dynamic  range of arguments for a function, you can use variadic functions.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  <a:spcBef>
                <a:spcPts val="1191"/>
              </a:spcBef>
              <a:spcAft>
                <a:spcPts val="992"/>
              </a:spcAf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7" name=""/>
          <p:cNvPicPr/>
          <p:nvPr/>
        </p:nvPicPr>
        <p:blipFill>
          <a:blip r:embed="rId5"/>
          <a:stretch/>
        </p:blipFill>
        <p:spPr>
          <a:xfrm>
            <a:off x="314640" y="4572000"/>
            <a:ext cx="1741320" cy="5446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8" name=""/>
          <p:cNvPicPr/>
          <p:nvPr/>
        </p:nvPicPr>
        <p:blipFill>
          <a:blip r:embed="rId6"/>
          <a:stretch/>
        </p:blipFill>
        <p:spPr>
          <a:xfrm>
            <a:off x="3429000" y="3657600"/>
            <a:ext cx="9064800" cy="2900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9" name=""/>
          <p:cNvPicPr/>
          <p:nvPr/>
        </p:nvPicPr>
        <p:blipFill>
          <a:blip r:embed="rId7"/>
          <a:stretch/>
        </p:blipFill>
        <p:spPr>
          <a:xfrm>
            <a:off x="6437880" y="7311240"/>
            <a:ext cx="8191080" cy="1175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0" name=""/>
          <p:cNvSpPr/>
          <p:nvPr/>
        </p:nvSpPr>
        <p:spPr>
          <a:xfrm>
            <a:off x="9829800" y="6331320"/>
            <a:ext cx="1143000" cy="1143000"/>
          </a:xfrm>
          <a:prstGeom prst="line">
            <a:avLst/>
          </a:prstGeom>
          <a:ln w="3672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8000" tIns="63000" rIns="108000" bIns="63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slow">
    <p:push dir="u"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Freeform 61"/>
          <p:cNvSpPr/>
          <p:nvPr/>
        </p:nvSpPr>
        <p:spPr>
          <a:xfrm>
            <a:off x="1739880" y="498600"/>
            <a:ext cx="15485400" cy="1526760"/>
          </a:xfrm>
          <a:custGeom>
            <a:avLst/>
            <a:gdLst>
              <a:gd name="textAreaLeft" fmla="*/ 0 w 15485400"/>
              <a:gd name="textAreaRight" fmla="*/ 15487200 w 15485400"/>
              <a:gd name="textAreaTop" fmla="*/ 0 h 1526760"/>
              <a:gd name="textAreaBottom" fmla="*/ 1528560 h 1526760"/>
            </a:gdLst>
            <a:ahLst/>
            <a:cxnLst/>
            <a:rect l="textAreaLeft" t="textAreaTop" r="textAreaRight" b="textAreaBottom"/>
            <a:pathLst>
              <a:path w="15129861" h="1493264">
                <a:moveTo>
                  <a:pt x="0" y="0"/>
                </a:moveTo>
                <a:lnTo>
                  <a:pt x="15129861" y="0"/>
                </a:lnTo>
                <a:lnTo>
                  <a:pt x="15129861" y="1493264"/>
                </a:lnTo>
                <a:lnTo>
                  <a:pt x="0" y="149326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endParaRPr lang="en-US" sz="4610" b="0" u="none" strike="noStrike">
              <a:solidFill>
                <a:schemeClr val="lt1"/>
              </a:solidFill>
              <a:effectLst/>
              <a:uFillTx/>
              <a:latin typeface="Poppins Semi-Bold"/>
            </a:endParaRPr>
          </a:p>
        </p:txBody>
      </p:sp>
      <p:sp>
        <p:nvSpPr>
          <p:cNvPr id="232" name="TextBox 65"/>
          <p:cNvSpPr/>
          <p:nvPr/>
        </p:nvSpPr>
        <p:spPr>
          <a:xfrm>
            <a:off x="3197880" y="613080"/>
            <a:ext cx="12758760" cy="62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36000">
              <a:lnSpc>
                <a:spcPts val="4912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4610" b="0" u="none" strike="noStrike">
                <a:solidFill>
                  <a:schemeClr val="lt1"/>
                </a:solidFill>
                <a:effectLst/>
                <a:uFillTx/>
                <a:latin typeface="Poppins Semi-Bold"/>
                <a:ea typeface="DejaVu Sans"/>
              </a:rPr>
              <a:t>Functions</a:t>
            </a:r>
            <a:endParaRPr lang="en-US" sz="46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Freeform 62"/>
          <p:cNvSpPr/>
          <p:nvPr/>
        </p:nvSpPr>
        <p:spPr>
          <a:xfrm>
            <a:off x="16071840" y="9673920"/>
            <a:ext cx="2346120" cy="344160"/>
          </a:xfrm>
          <a:custGeom>
            <a:avLst/>
            <a:gdLst>
              <a:gd name="textAreaLeft" fmla="*/ 0 w 2346120"/>
              <a:gd name="textAreaRight" fmla="*/ 2347920 w 2346120"/>
              <a:gd name="textAreaTop" fmla="*/ 0 h 344160"/>
              <a:gd name="textAreaBottom" fmla="*/ 345960 h 344160"/>
            </a:gdLst>
            <a:ahLst/>
            <a:cxnLst/>
            <a:rect l="textAreaLeft" t="textAreaTop" r="textAreaRight" b="textAreaBottom"/>
            <a:pathLst>
              <a:path w="2293806" h="337815">
                <a:moveTo>
                  <a:pt x="0" y="0"/>
                </a:moveTo>
                <a:lnTo>
                  <a:pt x="2293806" y="0"/>
                </a:lnTo>
                <a:lnTo>
                  <a:pt x="2293806" y="337815"/>
                </a:lnTo>
                <a:lnTo>
                  <a:pt x="0" y="33781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4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4" name="TextBox 66"/>
          <p:cNvSpPr/>
          <p:nvPr/>
        </p:nvSpPr>
        <p:spPr>
          <a:xfrm>
            <a:off x="2971800" y="1649160"/>
            <a:ext cx="14171760" cy="439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457200" defTabSz="914400">
              <a:lnSpc>
                <a:spcPct val="200000"/>
              </a:lnSpc>
            </a:pPr>
            <a:r>
              <a:rPr lang="en-GB" sz="3600" b="1" u="none" strike="noStrike">
                <a:solidFill>
                  <a:schemeClr val="accent6"/>
                </a:solidFill>
                <a:effectLst/>
                <a:uFillTx/>
                <a:latin typeface="Calibri"/>
                <a:ea typeface="Noto Sans CJK SC"/>
              </a:rPr>
              <a:t>Anonymous functions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Anonymous functions can be called in line, used as callbacks, etc.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  <a:spcBef>
                <a:spcPts val="1191"/>
              </a:spcBef>
              <a:spcAft>
                <a:spcPts val="992"/>
              </a:spcAf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5" name=""/>
          <p:cNvPicPr/>
          <p:nvPr/>
        </p:nvPicPr>
        <p:blipFill>
          <a:blip r:embed="rId5"/>
          <a:stretch/>
        </p:blipFill>
        <p:spPr>
          <a:xfrm>
            <a:off x="314640" y="4572000"/>
            <a:ext cx="1741320" cy="5446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6" name=""/>
          <p:cNvPicPr/>
          <p:nvPr/>
        </p:nvPicPr>
        <p:blipFill>
          <a:blip r:embed="rId6"/>
          <a:stretch/>
        </p:blipFill>
        <p:spPr>
          <a:xfrm>
            <a:off x="3657600" y="3846960"/>
            <a:ext cx="5169600" cy="2781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7" name=""/>
          <p:cNvPicPr/>
          <p:nvPr/>
        </p:nvPicPr>
        <p:blipFill>
          <a:blip r:embed="rId7"/>
          <a:stretch/>
        </p:blipFill>
        <p:spPr>
          <a:xfrm>
            <a:off x="9372600" y="3886560"/>
            <a:ext cx="5963400" cy="159876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push dir="u"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505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TextBox 20"/>
          <p:cNvSpPr/>
          <p:nvPr/>
        </p:nvSpPr>
        <p:spPr>
          <a:xfrm>
            <a:off x="1130040" y="3277080"/>
            <a:ext cx="16013520" cy="100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7883"/>
              </a:lnSpc>
            </a:pPr>
            <a:r>
              <a:rPr lang="en-GB" sz="5630" b="0" u="none" strike="noStrike">
                <a:solidFill>
                  <a:schemeClr val="accent6"/>
                </a:solidFill>
                <a:effectLst/>
                <a:uFillTx/>
                <a:latin typeface="Poppins Semi-Bold"/>
                <a:ea typeface="DejaVu Sans"/>
              </a:rPr>
              <a:t>0x03 - Files &amp; Error handling</a:t>
            </a:r>
            <a:endParaRPr lang="en-US" sz="56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39" name="Group 7"/>
          <p:cNvGrpSpPr/>
          <p:nvPr/>
        </p:nvGrpSpPr>
        <p:grpSpPr>
          <a:xfrm>
            <a:off x="11482200" y="1690920"/>
            <a:ext cx="5847120" cy="6106680"/>
            <a:chOff x="11482200" y="1690920"/>
            <a:chExt cx="5847120" cy="6106680"/>
          </a:xfrm>
        </p:grpSpPr>
        <p:sp>
          <p:nvSpPr>
            <p:cNvPr id="240" name="Freeform 21"/>
            <p:cNvSpPr/>
            <p:nvPr/>
          </p:nvSpPr>
          <p:spPr>
            <a:xfrm>
              <a:off x="11482200" y="1690920"/>
              <a:ext cx="5847120" cy="6106680"/>
            </a:xfrm>
            <a:custGeom>
              <a:avLst/>
              <a:gdLst>
                <a:gd name="textAreaLeft" fmla="*/ 0 w 5847120"/>
                <a:gd name="textAreaRight" fmla="*/ 5848920 w 5847120"/>
                <a:gd name="textAreaTop" fmla="*/ 0 h 6106680"/>
                <a:gd name="textAreaBottom" fmla="*/ 6108480 h 6106680"/>
              </a:gdLst>
              <a:ahLst/>
              <a:cxnLst/>
              <a:rect l="textAreaLeft" t="textAreaTop" r="textAreaRight" b="textAreaBottom"/>
              <a:pathLst>
                <a:path w="7618603" h="7956550">
                  <a:moveTo>
                    <a:pt x="0" y="0"/>
                  </a:moveTo>
                  <a:lnTo>
                    <a:pt x="7618603" y="0"/>
                  </a:lnTo>
                  <a:lnTo>
                    <a:pt x="7618603" y="7956550"/>
                  </a:lnTo>
                  <a:lnTo>
                    <a:pt x="0" y="79565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4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241" name="Freeform 22"/>
          <p:cNvSpPr/>
          <p:nvPr/>
        </p:nvSpPr>
        <p:spPr>
          <a:xfrm>
            <a:off x="1053000" y="931680"/>
            <a:ext cx="4097160" cy="601920"/>
          </a:xfrm>
          <a:custGeom>
            <a:avLst/>
            <a:gdLst>
              <a:gd name="textAreaLeft" fmla="*/ 0 w 4097160"/>
              <a:gd name="textAreaRight" fmla="*/ 4098960 w 4097160"/>
              <a:gd name="textAreaTop" fmla="*/ 0 h 601920"/>
              <a:gd name="textAreaBottom" fmla="*/ 603720 h 601920"/>
            </a:gdLst>
            <a:ahLst/>
            <a:cxnLst/>
            <a:rect l="textAreaLeft" t="textAreaTop" r="textAreaRight" b="textAreaBottom"/>
            <a:pathLst>
              <a:path w="4004526" h="589757">
                <a:moveTo>
                  <a:pt x="0" y="0"/>
                </a:moveTo>
                <a:lnTo>
                  <a:pt x="4004526" y="0"/>
                </a:lnTo>
                <a:lnTo>
                  <a:pt x="4004526" y="589757"/>
                </a:lnTo>
                <a:lnTo>
                  <a:pt x="0" y="58975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4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2" name="TextBox 21"/>
          <p:cNvSpPr/>
          <p:nvPr/>
        </p:nvSpPr>
        <p:spPr>
          <a:xfrm>
            <a:off x="914400" y="4390920"/>
            <a:ext cx="1097100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Go handles some things differently, so let’s discuss them while learning how to read files so and get accustomed to error handling.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00280" lvl="1" indent="-343080" defTabSz="91440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The “Go way” of error handling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00280" lvl="1" indent="-343080" defTabSz="91440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Opening files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00280" lvl="1" indent="-343080" defTabSz="91440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Reading and Writing to files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Freeform 67"/>
          <p:cNvSpPr/>
          <p:nvPr/>
        </p:nvSpPr>
        <p:spPr>
          <a:xfrm>
            <a:off x="1739880" y="498600"/>
            <a:ext cx="15485400" cy="1526760"/>
          </a:xfrm>
          <a:custGeom>
            <a:avLst/>
            <a:gdLst>
              <a:gd name="textAreaLeft" fmla="*/ 0 w 15485400"/>
              <a:gd name="textAreaRight" fmla="*/ 15487200 w 15485400"/>
              <a:gd name="textAreaTop" fmla="*/ 0 h 1526760"/>
              <a:gd name="textAreaBottom" fmla="*/ 1528560 h 1526760"/>
            </a:gdLst>
            <a:ahLst/>
            <a:cxnLst/>
            <a:rect l="textAreaLeft" t="textAreaTop" r="textAreaRight" b="textAreaBottom"/>
            <a:pathLst>
              <a:path w="15129861" h="1493264">
                <a:moveTo>
                  <a:pt x="0" y="0"/>
                </a:moveTo>
                <a:lnTo>
                  <a:pt x="15129861" y="0"/>
                </a:lnTo>
                <a:lnTo>
                  <a:pt x="15129861" y="1493264"/>
                </a:lnTo>
                <a:lnTo>
                  <a:pt x="0" y="149326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endParaRPr lang="en-US" sz="4610" b="0" u="none" strike="noStrike">
              <a:solidFill>
                <a:schemeClr val="lt1"/>
              </a:solidFill>
              <a:effectLst/>
              <a:uFillTx/>
              <a:latin typeface="Poppins Semi-Bold"/>
            </a:endParaRPr>
          </a:p>
        </p:txBody>
      </p:sp>
      <p:sp>
        <p:nvSpPr>
          <p:cNvPr id="244" name="TextBox 71"/>
          <p:cNvSpPr/>
          <p:nvPr/>
        </p:nvSpPr>
        <p:spPr>
          <a:xfrm>
            <a:off x="3197880" y="613080"/>
            <a:ext cx="12758760" cy="62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36000">
              <a:lnSpc>
                <a:spcPts val="4912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4610" b="0" u="none" strike="noStrike">
                <a:solidFill>
                  <a:schemeClr val="lt1"/>
                </a:solidFill>
                <a:effectLst/>
                <a:uFillTx/>
                <a:latin typeface="Poppins Semi-Bold"/>
                <a:ea typeface="DejaVu Sans"/>
              </a:rPr>
              <a:t>The “Go way” of error handling</a:t>
            </a:r>
            <a:endParaRPr lang="en-US" sz="46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Freeform 68"/>
          <p:cNvSpPr/>
          <p:nvPr/>
        </p:nvSpPr>
        <p:spPr>
          <a:xfrm>
            <a:off x="16071840" y="9673920"/>
            <a:ext cx="2346120" cy="344160"/>
          </a:xfrm>
          <a:custGeom>
            <a:avLst/>
            <a:gdLst>
              <a:gd name="textAreaLeft" fmla="*/ 0 w 2346120"/>
              <a:gd name="textAreaRight" fmla="*/ 2347920 w 2346120"/>
              <a:gd name="textAreaTop" fmla="*/ 0 h 344160"/>
              <a:gd name="textAreaBottom" fmla="*/ 345960 h 344160"/>
            </a:gdLst>
            <a:ahLst/>
            <a:cxnLst/>
            <a:rect l="textAreaLeft" t="textAreaTop" r="textAreaRight" b="textAreaBottom"/>
            <a:pathLst>
              <a:path w="2293806" h="337815">
                <a:moveTo>
                  <a:pt x="0" y="0"/>
                </a:moveTo>
                <a:lnTo>
                  <a:pt x="2293806" y="0"/>
                </a:lnTo>
                <a:lnTo>
                  <a:pt x="2293806" y="337815"/>
                </a:lnTo>
                <a:lnTo>
                  <a:pt x="0" y="33781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4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6" name="TextBox 72"/>
          <p:cNvSpPr/>
          <p:nvPr/>
        </p:nvSpPr>
        <p:spPr>
          <a:xfrm>
            <a:off x="2971800" y="1649160"/>
            <a:ext cx="10743120" cy="439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457200" defTabSz="914400">
              <a:lnSpc>
                <a:spcPct val="200000"/>
              </a:lnSpc>
            </a:pPr>
            <a:r>
              <a:rPr lang="en-GB" sz="3600" b="1" u="none" strike="noStrike">
                <a:solidFill>
                  <a:schemeClr val="accent6"/>
                </a:solidFill>
                <a:effectLst/>
                <a:uFillTx/>
                <a:latin typeface="Calibri"/>
                <a:ea typeface="Noto Sans CJK SC"/>
              </a:rPr>
              <a:t>Idiomatic Errors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Observe the idiomatic way of error handling, functions will often return an error.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  <a:spcBef>
                <a:spcPts val="1191"/>
              </a:spcBef>
              <a:spcAft>
                <a:spcPts val="992"/>
              </a:spcAf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7" name=""/>
          <p:cNvPicPr/>
          <p:nvPr/>
        </p:nvPicPr>
        <p:blipFill>
          <a:blip r:embed="rId5"/>
          <a:stretch/>
        </p:blipFill>
        <p:spPr>
          <a:xfrm>
            <a:off x="314640" y="4572000"/>
            <a:ext cx="1741320" cy="5446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8" name=""/>
          <p:cNvPicPr/>
          <p:nvPr/>
        </p:nvPicPr>
        <p:blipFill>
          <a:blip r:embed="rId6"/>
          <a:stretch/>
        </p:blipFill>
        <p:spPr>
          <a:xfrm>
            <a:off x="5029200" y="6744600"/>
            <a:ext cx="12218040" cy="2626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9" name=""/>
          <p:cNvPicPr/>
          <p:nvPr/>
        </p:nvPicPr>
        <p:blipFill>
          <a:blip r:embed="rId7"/>
          <a:stretch/>
        </p:blipFill>
        <p:spPr>
          <a:xfrm>
            <a:off x="3528000" y="3638880"/>
            <a:ext cx="5843160" cy="253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0" name=""/>
          <p:cNvSpPr/>
          <p:nvPr/>
        </p:nvSpPr>
        <p:spPr>
          <a:xfrm>
            <a:off x="8686800" y="5943600"/>
            <a:ext cx="685800" cy="914400"/>
          </a:xfrm>
          <a:prstGeom prst="line">
            <a:avLst/>
          </a:prstGeom>
          <a:ln w="3672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8000" tIns="63000" rIns="108000" bIns="63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slow">
    <p:push dir="u"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Freeform 69"/>
          <p:cNvSpPr/>
          <p:nvPr/>
        </p:nvSpPr>
        <p:spPr>
          <a:xfrm>
            <a:off x="1739880" y="498600"/>
            <a:ext cx="15485400" cy="1526760"/>
          </a:xfrm>
          <a:custGeom>
            <a:avLst/>
            <a:gdLst>
              <a:gd name="textAreaLeft" fmla="*/ 0 w 15485400"/>
              <a:gd name="textAreaRight" fmla="*/ 15487200 w 15485400"/>
              <a:gd name="textAreaTop" fmla="*/ 0 h 1526760"/>
              <a:gd name="textAreaBottom" fmla="*/ 1528560 h 1526760"/>
            </a:gdLst>
            <a:ahLst/>
            <a:cxnLst/>
            <a:rect l="textAreaLeft" t="textAreaTop" r="textAreaRight" b="textAreaBottom"/>
            <a:pathLst>
              <a:path w="15129861" h="1493264">
                <a:moveTo>
                  <a:pt x="0" y="0"/>
                </a:moveTo>
                <a:lnTo>
                  <a:pt x="15129861" y="0"/>
                </a:lnTo>
                <a:lnTo>
                  <a:pt x="15129861" y="1493264"/>
                </a:lnTo>
                <a:lnTo>
                  <a:pt x="0" y="149326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endParaRPr lang="en-US" sz="4610" b="0" u="none" strike="noStrike">
              <a:solidFill>
                <a:schemeClr val="lt1"/>
              </a:solidFill>
              <a:effectLst/>
              <a:uFillTx/>
              <a:latin typeface="Poppins Semi-Bold"/>
            </a:endParaRPr>
          </a:p>
        </p:txBody>
      </p:sp>
      <p:sp>
        <p:nvSpPr>
          <p:cNvPr id="252" name="TextBox 73"/>
          <p:cNvSpPr/>
          <p:nvPr/>
        </p:nvSpPr>
        <p:spPr>
          <a:xfrm>
            <a:off x="3197880" y="613080"/>
            <a:ext cx="12758760" cy="62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36000">
              <a:lnSpc>
                <a:spcPts val="4912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4610" b="0" u="none" strike="noStrike">
                <a:solidFill>
                  <a:schemeClr val="lt1"/>
                </a:solidFill>
                <a:effectLst/>
                <a:uFillTx/>
                <a:latin typeface="Poppins Semi-Bold"/>
                <a:ea typeface="DejaVu Sans"/>
              </a:rPr>
              <a:t>The “Go way” of error handling</a:t>
            </a:r>
            <a:endParaRPr lang="en-US" sz="46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Freeform 70"/>
          <p:cNvSpPr/>
          <p:nvPr/>
        </p:nvSpPr>
        <p:spPr>
          <a:xfrm>
            <a:off x="16071840" y="9673920"/>
            <a:ext cx="2346120" cy="344160"/>
          </a:xfrm>
          <a:custGeom>
            <a:avLst/>
            <a:gdLst>
              <a:gd name="textAreaLeft" fmla="*/ 0 w 2346120"/>
              <a:gd name="textAreaRight" fmla="*/ 2347920 w 2346120"/>
              <a:gd name="textAreaTop" fmla="*/ 0 h 344160"/>
              <a:gd name="textAreaBottom" fmla="*/ 345960 h 344160"/>
            </a:gdLst>
            <a:ahLst/>
            <a:cxnLst/>
            <a:rect l="textAreaLeft" t="textAreaTop" r="textAreaRight" b="textAreaBottom"/>
            <a:pathLst>
              <a:path w="2293806" h="337815">
                <a:moveTo>
                  <a:pt x="0" y="0"/>
                </a:moveTo>
                <a:lnTo>
                  <a:pt x="2293806" y="0"/>
                </a:lnTo>
                <a:lnTo>
                  <a:pt x="2293806" y="337815"/>
                </a:lnTo>
                <a:lnTo>
                  <a:pt x="0" y="33781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4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4" name="TextBox 74"/>
          <p:cNvSpPr/>
          <p:nvPr/>
        </p:nvSpPr>
        <p:spPr>
          <a:xfrm>
            <a:off x="2971800" y="1649160"/>
            <a:ext cx="11657520" cy="438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457200" defTabSz="914400">
              <a:lnSpc>
                <a:spcPct val="200000"/>
              </a:lnSpc>
            </a:pPr>
            <a:r>
              <a:rPr lang="en-GB" sz="3600" b="1" u="none" strike="noStrike">
                <a:solidFill>
                  <a:schemeClr val="accent6"/>
                </a:solidFill>
                <a:effectLst/>
                <a:uFillTx/>
                <a:latin typeface="Calibri"/>
                <a:ea typeface="Noto Sans CJK SC"/>
              </a:rPr>
              <a:t>Custom errors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Custom errors can be made, you choose the level of granularity.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  <a:spcBef>
                <a:spcPts val="1191"/>
              </a:spcBef>
              <a:spcAft>
                <a:spcPts val="992"/>
              </a:spcAf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5" name=""/>
          <p:cNvPicPr/>
          <p:nvPr/>
        </p:nvPicPr>
        <p:blipFill>
          <a:blip r:embed="rId5"/>
          <a:stretch/>
        </p:blipFill>
        <p:spPr>
          <a:xfrm>
            <a:off x="314640" y="4572000"/>
            <a:ext cx="1741320" cy="5446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6" name=""/>
          <p:cNvPicPr/>
          <p:nvPr/>
        </p:nvPicPr>
        <p:blipFill>
          <a:blip r:embed="rId6"/>
          <a:stretch/>
        </p:blipFill>
        <p:spPr>
          <a:xfrm>
            <a:off x="10627920" y="3728880"/>
            <a:ext cx="6287040" cy="5413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7" name=""/>
          <p:cNvPicPr/>
          <p:nvPr/>
        </p:nvPicPr>
        <p:blipFill>
          <a:blip r:embed="rId7"/>
          <a:stretch/>
        </p:blipFill>
        <p:spPr>
          <a:xfrm>
            <a:off x="3429000" y="3744360"/>
            <a:ext cx="6627960" cy="461808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push dir="u"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Freeform 63"/>
          <p:cNvSpPr/>
          <p:nvPr/>
        </p:nvSpPr>
        <p:spPr>
          <a:xfrm>
            <a:off x="1739880" y="498600"/>
            <a:ext cx="15485400" cy="1526760"/>
          </a:xfrm>
          <a:custGeom>
            <a:avLst/>
            <a:gdLst>
              <a:gd name="textAreaLeft" fmla="*/ 0 w 15485400"/>
              <a:gd name="textAreaRight" fmla="*/ 15487200 w 15485400"/>
              <a:gd name="textAreaTop" fmla="*/ 0 h 1526760"/>
              <a:gd name="textAreaBottom" fmla="*/ 1528560 h 1526760"/>
            </a:gdLst>
            <a:ahLst/>
            <a:cxnLst/>
            <a:rect l="textAreaLeft" t="textAreaTop" r="textAreaRight" b="textAreaBottom"/>
            <a:pathLst>
              <a:path w="15129861" h="1493264">
                <a:moveTo>
                  <a:pt x="0" y="0"/>
                </a:moveTo>
                <a:lnTo>
                  <a:pt x="15129861" y="0"/>
                </a:lnTo>
                <a:lnTo>
                  <a:pt x="15129861" y="1493264"/>
                </a:lnTo>
                <a:lnTo>
                  <a:pt x="0" y="149326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endParaRPr lang="en-US" sz="4610" b="0" u="none" strike="noStrike">
              <a:solidFill>
                <a:schemeClr val="lt1"/>
              </a:solidFill>
              <a:effectLst/>
              <a:uFillTx/>
              <a:latin typeface="Poppins Semi-Bold"/>
            </a:endParaRPr>
          </a:p>
        </p:txBody>
      </p:sp>
      <p:sp>
        <p:nvSpPr>
          <p:cNvPr id="259" name="TextBox 67"/>
          <p:cNvSpPr/>
          <p:nvPr/>
        </p:nvSpPr>
        <p:spPr>
          <a:xfrm>
            <a:off x="3197880" y="613080"/>
            <a:ext cx="12758760" cy="62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36000">
              <a:lnSpc>
                <a:spcPts val="4912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4610" b="0" u="none" strike="noStrike">
                <a:solidFill>
                  <a:schemeClr val="lt1"/>
                </a:solidFill>
                <a:effectLst/>
                <a:uFillTx/>
                <a:latin typeface="Poppins Semi-Bold"/>
                <a:ea typeface="DejaVu Sans"/>
              </a:rPr>
              <a:t>Opening files</a:t>
            </a:r>
            <a:endParaRPr lang="en-US" sz="46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Freeform 64"/>
          <p:cNvSpPr/>
          <p:nvPr/>
        </p:nvSpPr>
        <p:spPr>
          <a:xfrm>
            <a:off x="16071840" y="9673920"/>
            <a:ext cx="2346120" cy="344160"/>
          </a:xfrm>
          <a:custGeom>
            <a:avLst/>
            <a:gdLst>
              <a:gd name="textAreaLeft" fmla="*/ 0 w 2346120"/>
              <a:gd name="textAreaRight" fmla="*/ 2347920 w 2346120"/>
              <a:gd name="textAreaTop" fmla="*/ 0 h 344160"/>
              <a:gd name="textAreaBottom" fmla="*/ 345960 h 344160"/>
            </a:gdLst>
            <a:ahLst/>
            <a:cxnLst/>
            <a:rect l="textAreaLeft" t="textAreaTop" r="textAreaRight" b="textAreaBottom"/>
            <a:pathLst>
              <a:path w="2293806" h="337815">
                <a:moveTo>
                  <a:pt x="0" y="0"/>
                </a:moveTo>
                <a:lnTo>
                  <a:pt x="2293806" y="0"/>
                </a:lnTo>
                <a:lnTo>
                  <a:pt x="2293806" y="337815"/>
                </a:lnTo>
                <a:lnTo>
                  <a:pt x="0" y="33781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4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1" name="TextBox 68"/>
          <p:cNvSpPr/>
          <p:nvPr/>
        </p:nvSpPr>
        <p:spPr>
          <a:xfrm>
            <a:off x="2971800" y="1649160"/>
            <a:ext cx="10743120" cy="439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457200" defTabSz="914400">
              <a:lnSpc>
                <a:spcPct val="200000"/>
              </a:lnSpc>
            </a:pPr>
            <a:r>
              <a:rPr lang="en-GB" sz="3600" b="1" u="none" strike="noStrike">
                <a:solidFill>
                  <a:schemeClr val="accent6"/>
                </a:solidFill>
                <a:effectLst/>
                <a:uFillTx/>
                <a:latin typeface="Calibri"/>
                <a:ea typeface="Noto Sans CJK SC"/>
              </a:rPr>
              <a:t>Opening Files for Reading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Open files for reading by obtaining a file handler. What does </a:t>
            </a:r>
            <a:r>
              <a:rPr lang="en-GB" sz="2400" b="0" u="none" strike="noStrike">
                <a:solidFill>
                  <a:srgbClr val="FF7B59"/>
                </a:solidFill>
                <a:effectLst/>
                <a:uFillTx/>
                <a:latin typeface="Calibri"/>
                <a:ea typeface="Noto Sans CJK SC"/>
              </a:rPr>
              <a:t>defer</a:t>
            </a: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 do again?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  <a:spcBef>
                <a:spcPts val="1191"/>
              </a:spcBef>
              <a:spcAft>
                <a:spcPts val="992"/>
              </a:spcAf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2" name=""/>
          <p:cNvPicPr/>
          <p:nvPr/>
        </p:nvPicPr>
        <p:blipFill>
          <a:blip r:embed="rId5"/>
          <a:stretch/>
        </p:blipFill>
        <p:spPr>
          <a:xfrm>
            <a:off x="314640" y="4572000"/>
            <a:ext cx="1741320" cy="5446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3" name=""/>
          <p:cNvPicPr/>
          <p:nvPr/>
        </p:nvPicPr>
        <p:blipFill>
          <a:blip r:embed="rId6"/>
          <a:stretch/>
        </p:blipFill>
        <p:spPr>
          <a:xfrm>
            <a:off x="3566160" y="3753360"/>
            <a:ext cx="5347800" cy="2284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4" name=""/>
          <p:cNvPicPr/>
          <p:nvPr/>
        </p:nvPicPr>
        <p:blipFill>
          <a:blip r:embed="rId7"/>
          <a:stretch/>
        </p:blipFill>
        <p:spPr>
          <a:xfrm>
            <a:off x="3429000" y="6858000"/>
            <a:ext cx="9519120" cy="1845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5" name=""/>
          <p:cNvSpPr/>
          <p:nvPr/>
        </p:nvSpPr>
        <p:spPr>
          <a:xfrm>
            <a:off x="3443040" y="6462360"/>
            <a:ext cx="70714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You can use the </a:t>
            </a:r>
            <a:r>
              <a:rPr lang="en-GB" sz="2400" b="0" u="none" strike="noStrike">
                <a:solidFill>
                  <a:srgbClr val="FF7B59"/>
                </a:solidFill>
                <a:effectLst/>
                <a:uFillTx/>
                <a:latin typeface="Calibri"/>
                <a:ea typeface="Noto Sans CJK SC"/>
              </a:rPr>
              <a:t>OpenFile</a:t>
            </a: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 function for more control.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slow">
    <p:push dir="u"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Freeform 65"/>
          <p:cNvSpPr/>
          <p:nvPr/>
        </p:nvSpPr>
        <p:spPr>
          <a:xfrm>
            <a:off x="1739880" y="498600"/>
            <a:ext cx="15485400" cy="1526760"/>
          </a:xfrm>
          <a:custGeom>
            <a:avLst/>
            <a:gdLst>
              <a:gd name="textAreaLeft" fmla="*/ 0 w 15485400"/>
              <a:gd name="textAreaRight" fmla="*/ 15487200 w 15485400"/>
              <a:gd name="textAreaTop" fmla="*/ 0 h 1526760"/>
              <a:gd name="textAreaBottom" fmla="*/ 1528560 h 1526760"/>
            </a:gdLst>
            <a:ahLst/>
            <a:cxnLst/>
            <a:rect l="textAreaLeft" t="textAreaTop" r="textAreaRight" b="textAreaBottom"/>
            <a:pathLst>
              <a:path w="15129861" h="1493264">
                <a:moveTo>
                  <a:pt x="0" y="0"/>
                </a:moveTo>
                <a:lnTo>
                  <a:pt x="15129861" y="0"/>
                </a:lnTo>
                <a:lnTo>
                  <a:pt x="15129861" y="1493264"/>
                </a:lnTo>
                <a:lnTo>
                  <a:pt x="0" y="149326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endParaRPr lang="en-US" sz="4610" b="0" u="none" strike="noStrike">
              <a:solidFill>
                <a:schemeClr val="lt1"/>
              </a:solidFill>
              <a:effectLst/>
              <a:uFillTx/>
              <a:latin typeface="Poppins Semi-Bold"/>
            </a:endParaRPr>
          </a:p>
        </p:txBody>
      </p:sp>
      <p:sp>
        <p:nvSpPr>
          <p:cNvPr id="267" name="TextBox 69"/>
          <p:cNvSpPr/>
          <p:nvPr/>
        </p:nvSpPr>
        <p:spPr>
          <a:xfrm>
            <a:off x="3197880" y="613080"/>
            <a:ext cx="12758760" cy="62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36000">
              <a:lnSpc>
                <a:spcPts val="4912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4610" b="0" u="none" strike="noStrike">
                <a:solidFill>
                  <a:schemeClr val="lt1"/>
                </a:solidFill>
                <a:effectLst/>
                <a:uFillTx/>
                <a:latin typeface="Poppins Semi-Bold"/>
                <a:ea typeface="DejaVu Sans"/>
              </a:rPr>
              <a:t>Reading &amp; Writing to files</a:t>
            </a:r>
            <a:endParaRPr lang="en-US" sz="46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Freeform 66"/>
          <p:cNvSpPr/>
          <p:nvPr/>
        </p:nvSpPr>
        <p:spPr>
          <a:xfrm>
            <a:off x="16071840" y="9673920"/>
            <a:ext cx="2346120" cy="344160"/>
          </a:xfrm>
          <a:custGeom>
            <a:avLst/>
            <a:gdLst>
              <a:gd name="textAreaLeft" fmla="*/ 0 w 2346120"/>
              <a:gd name="textAreaRight" fmla="*/ 2347920 w 2346120"/>
              <a:gd name="textAreaTop" fmla="*/ 0 h 344160"/>
              <a:gd name="textAreaBottom" fmla="*/ 345960 h 344160"/>
            </a:gdLst>
            <a:ahLst/>
            <a:cxnLst/>
            <a:rect l="textAreaLeft" t="textAreaTop" r="textAreaRight" b="textAreaBottom"/>
            <a:pathLst>
              <a:path w="2293806" h="337815">
                <a:moveTo>
                  <a:pt x="0" y="0"/>
                </a:moveTo>
                <a:lnTo>
                  <a:pt x="2293806" y="0"/>
                </a:lnTo>
                <a:lnTo>
                  <a:pt x="2293806" y="337815"/>
                </a:lnTo>
                <a:lnTo>
                  <a:pt x="0" y="33781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4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9" name="TextBox 70"/>
          <p:cNvSpPr/>
          <p:nvPr/>
        </p:nvSpPr>
        <p:spPr>
          <a:xfrm>
            <a:off x="2971800" y="1649160"/>
            <a:ext cx="14171760" cy="439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457200" defTabSz="914400">
              <a:lnSpc>
                <a:spcPct val="200000"/>
              </a:lnSpc>
            </a:pPr>
            <a:r>
              <a:rPr lang="en-GB" sz="3600" b="1" u="none" strike="noStrike">
                <a:solidFill>
                  <a:schemeClr val="accent6"/>
                </a:solidFill>
                <a:effectLst/>
                <a:uFillTx/>
                <a:latin typeface="Calibri"/>
                <a:ea typeface="Noto Sans CJK SC"/>
              </a:rPr>
              <a:t>Reading and Writing to files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Reading and writing to files is simple, dump in memory, use buffers, just </a:t>
            </a:r>
            <a:r>
              <a:rPr lang="en-GB" sz="2400" b="0" u="none" strike="noStrike">
                <a:solidFill>
                  <a:srgbClr val="FF7B59"/>
                </a:solidFill>
                <a:effectLst/>
                <a:uFillTx/>
                <a:latin typeface="Calibri"/>
                <a:ea typeface="Noto Sans CJK SC"/>
              </a:rPr>
              <a:t>defer</a:t>
            </a: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 and </a:t>
            </a:r>
            <a:r>
              <a:rPr lang="en-GB" sz="2400" b="0" u="none" strike="noStrike">
                <a:solidFill>
                  <a:srgbClr val="FF7B59"/>
                </a:solidFill>
                <a:effectLst/>
                <a:uFillTx/>
                <a:latin typeface="Calibri"/>
                <a:ea typeface="Noto Sans CJK SC"/>
              </a:rPr>
              <a:t>flush buffers</a:t>
            </a: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  <a:spcBef>
                <a:spcPts val="1191"/>
              </a:spcBef>
              <a:spcAft>
                <a:spcPts val="992"/>
              </a:spcAf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0" name=""/>
          <p:cNvPicPr/>
          <p:nvPr/>
        </p:nvPicPr>
        <p:blipFill>
          <a:blip r:embed="rId5"/>
          <a:stretch/>
        </p:blipFill>
        <p:spPr>
          <a:xfrm>
            <a:off x="314640" y="4572000"/>
            <a:ext cx="1741320" cy="5446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1" name=""/>
          <p:cNvPicPr/>
          <p:nvPr/>
        </p:nvPicPr>
        <p:blipFill>
          <a:blip r:embed="rId6"/>
          <a:stretch/>
        </p:blipFill>
        <p:spPr>
          <a:xfrm>
            <a:off x="3429000" y="3782880"/>
            <a:ext cx="6495840" cy="3302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2" name=""/>
          <p:cNvPicPr/>
          <p:nvPr/>
        </p:nvPicPr>
        <p:blipFill>
          <a:blip r:embed="rId7"/>
          <a:stretch/>
        </p:blipFill>
        <p:spPr>
          <a:xfrm>
            <a:off x="10744200" y="3778200"/>
            <a:ext cx="5844240" cy="582156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push dir="u"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505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TextBox 114"/>
          <p:cNvSpPr/>
          <p:nvPr/>
        </p:nvSpPr>
        <p:spPr>
          <a:xfrm>
            <a:off x="1130040" y="3277080"/>
            <a:ext cx="11352960" cy="100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7883"/>
              </a:lnSpc>
            </a:pPr>
            <a:r>
              <a:rPr lang="en-GB" sz="5630" b="0" u="none" strike="noStrike">
                <a:solidFill>
                  <a:srgbClr val="729FCF"/>
                </a:solidFill>
                <a:effectLst/>
                <a:uFillTx/>
                <a:latin typeface="Poppins Semi-Bold"/>
                <a:ea typeface="DejaVu Sans"/>
              </a:rPr>
              <a:t>Exercise – Spot my mistake</a:t>
            </a:r>
            <a:endParaRPr lang="en-US" sz="56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Freeform 112"/>
          <p:cNvSpPr/>
          <p:nvPr/>
        </p:nvSpPr>
        <p:spPr>
          <a:xfrm>
            <a:off x="1053000" y="931680"/>
            <a:ext cx="4097160" cy="601920"/>
          </a:xfrm>
          <a:custGeom>
            <a:avLst/>
            <a:gdLst>
              <a:gd name="textAreaLeft" fmla="*/ 0 w 4097160"/>
              <a:gd name="textAreaRight" fmla="*/ 4098960 w 4097160"/>
              <a:gd name="textAreaTop" fmla="*/ 0 h 601920"/>
              <a:gd name="textAreaBottom" fmla="*/ 603720 h 601920"/>
            </a:gdLst>
            <a:ahLst/>
            <a:cxnLst/>
            <a:rect l="textAreaLeft" t="textAreaTop" r="textAreaRight" b="textAreaBottom"/>
            <a:pathLst>
              <a:path w="4004526" h="589757">
                <a:moveTo>
                  <a:pt x="0" y="0"/>
                </a:moveTo>
                <a:lnTo>
                  <a:pt x="4004526" y="0"/>
                </a:lnTo>
                <a:lnTo>
                  <a:pt x="4004526" y="589757"/>
                </a:lnTo>
                <a:lnTo>
                  <a:pt x="0" y="58975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4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5" name="TextBox 115"/>
          <p:cNvSpPr/>
          <p:nvPr/>
        </p:nvSpPr>
        <p:spPr>
          <a:xfrm>
            <a:off x="914400" y="4127040"/>
            <a:ext cx="10971000" cy="355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I made a mistake writing my first Go program. Can you spot it?</a:t>
            </a:r>
            <a:br>
              <a:rPr sz="2400"/>
            </a:b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 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00280" lvl="1" indent="-343080" defTabSz="91440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Explain what my function does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00280" lvl="1" indent="-343080" defTabSz="91440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What go principle did I not follow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NL" sz="2400" b="0" u="sng" strike="noStrike">
                <a:solidFill>
                  <a:schemeClr val="accent1"/>
                </a:solidFill>
                <a:effectLst/>
                <a:uFillTx/>
                <a:latin typeface="Calibri"/>
                <a:ea typeface="DejaVu Sans"/>
                <a:hlinkClick r:id="rId3"/>
              </a:rPr>
              <a:t>https://github.com/mitchelkoster/vacay-gaurdian/blob/main/storage/storage.go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15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6" name=""/>
          <p:cNvPicPr/>
          <p:nvPr/>
        </p:nvPicPr>
        <p:blipFill>
          <a:blip r:embed="rId4"/>
          <a:stretch/>
        </p:blipFill>
        <p:spPr>
          <a:xfrm>
            <a:off x="11430000" y="3134880"/>
            <a:ext cx="6727680" cy="6007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505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TextBox 18"/>
          <p:cNvSpPr/>
          <p:nvPr/>
        </p:nvSpPr>
        <p:spPr>
          <a:xfrm>
            <a:off x="1130040" y="3277080"/>
            <a:ext cx="16013520" cy="100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7883"/>
              </a:lnSpc>
            </a:pPr>
            <a:r>
              <a:rPr lang="en-GB" sz="5630" b="0" u="none" strike="noStrike">
                <a:solidFill>
                  <a:schemeClr val="accent6"/>
                </a:solidFill>
                <a:effectLst/>
                <a:uFillTx/>
                <a:latin typeface="Poppins Semi-Bold"/>
                <a:ea typeface="DejaVu Sans"/>
              </a:rPr>
              <a:t>0x04 - Advanced data types</a:t>
            </a:r>
            <a:endParaRPr lang="en-US" sz="56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78" name="Group 6"/>
          <p:cNvGrpSpPr/>
          <p:nvPr/>
        </p:nvGrpSpPr>
        <p:grpSpPr>
          <a:xfrm>
            <a:off x="11482200" y="1690920"/>
            <a:ext cx="5847120" cy="6106680"/>
            <a:chOff x="11482200" y="1690920"/>
            <a:chExt cx="5847120" cy="6106680"/>
          </a:xfrm>
        </p:grpSpPr>
        <p:sp>
          <p:nvSpPr>
            <p:cNvPr id="279" name="Freeform 18"/>
            <p:cNvSpPr/>
            <p:nvPr/>
          </p:nvSpPr>
          <p:spPr>
            <a:xfrm>
              <a:off x="11482200" y="1690920"/>
              <a:ext cx="5847120" cy="6106680"/>
            </a:xfrm>
            <a:custGeom>
              <a:avLst/>
              <a:gdLst>
                <a:gd name="textAreaLeft" fmla="*/ 0 w 5847120"/>
                <a:gd name="textAreaRight" fmla="*/ 5848920 w 5847120"/>
                <a:gd name="textAreaTop" fmla="*/ 0 h 6106680"/>
                <a:gd name="textAreaBottom" fmla="*/ 6108480 h 6106680"/>
              </a:gdLst>
              <a:ahLst/>
              <a:cxnLst/>
              <a:rect l="textAreaLeft" t="textAreaTop" r="textAreaRight" b="textAreaBottom"/>
              <a:pathLst>
                <a:path w="7618603" h="7956550">
                  <a:moveTo>
                    <a:pt x="0" y="0"/>
                  </a:moveTo>
                  <a:lnTo>
                    <a:pt x="7618603" y="0"/>
                  </a:lnTo>
                  <a:lnTo>
                    <a:pt x="7618603" y="7956550"/>
                  </a:lnTo>
                  <a:lnTo>
                    <a:pt x="0" y="79565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4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280" name="Freeform 20"/>
          <p:cNvSpPr/>
          <p:nvPr/>
        </p:nvSpPr>
        <p:spPr>
          <a:xfrm>
            <a:off x="1053000" y="931680"/>
            <a:ext cx="4097160" cy="601920"/>
          </a:xfrm>
          <a:custGeom>
            <a:avLst/>
            <a:gdLst>
              <a:gd name="textAreaLeft" fmla="*/ 0 w 4097160"/>
              <a:gd name="textAreaRight" fmla="*/ 4098960 w 4097160"/>
              <a:gd name="textAreaTop" fmla="*/ 0 h 601920"/>
              <a:gd name="textAreaBottom" fmla="*/ 603720 h 601920"/>
            </a:gdLst>
            <a:ahLst/>
            <a:cxnLst/>
            <a:rect l="textAreaLeft" t="textAreaTop" r="textAreaRight" b="textAreaBottom"/>
            <a:pathLst>
              <a:path w="4004526" h="589757">
                <a:moveTo>
                  <a:pt x="0" y="0"/>
                </a:moveTo>
                <a:lnTo>
                  <a:pt x="4004526" y="0"/>
                </a:lnTo>
                <a:lnTo>
                  <a:pt x="4004526" y="589757"/>
                </a:lnTo>
                <a:lnTo>
                  <a:pt x="0" y="58975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4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1" name="TextBox 19"/>
          <p:cNvSpPr/>
          <p:nvPr/>
        </p:nvSpPr>
        <p:spPr>
          <a:xfrm>
            <a:off x="914400" y="4390920"/>
            <a:ext cx="10971000" cy="241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Work with more advanced structures so you can start building complex programs.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00280" lvl="1" indent="-343080" defTabSz="91440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Slices, maps, enums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00280" lvl="1" indent="-343080" defTabSz="91440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Structs and custom types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Freeform 71"/>
          <p:cNvSpPr/>
          <p:nvPr/>
        </p:nvSpPr>
        <p:spPr>
          <a:xfrm>
            <a:off x="1739880" y="498600"/>
            <a:ext cx="15485400" cy="1526760"/>
          </a:xfrm>
          <a:custGeom>
            <a:avLst/>
            <a:gdLst>
              <a:gd name="textAreaLeft" fmla="*/ 0 w 15485400"/>
              <a:gd name="textAreaRight" fmla="*/ 15487200 w 15485400"/>
              <a:gd name="textAreaTop" fmla="*/ 0 h 1526760"/>
              <a:gd name="textAreaBottom" fmla="*/ 1528560 h 1526760"/>
            </a:gdLst>
            <a:ahLst/>
            <a:cxnLst/>
            <a:rect l="textAreaLeft" t="textAreaTop" r="textAreaRight" b="textAreaBottom"/>
            <a:pathLst>
              <a:path w="15129861" h="1493264">
                <a:moveTo>
                  <a:pt x="0" y="0"/>
                </a:moveTo>
                <a:lnTo>
                  <a:pt x="15129861" y="0"/>
                </a:lnTo>
                <a:lnTo>
                  <a:pt x="15129861" y="1493264"/>
                </a:lnTo>
                <a:lnTo>
                  <a:pt x="0" y="149326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endParaRPr lang="en-US" sz="4610" b="0" u="none" strike="noStrike">
              <a:solidFill>
                <a:schemeClr val="lt1"/>
              </a:solidFill>
              <a:effectLst/>
              <a:uFillTx/>
              <a:latin typeface="Poppins Semi-Bold"/>
            </a:endParaRPr>
          </a:p>
        </p:txBody>
      </p:sp>
      <p:sp>
        <p:nvSpPr>
          <p:cNvPr id="283" name="TextBox 75"/>
          <p:cNvSpPr/>
          <p:nvPr/>
        </p:nvSpPr>
        <p:spPr>
          <a:xfrm>
            <a:off x="3197880" y="613080"/>
            <a:ext cx="12758760" cy="62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36000">
              <a:lnSpc>
                <a:spcPts val="4912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4610" b="0" u="none" strike="noStrike">
                <a:solidFill>
                  <a:schemeClr val="lt1"/>
                </a:solidFill>
                <a:effectLst/>
                <a:uFillTx/>
                <a:latin typeface="Poppins Semi-Bold"/>
                <a:ea typeface="DejaVu Sans"/>
              </a:rPr>
              <a:t>Advanced Data Types</a:t>
            </a:r>
            <a:endParaRPr lang="en-US" sz="46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Freeform 72"/>
          <p:cNvSpPr/>
          <p:nvPr/>
        </p:nvSpPr>
        <p:spPr>
          <a:xfrm>
            <a:off x="16071840" y="9673920"/>
            <a:ext cx="2346120" cy="344160"/>
          </a:xfrm>
          <a:custGeom>
            <a:avLst/>
            <a:gdLst>
              <a:gd name="textAreaLeft" fmla="*/ 0 w 2346120"/>
              <a:gd name="textAreaRight" fmla="*/ 2347920 w 2346120"/>
              <a:gd name="textAreaTop" fmla="*/ 0 h 344160"/>
              <a:gd name="textAreaBottom" fmla="*/ 345960 h 344160"/>
            </a:gdLst>
            <a:ahLst/>
            <a:cxnLst/>
            <a:rect l="textAreaLeft" t="textAreaTop" r="textAreaRight" b="textAreaBottom"/>
            <a:pathLst>
              <a:path w="2293806" h="337815">
                <a:moveTo>
                  <a:pt x="0" y="0"/>
                </a:moveTo>
                <a:lnTo>
                  <a:pt x="2293806" y="0"/>
                </a:lnTo>
                <a:lnTo>
                  <a:pt x="2293806" y="337815"/>
                </a:lnTo>
                <a:lnTo>
                  <a:pt x="0" y="33781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4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5" name="TextBox 76"/>
          <p:cNvSpPr/>
          <p:nvPr/>
        </p:nvSpPr>
        <p:spPr>
          <a:xfrm>
            <a:off x="2971800" y="1649160"/>
            <a:ext cx="13943160" cy="439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457200" defTabSz="914400">
              <a:lnSpc>
                <a:spcPct val="200000"/>
              </a:lnSpc>
            </a:pPr>
            <a:r>
              <a:rPr lang="en-GB" sz="3600" b="1" u="none" strike="noStrike">
                <a:solidFill>
                  <a:schemeClr val="accent6"/>
                </a:solidFill>
                <a:effectLst/>
                <a:uFillTx/>
                <a:latin typeface="Calibri"/>
                <a:ea typeface="Noto Sans CJK SC"/>
              </a:rPr>
              <a:t>Slices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Slices allows us to have collections of any size. The syntax is very similar to arrays.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  <a:spcBef>
                <a:spcPts val="1191"/>
              </a:spcBef>
              <a:spcAft>
                <a:spcPts val="992"/>
              </a:spcAf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6" name=""/>
          <p:cNvPicPr/>
          <p:nvPr/>
        </p:nvPicPr>
        <p:blipFill>
          <a:blip r:embed="rId5"/>
          <a:stretch/>
        </p:blipFill>
        <p:spPr>
          <a:xfrm>
            <a:off x="314640" y="4572000"/>
            <a:ext cx="1741320" cy="5446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7" name=""/>
          <p:cNvPicPr/>
          <p:nvPr/>
        </p:nvPicPr>
        <p:blipFill>
          <a:blip r:embed="rId6"/>
          <a:stretch/>
        </p:blipFill>
        <p:spPr>
          <a:xfrm>
            <a:off x="3429000" y="3886200"/>
            <a:ext cx="8748000" cy="319896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push dir="u"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Freeform 73"/>
          <p:cNvSpPr/>
          <p:nvPr/>
        </p:nvSpPr>
        <p:spPr>
          <a:xfrm>
            <a:off x="1739880" y="498600"/>
            <a:ext cx="15485400" cy="1526760"/>
          </a:xfrm>
          <a:custGeom>
            <a:avLst/>
            <a:gdLst>
              <a:gd name="textAreaLeft" fmla="*/ 0 w 15485400"/>
              <a:gd name="textAreaRight" fmla="*/ 15487200 w 15485400"/>
              <a:gd name="textAreaTop" fmla="*/ 0 h 1526760"/>
              <a:gd name="textAreaBottom" fmla="*/ 1528560 h 1526760"/>
            </a:gdLst>
            <a:ahLst/>
            <a:cxnLst/>
            <a:rect l="textAreaLeft" t="textAreaTop" r="textAreaRight" b="textAreaBottom"/>
            <a:pathLst>
              <a:path w="15129861" h="1493264">
                <a:moveTo>
                  <a:pt x="0" y="0"/>
                </a:moveTo>
                <a:lnTo>
                  <a:pt x="15129861" y="0"/>
                </a:lnTo>
                <a:lnTo>
                  <a:pt x="15129861" y="1493264"/>
                </a:lnTo>
                <a:lnTo>
                  <a:pt x="0" y="149326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endParaRPr lang="en-US" sz="4610" b="0" u="none" strike="noStrike">
              <a:solidFill>
                <a:schemeClr val="lt1"/>
              </a:solidFill>
              <a:effectLst/>
              <a:uFillTx/>
              <a:latin typeface="Poppins Semi-Bold"/>
            </a:endParaRPr>
          </a:p>
        </p:txBody>
      </p:sp>
      <p:sp>
        <p:nvSpPr>
          <p:cNvPr id="289" name="TextBox 77"/>
          <p:cNvSpPr/>
          <p:nvPr/>
        </p:nvSpPr>
        <p:spPr>
          <a:xfrm>
            <a:off x="3197880" y="613080"/>
            <a:ext cx="12758760" cy="62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36000">
              <a:lnSpc>
                <a:spcPts val="4912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4610" b="0" u="none" strike="noStrike">
                <a:solidFill>
                  <a:schemeClr val="lt1"/>
                </a:solidFill>
                <a:effectLst/>
                <a:uFillTx/>
                <a:latin typeface="Poppins Semi-Bold"/>
                <a:ea typeface="DejaVu Sans"/>
              </a:rPr>
              <a:t>Advanced Data Types</a:t>
            </a:r>
            <a:endParaRPr lang="en-US" sz="46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Freeform 74"/>
          <p:cNvSpPr/>
          <p:nvPr/>
        </p:nvSpPr>
        <p:spPr>
          <a:xfrm>
            <a:off x="16071840" y="9673920"/>
            <a:ext cx="2346120" cy="344160"/>
          </a:xfrm>
          <a:custGeom>
            <a:avLst/>
            <a:gdLst>
              <a:gd name="textAreaLeft" fmla="*/ 0 w 2346120"/>
              <a:gd name="textAreaRight" fmla="*/ 2347920 w 2346120"/>
              <a:gd name="textAreaTop" fmla="*/ 0 h 344160"/>
              <a:gd name="textAreaBottom" fmla="*/ 345960 h 344160"/>
            </a:gdLst>
            <a:ahLst/>
            <a:cxnLst/>
            <a:rect l="textAreaLeft" t="textAreaTop" r="textAreaRight" b="textAreaBottom"/>
            <a:pathLst>
              <a:path w="2293806" h="337815">
                <a:moveTo>
                  <a:pt x="0" y="0"/>
                </a:moveTo>
                <a:lnTo>
                  <a:pt x="2293806" y="0"/>
                </a:lnTo>
                <a:lnTo>
                  <a:pt x="2293806" y="337815"/>
                </a:lnTo>
                <a:lnTo>
                  <a:pt x="0" y="33781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4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1" name="TextBox 78"/>
          <p:cNvSpPr/>
          <p:nvPr/>
        </p:nvSpPr>
        <p:spPr>
          <a:xfrm>
            <a:off x="2971800" y="1649160"/>
            <a:ext cx="13943160" cy="439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457200" defTabSz="914400">
              <a:lnSpc>
                <a:spcPct val="200000"/>
              </a:lnSpc>
            </a:pPr>
            <a:r>
              <a:rPr lang="en-GB" sz="3600" b="1" u="none" strike="noStrike">
                <a:solidFill>
                  <a:schemeClr val="accent6"/>
                </a:solidFill>
                <a:effectLst/>
                <a:uFillTx/>
                <a:latin typeface="Calibri"/>
                <a:ea typeface="Noto Sans CJK SC"/>
              </a:rPr>
              <a:t>Slices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If you wan to </a:t>
            </a:r>
            <a:r>
              <a:rPr lang="en-GB" sz="2400" b="0" u="none" strike="noStrike">
                <a:solidFill>
                  <a:srgbClr val="729FCF"/>
                </a:solidFill>
                <a:effectLst/>
                <a:uFillTx/>
                <a:latin typeface="Calibri"/>
                <a:ea typeface="Noto Sans CJK SC"/>
              </a:rPr>
              <a:t>add</a:t>
            </a: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 to a slice you need to </a:t>
            </a:r>
            <a:r>
              <a:rPr lang="en-GB" sz="2400" b="0" u="none" strike="noStrike">
                <a:solidFill>
                  <a:srgbClr val="729FCF"/>
                </a:solidFill>
                <a:effectLst/>
                <a:uFillTx/>
                <a:latin typeface="Calibri"/>
                <a:ea typeface="Noto Sans CJK SC"/>
              </a:rPr>
              <a:t>append()</a:t>
            </a: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, you cannot use the array syntax!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  <a:spcBef>
                <a:spcPts val="1191"/>
              </a:spcBef>
              <a:spcAft>
                <a:spcPts val="992"/>
              </a:spcAf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2" name=""/>
          <p:cNvPicPr/>
          <p:nvPr/>
        </p:nvPicPr>
        <p:blipFill>
          <a:blip r:embed="rId5"/>
          <a:stretch/>
        </p:blipFill>
        <p:spPr>
          <a:xfrm>
            <a:off x="314640" y="4572000"/>
            <a:ext cx="1741320" cy="5446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3" name=""/>
          <p:cNvPicPr/>
          <p:nvPr/>
        </p:nvPicPr>
        <p:blipFill>
          <a:blip r:embed="rId6"/>
          <a:stretch/>
        </p:blipFill>
        <p:spPr>
          <a:xfrm>
            <a:off x="3429000" y="3722400"/>
            <a:ext cx="5991480" cy="2905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4" name=""/>
          <p:cNvPicPr/>
          <p:nvPr/>
        </p:nvPicPr>
        <p:blipFill>
          <a:blip r:embed="rId7"/>
          <a:stretch/>
        </p:blipFill>
        <p:spPr>
          <a:xfrm>
            <a:off x="9829800" y="5112720"/>
            <a:ext cx="7085160" cy="425844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push dir="u"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Freeform 75"/>
          <p:cNvSpPr/>
          <p:nvPr/>
        </p:nvSpPr>
        <p:spPr>
          <a:xfrm>
            <a:off x="1739880" y="498600"/>
            <a:ext cx="15485400" cy="1526760"/>
          </a:xfrm>
          <a:custGeom>
            <a:avLst/>
            <a:gdLst>
              <a:gd name="textAreaLeft" fmla="*/ 0 w 15485400"/>
              <a:gd name="textAreaRight" fmla="*/ 15487200 w 15485400"/>
              <a:gd name="textAreaTop" fmla="*/ 0 h 1526760"/>
              <a:gd name="textAreaBottom" fmla="*/ 1528560 h 1526760"/>
            </a:gdLst>
            <a:ahLst/>
            <a:cxnLst/>
            <a:rect l="textAreaLeft" t="textAreaTop" r="textAreaRight" b="textAreaBottom"/>
            <a:pathLst>
              <a:path w="15129861" h="1493264">
                <a:moveTo>
                  <a:pt x="0" y="0"/>
                </a:moveTo>
                <a:lnTo>
                  <a:pt x="15129861" y="0"/>
                </a:lnTo>
                <a:lnTo>
                  <a:pt x="15129861" y="1493264"/>
                </a:lnTo>
                <a:lnTo>
                  <a:pt x="0" y="149326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endParaRPr lang="en-US" sz="4610" b="0" u="none" strike="noStrike">
              <a:solidFill>
                <a:schemeClr val="lt1"/>
              </a:solidFill>
              <a:effectLst/>
              <a:uFillTx/>
              <a:latin typeface="Poppins Semi-Bold"/>
            </a:endParaRPr>
          </a:p>
        </p:txBody>
      </p:sp>
      <p:sp>
        <p:nvSpPr>
          <p:cNvPr id="296" name="TextBox 79"/>
          <p:cNvSpPr/>
          <p:nvPr/>
        </p:nvSpPr>
        <p:spPr>
          <a:xfrm>
            <a:off x="3197880" y="613080"/>
            <a:ext cx="12758760" cy="62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36000">
              <a:lnSpc>
                <a:spcPts val="4912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4610" b="0" u="none" strike="noStrike">
                <a:solidFill>
                  <a:schemeClr val="lt1"/>
                </a:solidFill>
                <a:effectLst/>
                <a:uFillTx/>
                <a:latin typeface="Poppins Semi-Bold"/>
                <a:ea typeface="DejaVu Sans"/>
              </a:rPr>
              <a:t>Advanced Data Types</a:t>
            </a:r>
            <a:endParaRPr lang="en-US" sz="46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Freeform 76"/>
          <p:cNvSpPr/>
          <p:nvPr/>
        </p:nvSpPr>
        <p:spPr>
          <a:xfrm>
            <a:off x="16071840" y="9673920"/>
            <a:ext cx="2346120" cy="344160"/>
          </a:xfrm>
          <a:custGeom>
            <a:avLst/>
            <a:gdLst>
              <a:gd name="textAreaLeft" fmla="*/ 0 w 2346120"/>
              <a:gd name="textAreaRight" fmla="*/ 2347920 w 2346120"/>
              <a:gd name="textAreaTop" fmla="*/ 0 h 344160"/>
              <a:gd name="textAreaBottom" fmla="*/ 345960 h 344160"/>
            </a:gdLst>
            <a:ahLst/>
            <a:cxnLst/>
            <a:rect l="textAreaLeft" t="textAreaTop" r="textAreaRight" b="textAreaBottom"/>
            <a:pathLst>
              <a:path w="2293806" h="337815">
                <a:moveTo>
                  <a:pt x="0" y="0"/>
                </a:moveTo>
                <a:lnTo>
                  <a:pt x="2293806" y="0"/>
                </a:lnTo>
                <a:lnTo>
                  <a:pt x="2293806" y="337815"/>
                </a:lnTo>
                <a:lnTo>
                  <a:pt x="0" y="33781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4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8" name="TextBox 80"/>
          <p:cNvSpPr/>
          <p:nvPr/>
        </p:nvSpPr>
        <p:spPr>
          <a:xfrm>
            <a:off x="2971800" y="1649160"/>
            <a:ext cx="13943160" cy="439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457200" defTabSz="914400">
              <a:lnSpc>
                <a:spcPct val="200000"/>
              </a:lnSpc>
            </a:pPr>
            <a:r>
              <a:rPr lang="en-GB" sz="3600" b="1" u="none" strike="noStrike">
                <a:solidFill>
                  <a:schemeClr val="accent6"/>
                </a:solidFill>
                <a:effectLst/>
                <a:uFillTx/>
                <a:latin typeface="Calibri"/>
                <a:ea typeface="Noto Sans CJK SC"/>
              </a:rPr>
              <a:t>Slices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Slices allow for partial selection of the data.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  <a:spcBef>
                <a:spcPts val="1191"/>
              </a:spcBef>
              <a:spcAft>
                <a:spcPts val="992"/>
              </a:spcAf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9" name=""/>
          <p:cNvPicPr/>
          <p:nvPr/>
        </p:nvPicPr>
        <p:blipFill>
          <a:blip r:embed="rId5"/>
          <a:stretch/>
        </p:blipFill>
        <p:spPr>
          <a:xfrm>
            <a:off x="314640" y="4572000"/>
            <a:ext cx="1741320" cy="5446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0" name=""/>
          <p:cNvPicPr/>
          <p:nvPr/>
        </p:nvPicPr>
        <p:blipFill>
          <a:blip r:embed="rId6"/>
          <a:stretch/>
        </p:blipFill>
        <p:spPr>
          <a:xfrm>
            <a:off x="3687480" y="3753360"/>
            <a:ext cx="7283880" cy="228456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push dir="u"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Freeform 79"/>
          <p:cNvSpPr/>
          <p:nvPr/>
        </p:nvSpPr>
        <p:spPr>
          <a:xfrm>
            <a:off x="1739880" y="498600"/>
            <a:ext cx="15485400" cy="1526760"/>
          </a:xfrm>
          <a:custGeom>
            <a:avLst/>
            <a:gdLst>
              <a:gd name="textAreaLeft" fmla="*/ 0 w 15485400"/>
              <a:gd name="textAreaRight" fmla="*/ 15487200 w 15485400"/>
              <a:gd name="textAreaTop" fmla="*/ 0 h 1526760"/>
              <a:gd name="textAreaBottom" fmla="*/ 1528560 h 1526760"/>
            </a:gdLst>
            <a:ahLst/>
            <a:cxnLst/>
            <a:rect l="textAreaLeft" t="textAreaTop" r="textAreaRight" b="textAreaBottom"/>
            <a:pathLst>
              <a:path w="15129861" h="1493264">
                <a:moveTo>
                  <a:pt x="0" y="0"/>
                </a:moveTo>
                <a:lnTo>
                  <a:pt x="15129861" y="0"/>
                </a:lnTo>
                <a:lnTo>
                  <a:pt x="15129861" y="1493264"/>
                </a:lnTo>
                <a:lnTo>
                  <a:pt x="0" y="149326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endParaRPr lang="en-US" sz="4610" b="0" u="none" strike="noStrike">
              <a:solidFill>
                <a:schemeClr val="lt1"/>
              </a:solidFill>
              <a:effectLst/>
              <a:uFillTx/>
              <a:latin typeface="Poppins Semi-Bold"/>
            </a:endParaRPr>
          </a:p>
        </p:txBody>
      </p:sp>
      <p:sp>
        <p:nvSpPr>
          <p:cNvPr id="302" name="TextBox 83"/>
          <p:cNvSpPr/>
          <p:nvPr/>
        </p:nvSpPr>
        <p:spPr>
          <a:xfrm>
            <a:off x="3197880" y="613080"/>
            <a:ext cx="12758760" cy="62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36000">
              <a:lnSpc>
                <a:spcPts val="4912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4610" b="0" u="none" strike="noStrike">
                <a:solidFill>
                  <a:schemeClr val="lt1"/>
                </a:solidFill>
                <a:effectLst/>
                <a:uFillTx/>
                <a:latin typeface="Poppins Semi-Bold"/>
                <a:ea typeface="DejaVu Sans"/>
              </a:rPr>
              <a:t>Advanced Data Types</a:t>
            </a:r>
            <a:endParaRPr lang="en-US" sz="46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Freeform 80"/>
          <p:cNvSpPr/>
          <p:nvPr/>
        </p:nvSpPr>
        <p:spPr>
          <a:xfrm>
            <a:off x="16071840" y="9673920"/>
            <a:ext cx="2346120" cy="344160"/>
          </a:xfrm>
          <a:custGeom>
            <a:avLst/>
            <a:gdLst>
              <a:gd name="textAreaLeft" fmla="*/ 0 w 2346120"/>
              <a:gd name="textAreaRight" fmla="*/ 2347920 w 2346120"/>
              <a:gd name="textAreaTop" fmla="*/ 0 h 344160"/>
              <a:gd name="textAreaBottom" fmla="*/ 345960 h 344160"/>
            </a:gdLst>
            <a:ahLst/>
            <a:cxnLst/>
            <a:rect l="textAreaLeft" t="textAreaTop" r="textAreaRight" b="textAreaBottom"/>
            <a:pathLst>
              <a:path w="2293806" h="337815">
                <a:moveTo>
                  <a:pt x="0" y="0"/>
                </a:moveTo>
                <a:lnTo>
                  <a:pt x="2293806" y="0"/>
                </a:lnTo>
                <a:lnTo>
                  <a:pt x="2293806" y="337815"/>
                </a:lnTo>
                <a:lnTo>
                  <a:pt x="0" y="33781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4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4" name="TextBox 84"/>
          <p:cNvSpPr/>
          <p:nvPr/>
        </p:nvSpPr>
        <p:spPr>
          <a:xfrm>
            <a:off x="2971800" y="1649160"/>
            <a:ext cx="13943160" cy="439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457200" defTabSz="914400">
              <a:lnSpc>
                <a:spcPct val="200000"/>
              </a:lnSpc>
            </a:pPr>
            <a:r>
              <a:rPr lang="en-GB" sz="3600" b="1" u="none" strike="noStrike">
                <a:solidFill>
                  <a:schemeClr val="accent6"/>
                </a:solidFill>
                <a:effectLst/>
                <a:uFillTx/>
                <a:latin typeface="Calibri"/>
                <a:ea typeface="Noto Sans CJK SC"/>
              </a:rPr>
              <a:t>Slices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Deleting slices can be done through </a:t>
            </a:r>
            <a:r>
              <a:rPr lang="en-GB" sz="2400" b="0" u="none" strike="noStrike">
                <a:solidFill>
                  <a:srgbClr val="729FCF"/>
                </a:solidFill>
                <a:effectLst/>
                <a:uFillTx/>
                <a:latin typeface="Calibri"/>
                <a:ea typeface="Noto Sans CJK SC"/>
              </a:rPr>
              <a:t>index remapping</a:t>
            </a: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 or by creating a </a:t>
            </a:r>
            <a:r>
              <a:rPr lang="en-GB" sz="2400" b="0" u="none" strike="noStrike">
                <a:solidFill>
                  <a:srgbClr val="729FCF"/>
                </a:solidFill>
                <a:effectLst/>
                <a:uFillTx/>
                <a:latin typeface="Calibri"/>
                <a:ea typeface="Noto Sans CJK SC"/>
              </a:rPr>
              <a:t>new slice.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  <a:spcBef>
                <a:spcPts val="1191"/>
              </a:spcBef>
              <a:spcAft>
                <a:spcPts val="992"/>
              </a:spcAf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5" name=""/>
          <p:cNvPicPr/>
          <p:nvPr/>
        </p:nvPicPr>
        <p:blipFill>
          <a:blip r:embed="rId5"/>
          <a:stretch/>
        </p:blipFill>
        <p:spPr>
          <a:xfrm>
            <a:off x="314640" y="4572000"/>
            <a:ext cx="1741320" cy="5446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6" name=""/>
          <p:cNvPicPr/>
          <p:nvPr/>
        </p:nvPicPr>
        <p:blipFill>
          <a:blip r:embed="rId6"/>
          <a:stretch/>
        </p:blipFill>
        <p:spPr>
          <a:xfrm>
            <a:off x="3385800" y="3723120"/>
            <a:ext cx="6899760" cy="244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7" name=""/>
          <p:cNvPicPr/>
          <p:nvPr/>
        </p:nvPicPr>
        <p:blipFill>
          <a:blip r:embed="rId7"/>
          <a:stretch/>
        </p:blipFill>
        <p:spPr>
          <a:xfrm>
            <a:off x="7433280" y="6317280"/>
            <a:ext cx="7881480" cy="351108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push dir="u"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Freeform 77"/>
          <p:cNvSpPr/>
          <p:nvPr/>
        </p:nvSpPr>
        <p:spPr>
          <a:xfrm>
            <a:off x="1739880" y="498600"/>
            <a:ext cx="15485400" cy="1526760"/>
          </a:xfrm>
          <a:custGeom>
            <a:avLst/>
            <a:gdLst>
              <a:gd name="textAreaLeft" fmla="*/ 0 w 15485400"/>
              <a:gd name="textAreaRight" fmla="*/ 15487200 w 15485400"/>
              <a:gd name="textAreaTop" fmla="*/ 0 h 1526760"/>
              <a:gd name="textAreaBottom" fmla="*/ 1528560 h 1526760"/>
            </a:gdLst>
            <a:ahLst/>
            <a:cxnLst/>
            <a:rect l="textAreaLeft" t="textAreaTop" r="textAreaRight" b="textAreaBottom"/>
            <a:pathLst>
              <a:path w="15129861" h="1493264">
                <a:moveTo>
                  <a:pt x="0" y="0"/>
                </a:moveTo>
                <a:lnTo>
                  <a:pt x="15129861" y="0"/>
                </a:lnTo>
                <a:lnTo>
                  <a:pt x="15129861" y="1493264"/>
                </a:lnTo>
                <a:lnTo>
                  <a:pt x="0" y="149326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endParaRPr lang="en-US" sz="4610" b="0" u="none" strike="noStrike">
              <a:solidFill>
                <a:schemeClr val="lt1"/>
              </a:solidFill>
              <a:effectLst/>
              <a:uFillTx/>
              <a:latin typeface="Poppins Semi-Bold"/>
            </a:endParaRPr>
          </a:p>
        </p:txBody>
      </p:sp>
      <p:sp>
        <p:nvSpPr>
          <p:cNvPr id="309" name="TextBox 81"/>
          <p:cNvSpPr/>
          <p:nvPr/>
        </p:nvSpPr>
        <p:spPr>
          <a:xfrm>
            <a:off x="3197880" y="613080"/>
            <a:ext cx="12758760" cy="62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36000">
              <a:lnSpc>
                <a:spcPts val="4912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4610" b="0" u="none" strike="noStrike">
                <a:solidFill>
                  <a:schemeClr val="lt1"/>
                </a:solidFill>
                <a:effectLst/>
                <a:uFillTx/>
                <a:latin typeface="Poppins Semi-Bold"/>
                <a:ea typeface="DejaVu Sans"/>
              </a:rPr>
              <a:t>Advanced Data Types</a:t>
            </a:r>
            <a:endParaRPr lang="en-US" sz="46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Freeform 78"/>
          <p:cNvSpPr/>
          <p:nvPr/>
        </p:nvSpPr>
        <p:spPr>
          <a:xfrm>
            <a:off x="16071840" y="9673920"/>
            <a:ext cx="2346120" cy="344160"/>
          </a:xfrm>
          <a:custGeom>
            <a:avLst/>
            <a:gdLst>
              <a:gd name="textAreaLeft" fmla="*/ 0 w 2346120"/>
              <a:gd name="textAreaRight" fmla="*/ 2347920 w 2346120"/>
              <a:gd name="textAreaTop" fmla="*/ 0 h 344160"/>
              <a:gd name="textAreaBottom" fmla="*/ 345960 h 344160"/>
            </a:gdLst>
            <a:ahLst/>
            <a:cxnLst/>
            <a:rect l="textAreaLeft" t="textAreaTop" r="textAreaRight" b="textAreaBottom"/>
            <a:pathLst>
              <a:path w="2293806" h="337815">
                <a:moveTo>
                  <a:pt x="0" y="0"/>
                </a:moveTo>
                <a:lnTo>
                  <a:pt x="2293806" y="0"/>
                </a:lnTo>
                <a:lnTo>
                  <a:pt x="2293806" y="337815"/>
                </a:lnTo>
                <a:lnTo>
                  <a:pt x="0" y="33781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4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1" name="TextBox 82"/>
          <p:cNvSpPr/>
          <p:nvPr/>
        </p:nvSpPr>
        <p:spPr>
          <a:xfrm>
            <a:off x="2971800" y="1649160"/>
            <a:ext cx="13943160" cy="439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457200" defTabSz="914400">
              <a:lnSpc>
                <a:spcPct val="200000"/>
              </a:lnSpc>
            </a:pPr>
            <a:r>
              <a:rPr lang="en-GB" sz="3600" b="1" u="none" strike="noStrike">
                <a:solidFill>
                  <a:schemeClr val="accent6"/>
                </a:solidFill>
                <a:effectLst/>
                <a:uFillTx/>
                <a:latin typeface="Calibri"/>
                <a:ea typeface="Noto Sans CJK SC"/>
              </a:rPr>
              <a:t>Maps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If a map item </a:t>
            </a:r>
            <a:r>
              <a:rPr lang="en-GB" sz="2400" b="0" u="none" strike="noStrike">
                <a:solidFill>
                  <a:srgbClr val="729FCF"/>
                </a:solidFill>
                <a:effectLst/>
                <a:uFillTx/>
                <a:latin typeface="Calibri"/>
                <a:ea typeface="Noto Sans CJK SC"/>
              </a:rPr>
              <a:t>does not exist it returns 0</a:t>
            </a: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, this can be confusing but is easy to check.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  <a:spcBef>
                <a:spcPts val="1191"/>
              </a:spcBef>
              <a:spcAft>
                <a:spcPts val="992"/>
              </a:spcAf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2" name=""/>
          <p:cNvPicPr/>
          <p:nvPr/>
        </p:nvPicPr>
        <p:blipFill>
          <a:blip r:embed="rId5"/>
          <a:stretch/>
        </p:blipFill>
        <p:spPr>
          <a:xfrm>
            <a:off x="314640" y="4572000"/>
            <a:ext cx="1741320" cy="5446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3" name=""/>
          <p:cNvPicPr/>
          <p:nvPr/>
        </p:nvPicPr>
        <p:blipFill>
          <a:blip r:embed="rId6"/>
          <a:stretch/>
        </p:blipFill>
        <p:spPr>
          <a:xfrm>
            <a:off x="3429000" y="3867840"/>
            <a:ext cx="9200880" cy="3445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4" name=""/>
          <p:cNvPicPr/>
          <p:nvPr/>
        </p:nvPicPr>
        <p:blipFill>
          <a:blip r:embed="rId7"/>
          <a:stretch/>
        </p:blipFill>
        <p:spPr>
          <a:xfrm>
            <a:off x="13030200" y="3882600"/>
            <a:ext cx="5027760" cy="4363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5" name=""/>
          <p:cNvPicPr/>
          <p:nvPr/>
        </p:nvPicPr>
        <p:blipFill>
          <a:blip r:embed="rId8"/>
          <a:stretch/>
        </p:blipFill>
        <p:spPr>
          <a:xfrm>
            <a:off x="3423960" y="7543800"/>
            <a:ext cx="5947200" cy="228456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push dir="u"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Freeform 81"/>
          <p:cNvSpPr/>
          <p:nvPr/>
        </p:nvSpPr>
        <p:spPr>
          <a:xfrm>
            <a:off x="1739880" y="498600"/>
            <a:ext cx="15485400" cy="1526760"/>
          </a:xfrm>
          <a:custGeom>
            <a:avLst/>
            <a:gdLst>
              <a:gd name="textAreaLeft" fmla="*/ 0 w 15485400"/>
              <a:gd name="textAreaRight" fmla="*/ 15487200 w 15485400"/>
              <a:gd name="textAreaTop" fmla="*/ 0 h 1526760"/>
              <a:gd name="textAreaBottom" fmla="*/ 1528560 h 1526760"/>
            </a:gdLst>
            <a:ahLst/>
            <a:cxnLst/>
            <a:rect l="textAreaLeft" t="textAreaTop" r="textAreaRight" b="textAreaBottom"/>
            <a:pathLst>
              <a:path w="15129861" h="1493264">
                <a:moveTo>
                  <a:pt x="0" y="0"/>
                </a:moveTo>
                <a:lnTo>
                  <a:pt x="15129861" y="0"/>
                </a:lnTo>
                <a:lnTo>
                  <a:pt x="15129861" y="1493264"/>
                </a:lnTo>
                <a:lnTo>
                  <a:pt x="0" y="149326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endParaRPr lang="en-US" sz="4610" b="0" u="none" strike="noStrike">
              <a:solidFill>
                <a:schemeClr val="lt1"/>
              </a:solidFill>
              <a:effectLst/>
              <a:uFillTx/>
              <a:latin typeface="Poppins Semi-Bold"/>
            </a:endParaRPr>
          </a:p>
        </p:txBody>
      </p:sp>
      <p:sp>
        <p:nvSpPr>
          <p:cNvPr id="317" name="TextBox 85"/>
          <p:cNvSpPr/>
          <p:nvPr/>
        </p:nvSpPr>
        <p:spPr>
          <a:xfrm>
            <a:off x="3197880" y="613080"/>
            <a:ext cx="12758760" cy="62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36000">
              <a:lnSpc>
                <a:spcPts val="4912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4610" b="0" u="none" strike="noStrike">
                <a:solidFill>
                  <a:schemeClr val="lt1"/>
                </a:solidFill>
                <a:effectLst/>
                <a:uFillTx/>
                <a:latin typeface="Poppins Semi-Bold"/>
                <a:ea typeface="DejaVu Sans"/>
              </a:rPr>
              <a:t>Advanced Data Types</a:t>
            </a:r>
            <a:endParaRPr lang="en-US" sz="46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Freeform 82"/>
          <p:cNvSpPr/>
          <p:nvPr/>
        </p:nvSpPr>
        <p:spPr>
          <a:xfrm>
            <a:off x="16071840" y="9673920"/>
            <a:ext cx="2346120" cy="344160"/>
          </a:xfrm>
          <a:custGeom>
            <a:avLst/>
            <a:gdLst>
              <a:gd name="textAreaLeft" fmla="*/ 0 w 2346120"/>
              <a:gd name="textAreaRight" fmla="*/ 2347920 w 2346120"/>
              <a:gd name="textAreaTop" fmla="*/ 0 h 344160"/>
              <a:gd name="textAreaBottom" fmla="*/ 345960 h 344160"/>
            </a:gdLst>
            <a:ahLst/>
            <a:cxnLst/>
            <a:rect l="textAreaLeft" t="textAreaTop" r="textAreaRight" b="textAreaBottom"/>
            <a:pathLst>
              <a:path w="2293806" h="337815">
                <a:moveTo>
                  <a:pt x="0" y="0"/>
                </a:moveTo>
                <a:lnTo>
                  <a:pt x="2293806" y="0"/>
                </a:lnTo>
                <a:lnTo>
                  <a:pt x="2293806" y="337815"/>
                </a:lnTo>
                <a:lnTo>
                  <a:pt x="0" y="33781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4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9" name="TextBox 86"/>
          <p:cNvSpPr/>
          <p:nvPr/>
        </p:nvSpPr>
        <p:spPr>
          <a:xfrm>
            <a:off x="2971800" y="1649160"/>
            <a:ext cx="13943160" cy="439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457200" defTabSz="914400">
              <a:lnSpc>
                <a:spcPct val="200000"/>
              </a:lnSpc>
            </a:pPr>
            <a:r>
              <a:rPr lang="en-GB" sz="3600" b="1" u="none" strike="noStrike">
                <a:solidFill>
                  <a:schemeClr val="accent6"/>
                </a:solidFill>
                <a:effectLst/>
                <a:uFillTx/>
                <a:latin typeface="Calibri"/>
                <a:ea typeface="Noto Sans CJK SC"/>
              </a:rPr>
              <a:t>Maps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Maps items can easily be added to, updated or removed.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  <a:spcBef>
                <a:spcPts val="1191"/>
              </a:spcBef>
              <a:spcAft>
                <a:spcPts val="992"/>
              </a:spcAf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0" name=""/>
          <p:cNvPicPr/>
          <p:nvPr/>
        </p:nvPicPr>
        <p:blipFill>
          <a:blip r:embed="rId5"/>
          <a:stretch/>
        </p:blipFill>
        <p:spPr>
          <a:xfrm>
            <a:off x="314640" y="4572000"/>
            <a:ext cx="1741320" cy="5446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1" name=""/>
          <p:cNvPicPr/>
          <p:nvPr/>
        </p:nvPicPr>
        <p:blipFill>
          <a:blip r:embed="rId6"/>
          <a:stretch/>
        </p:blipFill>
        <p:spPr>
          <a:xfrm>
            <a:off x="3429000" y="3886200"/>
            <a:ext cx="5942160" cy="3472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2" name=""/>
          <p:cNvPicPr/>
          <p:nvPr/>
        </p:nvPicPr>
        <p:blipFill>
          <a:blip r:embed="rId7"/>
          <a:stretch/>
        </p:blipFill>
        <p:spPr>
          <a:xfrm>
            <a:off x="9627840" y="3886200"/>
            <a:ext cx="7515720" cy="194508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push dir="u"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Freeform 83"/>
          <p:cNvSpPr/>
          <p:nvPr/>
        </p:nvSpPr>
        <p:spPr>
          <a:xfrm>
            <a:off x="1739880" y="498600"/>
            <a:ext cx="15485400" cy="1526760"/>
          </a:xfrm>
          <a:custGeom>
            <a:avLst/>
            <a:gdLst>
              <a:gd name="textAreaLeft" fmla="*/ 0 w 15485400"/>
              <a:gd name="textAreaRight" fmla="*/ 15487200 w 15485400"/>
              <a:gd name="textAreaTop" fmla="*/ 0 h 1526760"/>
              <a:gd name="textAreaBottom" fmla="*/ 1528560 h 1526760"/>
            </a:gdLst>
            <a:ahLst/>
            <a:cxnLst/>
            <a:rect l="textAreaLeft" t="textAreaTop" r="textAreaRight" b="textAreaBottom"/>
            <a:pathLst>
              <a:path w="15129861" h="1493264">
                <a:moveTo>
                  <a:pt x="0" y="0"/>
                </a:moveTo>
                <a:lnTo>
                  <a:pt x="15129861" y="0"/>
                </a:lnTo>
                <a:lnTo>
                  <a:pt x="15129861" y="1493264"/>
                </a:lnTo>
                <a:lnTo>
                  <a:pt x="0" y="149326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endParaRPr lang="en-US" sz="4610" b="0" u="none" strike="noStrike">
              <a:solidFill>
                <a:schemeClr val="lt1"/>
              </a:solidFill>
              <a:effectLst/>
              <a:uFillTx/>
              <a:latin typeface="Poppins Semi-Bold"/>
            </a:endParaRPr>
          </a:p>
        </p:txBody>
      </p:sp>
      <p:sp>
        <p:nvSpPr>
          <p:cNvPr id="324" name="TextBox 87"/>
          <p:cNvSpPr/>
          <p:nvPr/>
        </p:nvSpPr>
        <p:spPr>
          <a:xfrm>
            <a:off x="3197880" y="613080"/>
            <a:ext cx="12758760" cy="62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36000">
              <a:lnSpc>
                <a:spcPts val="4912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4610" b="0" u="none" strike="noStrike">
                <a:solidFill>
                  <a:schemeClr val="lt1"/>
                </a:solidFill>
                <a:effectLst/>
                <a:uFillTx/>
                <a:latin typeface="Poppins Semi-Bold"/>
                <a:ea typeface="DejaVu Sans"/>
              </a:rPr>
              <a:t>Advanced Data Types</a:t>
            </a:r>
            <a:endParaRPr lang="en-US" sz="46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Freeform 84"/>
          <p:cNvSpPr/>
          <p:nvPr/>
        </p:nvSpPr>
        <p:spPr>
          <a:xfrm>
            <a:off x="16071840" y="9673920"/>
            <a:ext cx="2346120" cy="344160"/>
          </a:xfrm>
          <a:custGeom>
            <a:avLst/>
            <a:gdLst>
              <a:gd name="textAreaLeft" fmla="*/ 0 w 2346120"/>
              <a:gd name="textAreaRight" fmla="*/ 2347920 w 2346120"/>
              <a:gd name="textAreaTop" fmla="*/ 0 h 344160"/>
              <a:gd name="textAreaBottom" fmla="*/ 345960 h 344160"/>
            </a:gdLst>
            <a:ahLst/>
            <a:cxnLst/>
            <a:rect l="textAreaLeft" t="textAreaTop" r="textAreaRight" b="textAreaBottom"/>
            <a:pathLst>
              <a:path w="2293806" h="337815">
                <a:moveTo>
                  <a:pt x="0" y="0"/>
                </a:moveTo>
                <a:lnTo>
                  <a:pt x="2293806" y="0"/>
                </a:lnTo>
                <a:lnTo>
                  <a:pt x="2293806" y="337815"/>
                </a:lnTo>
                <a:lnTo>
                  <a:pt x="0" y="33781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4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6" name="TextBox 88"/>
          <p:cNvSpPr/>
          <p:nvPr/>
        </p:nvSpPr>
        <p:spPr>
          <a:xfrm>
            <a:off x="2971800" y="1649160"/>
            <a:ext cx="13943160" cy="439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457200" defTabSz="914400">
              <a:lnSpc>
                <a:spcPct val="200000"/>
              </a:lnSpc>
            </a:pPr>
            <a:r>
              <a:rPr lang="en-GB" sz="3600" b="1" u="none" strike="noStrike">
                <a:solidFill>
                  <a:schemeClr val="accent6"/>
                </a:solidFill>
                <a:effectLst/>
                <a:uFillTx/>
                <a:latin typeface="Calibri"/>
                <a:ea typeface="Noto Sans CJK SC"/>
              </a:rPr>
              <a:t>Enums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The </a:t>
            </a:r>
            <a:r>
              <a:rPr lang="en-GB" sz="2400" b="0" u="none" strike="noStrike">
                <a:solidFill>
                  <a:srgbClr val="FF7B59"/>
                </a:solidFill>
                <a:effectLst/>
                <a:uFillTx/>
                <a:latin typeface="Calibri"/>
                <a:ea typeface="Noto Sans CJK SC"/>
              </a:rPr>
              <a:t>enum</a:t>
            </a: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 can’t be compared to Java, etc. They are typed constants (with a </a:t>
            </a:r>
            <a:r>
              <a:rPr lang="en-GB" sz="2400" b="0" u="none" strike="noStrike">
                <a:solidFill>
                  <a:srgbClr val="FF7B59"/>
                </a:solidFill>
                <a:effectLst/>
                <a:uFillTx/>
                <a:latin typeface="Calibri"/>
                <a:ea typeface="Noto Sans CJK SC"/>
              </a:rPr>
              <a:t>custom type </a:t>
            </a: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for clarity)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  <a:spcBef>
                <a:spcPts val="1191"/>
              </a:spcBef>
              <a:spcAft>
                <a:spcPts val="992"/>
              </a:spcAf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7" name=""/>
          <p:cNvPicPr/>
          <p:nvPr/>
        </p:nvPicPr>
        <p:blipFill>
          <a:blip r:embed="rId5"/>
          <a:stretch/>
        </p:blipFill>
        <p:spPr>
          <a:xfrm>
            <a:off x="314640" y="4572000"/>
            <a:ext cx="1741320" cy="5446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8" name=""/>
          <p:cNvPicPr/>
          <p:nvPr/>
        </p:nvPicPr>
        <p:blipFill>
          <a:blip r:embed="rId6"/>
          <a:stretch/>
        </p:blipFill>
        <p:spPr>
          <a:xfrm>
            <a:off x="3465720" y="3886200"/>
            <a:ext cx="6362640" cy="3758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9" name=""/>
          <p:cNvPicPr/>
          <p:nvPr/>
        </p:nvPicPr>
        <p:blipFill>
          <a:blip r:embed="rId7"/>
          <a:stretch/>
        </p:blipFill>
        <p:spPr>
          <a:xfrm>
            <a:off x="10212480" y="3886200"/>
            <a:ext cx="6473880" cy="571356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push dir="u"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Freeform 85"/>
          <p:cNvSpPr/>
          <p:nvPr/>
        </p:nvSpPr>
        <p:spPr>
          <a:xfrm>
            <a:off x="1739880" y="498600"/>
            <a:ext cx="15485400" cy="1526760"/>
          </a:xfrm>
          <a:custGeom>
            <a:avLst/>
            <a:gdLst>
              <a:gd name="textAreaLeft" fmla="*/ 0 w 15485400"/>
              <a:gd name="textAreaRight" fmla="*/ 15487200 w 15485400"/>
              <a:gd name="textAreaTop" fmla="*/ 0 h 1526760"/>
              <a:gd name="textAreaBottom" fmla="*/ 1528560 h 1526760"/>
            </a:gdLst>
            <a:ahLst/>
            <a:cxnLst/>
            <a:rect l="textAreaLeft" t="textAreaTop" r="textAreaRight" b="textAreaBottom"/>
            <a:pathLst>
              <a:path w="15129861" h="1493264">
                <a:moveTo>
                  <a:pt x="0" y="0"/>
                </a:moveTo>
                <a:lnTo>
                  <a:pt x="15129861" y="0"/>
                </a:lnTo>
                <a:lnTo>
                  <a:pt x="15129861" y="1493264"/>
                </a:lnTo>
                <a:lnTo>
                  <a:pt x="0" y="149326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endParaRPr lang="en-US" sz="4610" b="0" u="none" strike="noStrike">
              <a:solidFill>
                <a:schemeClr val="lt1"/>
              </a:solidFill>
              <a:effectLst/>
              <a:uFillTx/>
              <a:latin typeface="Poppins Semi-Bold"/>
            </a:endParaRPr>
          </a:p>
        </p:txBody>
      </p:sp>
      <p:sp>
        <p:nvSpPr>
          <p:cNvPr id="331" name="TextBox 89"/>
          <p:cNvSpPr/>
          <p:nvPr/>
        </p:nvSpPr>
        <p:spPr>
          <a:xfrm>
            <a:off x="3197880" y="613080"/>
            <a:ext cx="12758760" cy="62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36000">
              <a:lnSpc>
                <a:spcPts val="4912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4610" b="0" u="none" strike="noStrike">
                <a:solidFill>
                  <a:schemeClr val="lt1"/>
                </a:solidFill>
                <a:effectLst/>
                <a:uFillTx/>
                <a:latin typeface="Poppins Semi-Bold"/>
                <a:ea typeface="DejaVu Sans"/>
              </a:rPr>
              <a:t>Advanced Data Types</a:t>
            </a:r>
            <a:endParaRPr lang="en-US" sz="46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Freeform 86"/>
          <p:cNvSpPr/>
          <p:nvPr/>
        </p:nvSpPr>
        <p:spPr>
          <a:xfrm>
            <a:off x="16071840" y="9673920"/>
            <a:ext cx="2346120" cy="344160"/>
          </a:xfrm>
          <a:custGeom>
            <a:avLst/>
            <a:gdLst>
              <a:gd name="textAreaLeft" fmla="*/ 0 w 2346120"/>
              <a:gd name="textAreaRight" fmla="*/ 2347920 w 2346120"/>
              <a:gd name="textAreaTop" fmla="*/ 0 h 344160"/>
              <a:gd name="textAreaBottom" fmla="*/ 345960 h 344160"/>
            </a:gdLst>
            <a:ahLst/>
            <a:cxnLst/>
            <a:rect l="textAreaLeft" t="textAreaTop" r="textAreaRight" b="textAreaBottom"/>
            <a:pathLst>
              <a:path w="2293806" h="337815">
                <a:moveTo>
                  <a:pt x="0" y="0"/>
                </a:moveTo>
                <a:lnTo>
                  <a:pt x="2293806" y="0"/>
                </a:lnTo>
                <a:lnTo>
                  <a:pt x="2293806" y="337815"/>
                </a:lnTo>
                <a:lnTo>
                  <a:pt x="0" y="33781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4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3" name="TextBox 90"/>
          <p:cNvSpPr/>
          <p:nvPr/>
        </p:nvSpPr>
        <p:spPr>
          <a:xfrm>
            <a:off x="2971800" y="1649160"/>
            <a:ext cx="13943160" cy="439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457200" defTabSz="914400">
              <a:lnSpc>
                <a:spcPct val="200000"/>
              </a:lnSpc>
            </a:pPr>
            <a:r>
              <a:rPr lang="en-GB" sz="3600" b="1" u="none" strike="noStrike">
                <a:solidFill>
                  <a:schemeClr val="accent6"/>
                </a:solidFill>
                <a:effectLst/>
                <a:uFillTx/>
                <a:latin typeface="Calibri"/>
                <a:ea typeface="Noto Sans CJK SC"/>
              </a:rPr>
              <a:t>Structs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You all  know structs, it’s a container, composite or record for a set of values.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  <a:spcBef>
                <a:spcPts val="1191"/>
              </a:spcBef>
              <a:spcAft>
                <a:spcPts val="992"/>
              </a:spcAf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4" name=""/>
          <p:cNvPicPr/>
          <p:nvPr/>
        </p:nvPicPr>
        <p:blipFill>
          <a:blip r:embed="rId5"/>
          <a:stretch/>
        </p:blipFill>
        <p:spPr>
          <a:xfrm>
            <a:off x="314640" y="4572000"/>
            <a:ext cx="1741320" cy="5446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5" name=""/>
          <p:cNvPicPr/>
          <p:nvPr/>
        </p:nvPicPr>
        <p:blipFill>
          <a:blip r:embed="rId6"/>
          <a:stretch/>
        </p:blipFill>
        <p:spPr>
          <a:xfrm>
            <a:off x="3432240" y="3657600"/>
            <a:ext cx="10053720" cy="389340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push dir="u"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Freeform 87"/>
          <p:cNvSpPr/>
          <p:nvPr/>
        </p:nvSpPr>
        <p:spPr>
          <a:xfrm>
            <a:off x="1739880" y="498600"/>
            <a:ext cx="15485400" cy="1526760"/>
          </a:xfrm>
          <a:custGeom>
            <a:avLst/>
            <a:gdLst>
              <a:gd name="textAreaLeft" fmla="*/ 0 w 15485400"/>
              <a:gd name="textAreaRight" fmla="*/ 15487200 w 15485400"/>
              <a:gd name="textAreaTop" fmla="*/ 0 h 1526760"/>
              <a:gd name="textAreaBottom" fmla="*/ 1528560 h 1526760"/>
            </a:gdLst>
            <a:ahLst/>
            <a:cxnLst/>
            <a:rect l="textAreaLeft" t="textAreaTop" r="textAreaRight" b="textAreaBottom"/>
            <a:pathLst>
              <a:path w="15129861" h="1493264">
                <a:moveTo>
                  <a:pt x="0" y="0"/>
                </a:moveTo>
                <a:lnTo>
                  <a:pt x="15129861" y="0"/>
                </a:lnTo>
                <a:lnTo>
                  <a:pt x="15129861" y="1493264"/>
                </a:lnTo>
                <a:lnTo>
                  <a:pt x="0" y="149326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endParaRPr lang="en-US" sz="4610" b="0" u="none" strike="noStrike">
              <a:solidFill>
                <a:schemeClr val="lt1"/>
              </a:solidFill>
              <a:effectLst/>
              <a:uFillTx/>
              <a:latin typeface="Poppins Semi-Bold"/>
            </a:endParaRPr>
          </a:p>
        </p:txBody>
      </p:sp>
      <p:sp>
        <p:nvSpPr>
          <p:cNvPr id="337" name="TextBox 91"/>
          <p:cNvSpPr/>
          <p:nvPr/>
        </p:nvSpPr>
        <p:spPr>
          <a:xfrm>
            <a:off x="3197880" y="613080"/>
            <a:ext cx="12758760" cy="62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36000">
              <a:lnSpc>
                <a:spcPts val="4912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4610" b="0" u="none" strike="noStrike">
                <a:solidFill>
                  <a:schemeClr val="lt1"/>
                </a:solidFill>
                <a:effectLst/>
                <a:uFillTx/>
                <a:latin typeface="Poppins Semi-Bold"/>
                <a:ea typeface="DejaVu Sans"/>
              </a:rPr>
              <a:t>Advanced Data Types</a:t>
            </a:r>
            <a:endParaRPr lang="en-US" sz="46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Freeform 88"/>
          <p:cNvSpPr/>
          <p:nvPr/>
        </p:nvSpPr>
        <p:spPr>
          <a:xfrm>
            <a:off x="16071840" y="9673920"/>
            <a:ext cx="2346120" cy="344160"/>
          </a:xfrm>
          <a:custGeom>
            <a:avLst/>
            <a:gdLst>
              <a:gd name="textAreaLeft" fmla="*/ 0 w 2346120"/>
              <a:gd name="textAreaRight" fmla="*/ 2347920 w 2346120"/>
              <a:gd name="textAreaTop" fmla="*/ 0 h 344160"/>
              <a:gd name="textAreaBottom" fmla="*/ 345960 h 344160"/>
            </a:gdLst>
            <a:ahLst/>
            <a:cxnLst/>
            <a:rect l="textAreaLeft" t="textAreaTop" r="textAreaRight" b="textAreaBottom"/>
            <a:pathLst>
              <a:path w="2293806" h="337815">
                <a:moveTo>
                  <a:pt x="0" y="0"/>
                </a:moveTo>
                <a:lnTo>
                  <a:pt x="2293806" y="0"/>
                </a:lnTo>
                <a:lnTo>
                  <a:pt x="2293806" y="337815"/>
                </a:lnTo>
                <a:lnTo>
                  <a:pt x="0" y="33781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4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9" name="TextBox 92"/>
          <p:cNvSpPr/>
          <p:nvPr/>
        </p:nvSpPr>
        <p:spPr>
          <a:xfrm>
            <a:off x="2971800" y="1649160"/>
            <a:ext cx="13943160" cy="512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457200" defTabSz="914400">
              <a:lnSpc>
                <a:spcPct val="200000"/>
              </a:lnSpc>
            </a:pPr>
            <a:r>
              <a:rPr lang="en-GB" sz="3600" b="1" u="none" strike="noStrike">
                <a:solidFill>
                  <a:schemeClr val="accent6"/>
                </a:solidFill>
                <a:effectLst/>
                <a:uFillTx/>
                <a:latin typeface="Calibri"/>
                <a:ea typeface="Noto Sans CJK SC"/>
              </a:rPr>
              <a:t>Structs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In Go, </a:t>
            </a:r>
            <a:r>
              <a:rPr lang="en-GB" sz="2400" b="0" u="none" strike="noStrike">
                <a:solidFill>
                  <a:srgbClr val="FF7B59"/>
                </a:solidFill>
                <a:effectLst/>
                <a:uFillTx/>
                <a:latin typeface="Calibri"/>
                <a:ea typeface="Noto Sans CJK SC"/>
              </a:rPr>
              <a:t>methods</a:t>
            </a: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 can be tied to a type (like a </a:t>
            </a:r>
            <a:r>
              <a:rPr lang="en-GB" sz="2400" b="0" u="none" strike="noStrike">
                <a:solidFill>
                  <a:srgbClr val="FF7B59"/>
                </a:solidFill>
                <a:effectLst/>
                <a:uFillTx/>
                <a:latin typeface="Calibri"/>
                <a:ea typeface="Noto Sans CJK SC"/>
              </a:rPr>
              <a:t>struct</a:t>
            </a: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), but the function itself still exists separately, it’s not like a class method in Java. You can call the method on a </a:t>
            </a:r>
            <a:r>
              <a:rPr lang="en-GB" sz="2400" b="0" u="none" strike="noStrike">
                <a:solidFill>
                  <a:srgbClr val="FF7B59"/>
                </a:solidFill>
                <a:effectLst/>
                <a:uFillTx/>
                <a:latin typeface="Calibri"/>
                <a:ea typeface="Noto Sans CJK SC"/>
              </a:rPr>
              <a:t>receiver</a:t>
            </a: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 (the struct receives the method Summary).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  <a:spcBef>
                <a:spcPts val="1191"/>
              </a:spcBef>
              <a:spcAft>
                <a:spcPts val="992"/>
              </a:spcAf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0" name=""/>
          <p:cNvPicPr/>
          <p:nvPr/>
        </p:nvPicPr>
        <p:blipFill>
          <a:blip r:embed="rId5"/>
          <a:stretch/>
        </p:blipFill>
        <p:spPr>
          <a:xfrm>
            <a:off x="314640" y="4572000"/>
            <a:ext cx="1741320" cy="5446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1" name=""/>
          <p:cNvPicPr/>
          <p:nvPr/>
        </p:nvPicPr>
        <p:blipFill>
          <a:blip r:embed="rId6"/>
          <a:stretch/>
        </p:blipFill>
        <p:spPr>
          <a:xfrm>
            <a:off x="3886200" y="4572000"/>
            <a:ext cx="8456760" cy="495828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push dir="u"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Freeform 25"/>
          <p:cNvSpPr/>
          <p:nvPr/>
        </p:nvSpPr>
        <p:spPr>
          <a:xfrm>
            <a:off x="1739880" y="498600"/>
            <a:ext cx="15485400" cy="1526760"/>
          </a:xfrm>
          <a:custGeom>
            <a:avLst/>
            <a:gdLst>
              <a:gd name="textAreaLeft" fmla="*/ 0 w 15485400"/>
              <a:gd name="textAreaRight" fmla="*/ 15487200 w 15485400"/>
              <a:gd name="textAreaTop" fmla="*/ 0 h 1526760"/>
              <a:gd name="textAreaBottom" fmla="*/ 1528560 h 1526760"/>
            </a:gdLst>
            <a:ahLst/>
            <a:cxnLst/>
            <a:rect l="textAreaLeft" t="textAreaTop" r="textAreaRight" b="textAreaBottom"/>
            <a:pathLst>
              <a:path w="15129861" h="1493264">
                <a:moveTo>
                  <a:pt x="0" y="0"/>
                </a:moveTo>
                <a:lnTo>
                  <a:pt x="15129861" y="0"/>
                </a:lnTo>
                <a:lnTo>
                  <a:pt x="15129861" y="1493264"/>
                </a:lnTo>
                <a:lnTo>
                  <a:pt x="0" y="149326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endParaRPr lang="en-US" sz="4610" b="0" u="none" strike="noStrike">
              <a:solidFill>
                <a:schemeClr val="lt1"/>
              </a:solidFill>
              <a:effectLst/>
              <a:uFillTx/>
              <a:latin typeface="Poppins Semi-Bold"/>
            </a:endParaRPr>
          </a:p>
        </p:txBody>
      </p:sp>
      <p:sp>
        <p:nvSpPr>
          <p:cNvPr id="343" name="TextBox 24"/>
          <p:cNvSpPr/>
          <p:nvPr/>
        </p:nvSpPr>
        <p:spPr>
          <a:xfrm>
            <a:off x="3197880" y="613080"/>
            <a:ext cx="12758760" cy="62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36000">
              <a:lnSpc>
                <a:spcPts val="4912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4610" b="0" u="none" strike="noStrike">
                <a:solidFill>
                  <a:schemeClr val="lt1"/>
                </a:solidFill>
                <a:effectLst/>
                <a:uFillTx/>
                <a:latin typeface="Poppins Semi-Bold"/>
                <a:ea typeface="DejaVu Sans"/>
              </a:rPr>
              <a:t>Advanced Data Types</a:t>
            </a:r>
            <a:endParaRPr lang="en-US" sz="46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Freeform 26"/>
          <p:cNvSpPr/>
          <p:nvPr/>
        </p:nvSpPr>
        <p:spPr>
          <a:xfrm>
            <a:off x="16071840" y="9673920"/>
            <a:ext cx="2346120" cy="344160"/>
          </a:xfrm>
          <a:custGeom>
            <a:avLst/>
            <a:gdLst>
              <a:gd name="textAreaLeft" fmla="*/ 0 w 2346120"/>
              <a:gd name="textAreaRight" fmla="*/ 2347920 w 2346120"/>
              <a:gd name="textAreaTop" fmla="*/ 0 h 344160"/>
              <a:gd name="textAreaBottom" fmla="*/ 345960 h 344160"/>
            </a:gdLst>
            <a:ahLst/>
            <a:cxnLst/>
            <a:rect l="textAreaLeft" t="textAreaTop" r="textAreaRight" b="textAreaBottom"/>
            <a:pathLst>
              <a:path w="2293806" h="337815">
                <a:moveTo>
                  <a:pt x="0" y="0"/>
                </a:moveTo>
                <a:lnTo>
                  <a:pt x="2293806" y="0"/>
                </a:lnTo>
                <a:lnTo>
                  <a:pt x="2293806" y="337815"/>
                </a:lnTo>
                <a:lnTo>
                  <a:pt x="0" y="33781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4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5" name="TextBox 25"/>
          <p:cNvSpPr/>
          <p:nvPr/>
        </p:nvSpPr>
        <p:spPr>
          <a:xfrm>
            <a:off x="2971800" y="1649160"/>
            <a:ext cx="13487400" cy="439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457200" defTabSz="914400">
              <a:lnSpc>
                <a:spcPct val="200000"/>
              </a:lnSpc>
            </a:pPr>
            <a:r>
              <a:rPr lang="en-GB" sz="3600" b="1" u="none" strike="noStrike">
                <a:solidFill>
                  <a:schemeClr val="accent6"/>
                </a:solidFill>
                <a:effectLst/>
                <a:uFillTx/>
                <a:latin typeface="Calibri"/>
                <a:ea typeface="Noto Sans CJK SC"/>
              </a:rPr>
              <a:t>Structs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A </a:t>
            </a:r>
            <a:r>
              <a:rPr lang="en-GB" sz="2400" b="0" u="none" strike="noStrike">
                <a:solidFill>
                  <a:srgbClr val="FF7B59"/>
                </a:solidFill>
                <a:effectLst/>
                <a:uFillTx/>
                <a:latin typeface="Calibri"/>
                <a:ea typeface="Noto Sans CJK SC"/>
              </a:rPr>
              <a:t>receiver</a:t>
            </a: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 looks very confusing, but can be thought of a </a:t>
            </a: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syntactic sugar</a:t>
            </a: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  <a:spcBef>
                <a:spcPts val="1191"/>
              </a:spcBef>
              <a:spcAft>
                <a:spcPts val="992"/>
              </a:spcAf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6" name=""/>
          <p:cNvPicPr/>
          <p:nvPr/>
        </p:nvPicPr>
        <p:blipFill>
          <a:blip r:embed="rId5"/>
          <a:stretch/>
        </p:blipFill>
        <p:spPr>
          <a:xfrm>
            <a:off x="314640" y="4572000"/>
            <a:ext cx="1741320" cy="5446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7" name=""/>
          <p:cNvPicPr/>
          <p:nvPr/>
        </p:nvPicPr>
        <p:blipFill>
          <a:blip r:embed="rId6"/>
          <a:stretch/>
        </p:blipFill>
        <p:spPr>
          <a:xfrm>
            <a:off x="3630240" y="3658680"/>
            <a:ext cx="6199560" cy="646920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push dir="u"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Freeform 89"/>
          <p:cNvSpPr/>
          <p:nvPr/>
        </p:nvSpPr>
        <p:spPr>
          <a:xfrm>
            <a:off x="1739880" y="498600"/>
            <a:ext cx="15485400" cy="1526760"/>
          </a:xfrm>
          <a:custGeom>
            <a:avLst/>
            <a:gdLst>
              <a:gd name="textAreaLeft" fmla="*/ 0 w 15485400"/>
              <a:gd name="textAreaRight" fmla="*/ 15487200 w 15485400"/>
              <a:gd name="textAreaTop" fmla="*/ 0 h 1526760"/>
              <a:gd name="textAreaBottom" fmla="*/ 1528560 h 1526760"/>
            </a:gdLst>
            <a:ahLst/>
            <a:cxnLst/>
            <a:rect l="textAreaLeft" t="textAreaTop" r="textAreaRight" b="textAreaBottom"/>
            <a:pathLst>
              <a:path w="15129861" h="1493264">
                <a:moveTo>
                  <a:pt x="0" y="0"/>
                </a:moveTo>
                <a:lnTo>
                  <a:pt x="15129861" y="0"/>
                </a:lnTo>
                <a:lnTo>
                  <a:pt x="15129861" y="1493264"/>
                </a:lnTo>
                <a:lnTo>
                  <a:pt x="0" y="149326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endParaRPr lang="en-US" sz="4610" b="0" u="none" strike="noStrike">
              <a:solidFill>
                <a:schemeClr val="lt1"/>
              </a:solidFill>
              <a:effectLst/>
              <a:uFillTx/>
              <a:latin typeface="Poppins Semi-Bold"/>
            </a:endParaRPr>
          </a:p>
        </p:txBody>
      </p:sp>
      <p:sp>
        <p:nvSpPr>
          <p:cNvPr id="349" name="TextBox 93"/>
          <p:cNvSpPr/>
          <p:nvPr/>
        </p:nvSpPr>
        <p:spPr>
          <a:xfrm>
            <a:off x="3197880" y="613080"/>
            <a:ext cx="12758760" cy="62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36000">
              <a:lnSpc>
                <a:spcPts val="4912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4610" b="0" u="none" strike="noStrike">
                <a:solidFill>
                  <a:schemeClr val="lt1"/>
                </a:solidFill>
                <a:effectLst/>
                <a:uFillTx/>
                <a:latin typeface="Poppins Semi-Bold"/>
                <a:ea typeface="DejaVu Sans"/>
              </a:rPr>
              <a:t>Advanced Data Types</a:t>
            </a:r>
            <a:endParaRPr lang="en-US" sz="46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Freeform 90"/>
          <p:cNvSpPr/>
          <p:nvPr/>
        </p:nvSpPr>
        <p:spPr>
          <a:xfrm>
            <a:off x="16071840" y="9673920"/>
            <a:ext cx="2346120" cy="344160"/>
          </a:xfrm>
          <a:custGeom>
            <a:avLst/>
            <a:gdLst>
              <a:gd name="textAreaLeft" fmla="*/ 0 w 2346120"/>
              <a:gd name="textAreaRight" fmla="*/ 2347920 w 2346120"/>
              <a:gd name="textAreaTop" fmla="*/ 0 h 344160"/>
              <a:gd name="textAreaBottom" fmla="*/ 345960 h 344160"/>
            </a:gdLst>
            <a:ahLst/>
            <a:cxnLst/>
            <a:rect l="textAreaLeft" t="textAreaTop" r="textAreaRight" b="textAreaBottom"/>
            <a:pathLst>
              <a:path w="2293806" h="337815">
                <a:moveTo>
                  <a:pt x="0" y="0"/>
                </a:moveTo>
                <a:lnTo>
                  <a:pt x="2293806" y="0"/>
                </a:lnTo>
                <a:lnTo>
                  <a:pt x="2293806" y="337815"/>
                </a:lnTo>
                <a:lnTo>
                  <a:pt x="0" y="33781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4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1" name="TextBox 94"/>
          <p:cNvSpPr/>
          <p:nvPr/>
        </p:nvSpPr>
        <p:spPr>
          <a:xfrm>
            <a:off x="2971800" y="1649160"/>
            <a:ext cx="13943160" cy="439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457200" defTabSz="914400">
              <a:lnSpc>
                <a:spcPct val="200000"/>
              </a:lnSpc>
            </a:pPr>
            <a:r>
              <a:rPr lang="en-GB" sz="3600" b="1" u="none" strike="noStrike">
                <a:solidFill>
                  <a:schemeClr val="accent6"/>
                </a:solidFill>
                <a:effectLst/>
                <a:uFillTx/>
                <a:latin typeface="Calibri"/>
                <a:ea typeface="Noto Sans CJK SC"/>
              </a:rPr>
              <a:t>Structs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Receivers with pointers can be compared to “this” in an object, it will update the reference.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  <a:spcBef>
                <a:spcPts val="1191"/>
              </a:spcBef>
              <a:spcAft>
                <a:spcPts val="992"/>
              </a:spcAf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2" name=""/>
          <p:cNvPicPr/>
          <p:nvPr/>
        </p:nvPicPr>
        <p:blipFill>
          <a:blip r:embed="rId5"/>
          <a:stretch/>
        </p:blipFill>
        <p:spPr>
          <a:xfrm>
            <a:off x="314640" y="4572000"/>
            <a:ext cx="1741320" cy="5446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3" name=""/>
          <p:cNvPicPr/>
          <p:nvPr/>
        </p:nvPicPr>
        <p:blipFill>
          <a:blip r:embed="rId6"/>
          <a:stretch/>
        </p:blipFill>
        <p:spPr>
          <a:xfrm>
            <a:off x="3429000" y="3680640"/>
            <a:ext cx="8456760" cy="591912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push dir="u"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Freeform 113"/>
          <p:cNvSpPr/>
          <p:nvPr/>
        </p:nvSpPr>
        <p:spPr>
          <a:xfrm>
            <a:off x="1739880" y="498600"/>
            <a:ext cx="15485400" cy="1526760"/>
          </a:xfrm>
          <a:custGeom>
            <a:avLst/>
            <a:gdLst>
              <a:gd name="textAreaLeft" fmla="*/ 0 w 15485400"/>
              <a:gd name="textAreaRight" fmla="*/ 15487200 w 15485400"/>
              <a:gd name="textAreaTop" fmla="*/ 0 h 1526760"/>
              <a:gd name="textAreaBottom" fmla="*/ 1528560 h 1526760"/>
            </a:gdLst>
            <a:ahLst/>
            <a:cxnLst/>
            <a:rect l="textAreaLeft" t="textAreaTop" r="textAreaRight" b="textAreaBottom"/>
            <a:pathLst>
              <a:path w="15129861" h="1493264">
                <a:moveTo>
                  <a:pt x="0" y="0"/>
                </a:moveTo>
                <a:lnTo>
                  <a:pt x="15129861" y="0"/>
                </a:lnTo>
                <a:lnTo>
                  <a:pt x="15129861" y="1493264"/>
                </a:lnTo>
                <a:lnTo>
                  <a:pt x="0" y="149326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endParaRPr lang="en-US" sz="4610" b="0" u="none" strike="noStrike">
              <a:solidFill>
                <a:schemeClr val="lt1"/>
              </a:solidFill>
              <a:effectLst/>
              <a:uFillTx/>
              <a:latin typeface="Poppins Semi-Bold"/>
            </a:endParaRPr>
          </a:p>
        </p:txBody>
      </p:sp>
      <p:sp>
        <p:nvSpPr>
          <p:cNvPr id="355" name="TextBox 118"/>
          <p:cNvSpPr/>
          <p:nvPr/>
        </p:nvSpPr>
        <p:spPr>
          <a:xfrm>
            <a:off x="3197880" y="613080"/>
            <a:ext cx="12758760" cy="62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36000">
              <a:lnSpc>
                <a:spcPts val="4912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4610" b="0" u="none" strike="noStrike">
                <a:solidFill>
                  <a:schemeClr val="lt1"/>
                </a:solidFill>
                <a:effectLst/>
                <a:uFillTx/>
                <a:latin typeface="Poppins Semi-Bold"/>
                <a:ea typeface="DejaVu Sans"/>
              </a:rPr>
              <a:t>Advanced Data Types</a:t>
            </a:r>
            <a:endParaRPr lang="en-US" sz="46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Freeform 114"/>
          <p:cNvSpPr/>
          <p:nvPr/>
        </p:nvSpPr>
        <p:spPr>
          <a:xfrm>
            <a:off x="16071840" y="9673920"/>
            <a:ext cx="2346120" cy="344160"/>
          </a:xfrm>
          <a:custGeom>
            <a:avLst/>
            <a:gdLst>
              <a:gd name="textAreaLeft" fmla="*/ 0 w 2346120"/>
              <a:gd name="textAreaRight" fmla="*/ 2347920 w 2346120"/>
              <a:gd name="textAreaTop" fmla="*/ 0 h 344160"/>
              <a:gd name="textAreaBottom" fmla="*/ 345960 h 344160"/>
            </a:gdLst>
            <a:ahLst/>
            <a:cxnLst/>
            <a:rect l="textAreaLeft" t="textAreaTop" r="textAreaRight" b="textAreaBottom"/>
            <a:pathLst>
              <a:path w="2293806" h="337815">
                <a:moveTo>
                  <a:pt x="0" y="0"/>
                </a:moveTo>
                <a:lnTo>
                  <a:pt x="2293806" y="0"/>
                </a:lnTo>
                <a:lnTo>
                  <a:pt x="2293806" y="337815"/>
                </a:lnTo>
                <a:lnTo>
                  <a:pt x="0" y="33781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4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7" name="TextBox 119"/>
          <p:cNvSpPr/>
          <p:nvPr/>
        </p:nvSpPr>
        <p:spPr>
          <a:xfrm>
            <a:off x="2971800" y="1649160"/>
            <a:ext cx="13943160" cy="512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457200" defTabSz="914400">
              <a:lnSpc>
                <a:spcPct val="200000"/>
              </a:lnSpc>
            </a:pPr>
            <a:r>
              <a:rPr lang="en-GB" sz="3600" b="1" u="none" strike="noStrike">
                <a:solidFill>
                  <a:schemeClr val="accent6"/>
                </a:solidFill>
                <a:effectLst/>
                <a:uFillTx/>
                <a:latin typeface="Calibri"/>
                <a:ea typeface="Noto Sans CJK SC"/>
              </a:rPr>
              <a:t>A quick note on pointers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Go has (and uses) </a:t>
            </a:r>
            <a:r>
              <a:rPr lang="en-GB" sz="2400" b="0" u="none" strike="noStrike">
                <a:solidFill>
                  <a:srgbClr val="FF7B59"/>
                </a:solidFill>
                <a:effectLst/>
                <a:uFillTx/>
                <a:latin typeface="Calibri"/>
                <a:ea typeface="Noto Sans CJK SC"/>
              </a:rPr>
              <a:t>pointers</a:t>
            </a: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, but the declaration is slightly different from C. Any assignment with a memory address is considered a pointer! The </a:t>
            </a:r>
            <a:r>
              <a:rPr lang="en-GB" sz="2400" b="0" u="none" strike="noStrike">
                <a:solidFill>
                  <a:srgbClr val="729FCF"/>
                </a:solidFill>
                <a:effectLst/>
                <a:uFillTx/>
                <a:latin typeface="Calibri"/>
                <a:ea typeface="Noto Sans CJK SC"/>
              </a:rPr>
              <a:t>dereference done auto-magically in structs</a:t>
            </a: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  <a:spcBef>
                <a:spcPts val="1191"/>
              </a:spcBef>
              <a:spcAft>
                <a:spcPts val="992"/>
              </a:spcAf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8" name=""/>
          <p:cNvPicPr/>
          <p:nvPr/>
        </p:nvPicPr>
        <p:blipFill>
          <a:blip r:embed="rId5"/>
          <a:stretch/>
        </p:blipFill>
        <p:spPr>
          <a:xfrm>
            <a:off x="314640" y="4572000"/>
            <a:ext cx="1741320" cy="5446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9" name=""/>
          <p:cNvPicPr/>
          <p:nvPr/>
        </p:nvPicPr>
        <p:blipFill>
          <a:blip r:embed="rId6"/>
          <a:stretch/>
        </p:blipFill>
        <p:spPr>
          <a:xfrm>
            <a:off x="3547800" y="4658400"/>
            <a:ext cx="10623960" cy="2198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0" name=""/>
          <p:cNvPicPr/>
          <p:nvPr/>
        </p:nvPicPr>
        <p:blipFill>
          <a:blip r:embed="rId7"/>
          <a:stretch/>
        </p:blipFill>
        <p:spPr>
          <a:xfrm>
            <a:off x="8915400" y="7086600"/>
            <a:ext cx="7291800" cy="250956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push dir="u"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Freeform 23"/>
          <p:cNvSpPr/>
          <p:nvPr/>
        </p:nvSpPr>
        <p:spPr>
          <a:xfrm>
            <a:off x="1739880" y="498600"/>
            <a:ext cx="15485400" cy="1526760"/>
          </a:xfrm>
          <a:custGeom>
            <a:avLst/>
            <a:gdLst>
              <a:gd name="textAreaLeft" fmla="*/ 0 w 15485400"/>
              <a:gd name="textAreaRight" fmla="*/ 15487200 w 15485400"/>
              <a:gd name="textAreaTop" fmla="*/ 0 h 1526760"/>
              <a:gd name="textAreaBottom" fmla="*/ 1528560 h 1526760"/>
            </a:gdLst>
            <a:ahLst/>
            <a:cxnLst/>
            <a:rect l="textAreaLeft" t="textAreaTop" r="textAreaRight" b="textAreaBottom"/>
            <a:pathLst>
              <a:path w="15129861" h="1493264">
                <a:moveTo>
                  <a:pt x="0" y="0"/>
                </a:moveTo>
                <a:lnTo>
                  <a:pt x="15129861" y="0"/>
                </a:lnTo>
                <a:lnTo>
                  <a:pt x="15129861" y="1493264"/>
                </a:lnTo>
                <a:lnTo>
                  <a:pt x="0" y="149326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endParaRPr lang="en-US" sz="4610" b="0" u="none" strike="noStrike">
              <a:solidFill>
                <a:schemeClr val="lt1"/>
              </a:solidFill>
              <a:effectLst/>
              <a:uFillTx/>
              <a:latin typeface="Poppins Semi-Bold"/>
            </a:endParaRPr>
          </a:p>
        </p:txBody>
      </p:sp>
      <p:sp>
        <p:nvSpPr>
          <p:cNvPr id="362" name="TextBox 22"/>
          <p:cNvSpPr/>
          <p:nvPr/>
        </p:nvSpPr>
        <p:spPr>
          <a:xfrm>
            <a:off x="3197880" y="613080"/>
            <a:ext cx="12758760" cy="62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36000">
              <a:lnSpc>
                <a:spcPts val="4912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4610" b="0" u="none" strike="noStrike">
                <a:solidFill>
                  <a:schemeClr val="lt1"/>
                </a:solidFill>
                <a:effectLst/>
                <a:uFillTx/>
                <a:latin typeface="Poppins Semi-Bold"/>
                <a:ea typeface="DejaVu Sans"/>
              </a:rPr>
              <a:t>Advanced Data Types</a:t>
            </a:r>
            <a:endParaRPr lang="en-US" sz="46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Freeform 24"/>
          <p:cNvSpPr/>
          <p:nvPr/>
        </p:nvSpPr>
        <p:spPr>
          <a:xfrm>
            <a:off x="16071840" y="9673920"/>
            <a:ext cx="2346120" cy="344160"/>
          </a:xfrm>
          <a:custGeom>
            <a:avLst/>
            <a:gdLst>
              <a:gd name="textAreaLeft" fmla="*/ 0 w 2346120"/>
              <a:gd name="textAreaRight" fmla="*/ 2347920 w 2346120"/>
              <a:gd name="textAreaTop" fmla="*/ 0 h 344160"/>
              <a:gd name="textAreaBottom" fmla="*/ 345960 h 344160"/>
            </a:gdLst>
            <a:ahLst/>
            <a:cxnLst/>
            <a:rect l="textAreaLeft" t="textAreaTop" r="textAreaRight" b="textAreaBottom"/>
            <a:pathLst>
              <a:path w="2293806" h="337815">
                <a:moveTo>
                  <a:pt x="0" y="0"/>
                </a:moveTo>
                <a:lnTo>
                  <a:pt x="2293806" y="0"/>
                </a:lnTo>
                <a:lnTo>
                  <a:pt x="2293806" y="337815"/>
                </a:lnTo>
                <a:lnTo>
                  <a:pt x="0" y="33781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4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4" name="TextBox 23"/>
          <p:cNvSpPr/>
          <p:nvPr/>
        </p:nvSpPr>
        <p:spPr>
          <a:xfrm>
            <a:off x="2971800" y="1649160"/>
            <a:ext cx="13943160" cy="439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457200" defTabSz="914400">
              <a:lnSpc>
                <a:spcPct val="200000"/>
              </a:lnSpc>
            </a:pPr>
            <a:r>
              <a:rPr lang="en-GB" sz="3600" b="1" u="none" strike="noStrike">
                <a:solidFill>
                  <a:schemeClr val="accent6"/>
                </a:solidFill>
                <a:effectLst/>
                <a:uFillTx/>
                <a:latin typeface="Calibri"/>
                <a:ea typeface="Noto Sans CJK SC"/>
              </a:rPr>
              <a:t>Custom Types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We can also add methods to the  custom </a:t>
            </a:r>
            <a:r>
              <a:rPr lang="en-GB" sz="2400" b="0" u="none" strike="noStrike">
                <a:solidFill>
                  <a:srgbClr val="729FCF"/>
                </a:solidFill>
                <a:effectLst/>
                <a:uFillTx/>
                <a:latin typeface="Calibri"/>
                <a:ea typeface="Noto Sans CJK SC"/>
              </a:rPr>
              <a:t>HTTPStatus</a:t>
            </a: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 type just as with a </a:t>
            </a:r>
            <a:r>
              <a:rPr lang="en-GB" sz="2400" b="0" u="none" strike="noStrike">
                <a:solidFill>
                  <a:srgbClr val="729FCF"/>
                </a:solidFill>
                <a:effectLst/>
                <a:uFillTx/>
                <a:latin typeface="Calibri"/>
                <a:ea typeface="Noto Sans CJK SC"/>
              </a:rPr>
              <a:t>Struct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  <a:spcBef>
                <a:spcPts val="1191"/>
              </a:spcBef>
              <a:spcAft>
                <a:spcPts val="992"/>
              </a:spcAf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5" name=""/>
          <p:cNvPicPr/>
          <p:nvPr/>
        </p:nvPicPr>
        <p:blipFill>
          <a:blip r:embed="rId5"/>
          <a:stretch/>
        </p:blipFill>
        <p:spPr>
          <a:xfrm>
            <a:off x="314640" y="4572000"/>
            <a:ext cx="1741320" cy="5446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6" name=""/>
          <p:cNvPicPr/>
          <p:nvPr/>
        </p:nvPicPr>
        <p:blipFill>
          <a:blip r:embed="rId6"/>
          <a:stretch/>
        </p:blipFill>
        <p:spPr>
          <a:xfrm>
            <a:off x="3525480" y="3706200"/>
            <a:ext cx="8386920" cy="383652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push dir="u"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Freeform 93"/>
          <p:cNvSpPr/>
          <p:nvPr/>
        </p:nvSpPr>
        <p:spPr>
          <a:xfrm>
            <a:off x="1739880" y="498600"/>
            <a:ext cx="15485400" cy="1526760"/>
          </a:xfrm>
          <a:custGeom>
            <a:avLst/>
            <a:gdLst>
              <a:gd name="textAreaLeft" fmla="*/ 0 w 15485400"/>
              <a:gd name="textAreaRight" fmla="*/ 15487200 w 15485400"/>
              <a:gd name="textAreaTop" fmla="*/ 0 h 1526760"/>
              <a:gd name="textAreaBottom" fmla="*/ 1528560 h 1526760"/>
            </a:gdLst>
            <a:ahLst/>
            <a:cxnLst/>
            <a:rect l="textAreaLeft" t="textAreaTop" r="textAreaRight" b="textAreaBottom"/>
            <a:pathLst>
              <a:path w="15129861" h="1493264">
                <a:moveTo>
                  <a:pt x="0" y="0"/>
                </a:moveTo>
                <a:lnTo>
                  <a:pt x="15129861" y="0"/>
                </a:lnTo>
                <a:lnTo>
                  <a:pt x="15129861" y="1493264"/>
                </a:lnTo>
                <a:lnTo>
                  <a:pt x="0" y="149326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endParaRPr lang="en-US" sz="4610" b="0" u="none" strike="noStrike">
              <a:solidFill>
                <a:schemeClr val="lt1"/>
              </a:solidFill>
              <a:effectLst/>
              <a:uFillTx/>
              <a:latin typeface="Poppins Semi-Bold"/>
            </a:endParaRPr>
          </a:p>
        </p:txBody>
      </p:sp>
      <p:sp>
        <p:nvSpPr>
          <p:cNvPr id="368" name="TextBox 97"/>
          <p:cNvSpPr/>
          <p:nvPr/>
        </p:nvSpPr>
        <p:spPr>
          <a:xfrm>
            <a:off x="3197880" y="613080"/>
            <a:ext cx="12758760" cy="62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36000">
              <a:lnSpc>
                <a:spcPts val="4912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4610" b="0" u="none" strike="noStrike">
                <a:solidFill>
                  <a:schemeClr val="lt1"/>
                </a:solidFill>
                <a:effectLst/>
                <a:uFillTx/>
                <a:latin typeface="Poppins Semi-Bold"/>
                <a:ea typeface="DejaVu Sans"/>
              </a:rPr>
              <a:t>Advanced Data Types</a:t>
            </a:r>
            <a:endParaRPr lang="en-US" sz="46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Freeform 94"/>
          <p:cNvSpPr/>
          <p:nvPr/>
        </p:nvSpPr>
        <p:spPr>
          <a:xfrm>
            <a:off x="16071840" y="9673920"/>
            <a:ext cx="2346120" cy="344160"/>
          </a:xfrm>
          <a:custGeom>
            <a:avLst/>
            <a:gdLst>
              <a:gd name="textAreaLeft" fmla="*/ 0 w 2346120"/>
              <a:gd name="textAreaRight" fmla="*/ 2347920 w 2346120"/>
              <a:gd name="textAreaTop" fmla="*/ 0 h 344160"/>
              <a:gd name="textAreaBottom" fmla="*/ 345960 h 344160"/>
            </a:gdLst>
            <a:ahLst/>
            <a:cxnLst/>
            <a:rect l="textAreaLeft" t="textAreaTop" r="textAreaRight" b="textAreaBottom"/>
            <a:pathLst>
              <a:path w="2293806" h="337815">
                <a:moveTo>
                  <a:pt x="0" y="0"/>
                </a:moveTo>
                <a:lnTo>
                  <a:pt x="2293806" y="0"/>
                </a:lnTo>
                <a:lnTo>
                  <a:pt x="2293806" y="337815"/>
                </a:lnTo>
                <a:lnTo>
                  <a:pt x="0" y="33781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4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0" name="TextBox 98"/>
          <p:cNvSpPr/>
          <p:nvPr/>
        </p:nvSpPr>
        <p:spPr>
          <a:xfrm>
            <a:off x="2971800" y="1649160"/>
            <a:ext cx="13943160" cy="439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457200" defTabSz="914400">
              <a:lnSpc>
                <a:spcPct val="200000"/>
              </a:lnSpc>
            </a:pPr>
            <a:r>
              <a:rPr lang="en-GB" sz="3600" b="1" u="none" strike="noStrike">
                <a:solidFill>
                  <a:schemeClr val="accent6"/>
                </a:solidFill>
                <a:effectLst/>
                <a:uFillTx/>
                <a:latin typeface="Calibri"/>
                <a:ea typeface="Noto Sans CJK SC"/>
              </a:rPr>
              <a:t>Custom Types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Now we have a very strong HTTP response handler using </a:t>
            </a:r>
            <a:r>
              <a:rPr lang="en-GB" sz="2400" b="0" u="none" strike="noStrike">
                <a:solidFill>
                  <a:srgbClr val="729FCF"/>
                </a:solidFill>
                <a:effectLst/>
                <a:uFillTx/>
                <a:latin typeface="Calibri"/>
                <a:ea typeface="Noto Sans CJK SC"/>
              </a:rPr>
              <a:t>structs</a:t>
            </a: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 and custom </a:t>
            </a:r>
            <a:r>
              <a:rPr lang="en-GB" sz="2400" b="0" u="none" strike="noStrike">
                <a:solidFill>
                  <a:srgbClr val="729FCF"/>
                </a:solidFill>
                <a:effectLst/>
                <a:uFillTx/>
                <a:latin typeface="Calibri"/>
                <a:ea typeface="Noto Sans CJK SC"/>
              </a:rPr>
              <a:t>data types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  <a:spcBef>
                <a:spcPts val="1191"/>
              </a:spcBef>
              <a:spcAft>
                <a:spcPts val="992"/>
              </a:spcAf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2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1" name=""/>
          <p:cNvPicPr/>
          <p:nvPr/>
        </p:nvPicPr>
        <p:blipFill>
          <a:blip r:embed="rId5"/>
          <a:stretch/>
        </p:blipFill>
        <p:spPr>
          <a:xfrm>
            <a:off x="314640" y="4572000"/>
            <a:ext cx="1741320" cy="5446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2" name=""/>
          <p:cNvPicPr/>
          <p:nvPr/>
        </p:nvPicPr>
        <p:blipFill>
          <a:blip r:embed="rId6"/>
          <a:stretch/>
        </p:blipFill>
        <p:spPr>
          <a:xfrm>
            <a:off x="3573000" y="3657600"/>
            <a:ext cx="10276200" cy="342900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push dir="u"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505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TextBox 116"/>
          <p:cNvSpPr/>
          <p:nvPr/>
        </p:nvSpPr>
        <p:spPr>
          <a:xfrm>
            <a:off x="1130040" y="3277080"/>
            <a:ext cx="11352960" cy="100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7883"/>
              </a:lnSpc>
            </a:pPr>
            <a:r>
              <a:rPr lang="en-GB" sz="5630" b="0" u="none" strike="noStrike">
                <a:solidFill>
                  <a:srgbClr val="729FCF"/>
                </a:solidFill>
                <a:effectLst/>
                <a:uFillTx/>
                <a:latin typeface="Poppins Semi-Bold"/>
                <a:ea typeface="DejaVu Sans"/>
              </a:rPr>
              <a:t>Exercise – Parse Server Logs</a:t>
            </a:r>
            <a:endParaRPr lang="en-US" sz="56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4" name="Freeform 111"/>
          <p:cNvSpPr/>
          <p:nvPr/>
        </p:nvSpPr>
        <p:spPr>
          <a:xfrm>
            <a:off x="1053000" y="931680"/>
            <a:ext cx="4097160" cy="601920"/>
          </a:xfrm>
          <a:custGeom>
            <a:avLst/>
            <a:gdLst>
              <a:gd name="textAreaLeft" fmla="*/ 0 w 4097160"/>
              <a:gd name="textAreaRight" fmla="*/ 4098960 w 4097160"/>
              <a:gd name="textAreaTop" fmla="*/ 0 h 601920"/>
              <a:gd name="textAreaBottom" fmla="*/ 603720 h 601920"/>
            </a:gdLst>
            <a:ahLst/>
            <a:cxnLst/>
            <a:rect l="textAreaLeft" t="textAreaTop" r="textAreaRight" b="textAreaBottom"/>
            <a:pathLst>
              <a:path w="4004526" h="589757">
                <a:moveTo>
                  <a:pt x="0" y="0"/>
                </a:moveTo>
                <a:lnTo>
                  <a:pt x="4004526" y="0"/>
                </a:lnTo>
                <a:lnTo>
                  <a:pt x="4004526" y="589757"/>
                </a:lnTo>
                <a:lnTo>
                  <a:pt x="0" y="58975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4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5" name="TextBox 117"/>
          <p:cNvSpPr/>
          <p:nvPr/>
        </p:nvSpPr>
        <p:spPr>
          <a:xfrm>
            <a:off x="914400" y="4127040"/>
            <a:ext cx="10971000" cy="41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Can you </a:t>
            </a:r>
            <a:r>
              <a:rPr lang="en-GB" sz="2400" b="0" u="none" strike="noStrike">
                <a:solidFill>
                  <a:srgbClr val="729FCF"/>
                </a:solidFill>
                <a:effectLst/>
                <a:uFillTx/>
                <a:latin typeface="Calibri"/>
                <a:ea typeface="Noto Sans CJK SC"/>
              </a:rPr>
              <a:t>read</a:t>
            </a: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 my log file and </a:t>
            </a:r>
            <a:r>
              <a:rPr lang="en-GB" sz="2400" b="0" u="none" strike="noStrike">
                <a:solidFill>
                  <a:srgbClr val="729FCF"/>
                </a:solidFill>
                <a:effectLst/>
                <a:uFillTx/>
                <a:latin typeface="Calibri"/>
                <a:ea typeface="Noto Sans CJK SC"/>
              </a:rPr>
              <a:t>parse</a:t>
            </a: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 it into a </a:t>
            </a:r>
            <a:r>
              <a:rPr lang="en-GB" sz="2400" b="0" u="none" strike="noStrike">
                <a:solidFill>
                  <a:srgbClr val="FF7B59"/>
                </a:solidFill>
                <a:effectLst/>
                <a:uFillTx/>
                <a:latin typeface="Calibri"/>
                <a:ea typeface="Noto Sans CJK SC"/>
              </a:rPr>
              <a:t>slice</a:t>
            </a:r>
            <a:r>
              <a:rPr lang="en-GB" sz="2400" b="0" u="none" strike="noStrike">
                <a:solidFill>
                  <a:srgbClr val="729FCF"/>
                </a:solidFill>
                <a:effectLst/>
                <a:uFillTx/>
                <a:latin typeface="Calibri"/>
                <a:ea typeface="Noto Sans CJK SC"/>
              </a:rPr>
              <a:t> of </a:t>
            </a:r>
            <a:r>
              <a:rPr lang="en-GB" sz="2400" b="0" u="none" strike="noStrike">
                <a:solidFill>
                  <a:srgbClr val="FF7B59"/>
                </a:solidFill>
                <a:effectLst/>
                <a:uFillTx/>
                <a:latin typeface="Calibri"/>
                <a:ea typeface="Noto Sans CJK SC"/>
              </a:rPr>
              <a:t>structs</a:t>
            </a: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?</a:t>
            </a:r>
            <a:br>
              <a:rPr sz="2400"/>
            </a:b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 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00280" lvl="1" indent="-343080" defTabSz="91440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Download the logbook: </a:t>
            </a:r>
            <a:r>
              <a:rPr lang="en-GB" sz="2400" b="0" u="none" strike="noStrike">
                <a:solidFill>
                  <a:srgbClr val="0000FF"/>
                </a:solidFill>
                <a:effectLst/>
                <a:uFillTx/>
                <a:latin typeface="Calibri"/>
                <a:ea typeface="Noto Sans CJK SC"/>
                <a:hlinkClick r:id="rId3"/>
              </a:rPr>
              <a:t>https://pastebin.com/fbW8wUZ7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00280" lvl="1" indent="-343080" defTabSz="91440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Log format: </a:t>
            </a:r>
            <a:r>
              <a:rPr lang="en-GB" sz="2400" b="0" u="none" strike="noStrike">
                <a:solidFill>
                  <a:srgbClr val="729FCF"/>
                </a:solidFill>
                <a:effectLst/>
                <a:uFillTx/>
                <a:latin typeface="Calibri"/>
                <a:ea typeface="Noto Sans CJK SC"/>
              </a:rPr>
              <a:t>IP - - [Timestamp] "METHOD PATH PROTOCOL" STATUS SIZE "REFERER" "USER-AGENT"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00280" lvl="1" indent="-343080" defTabSz="91440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Parse the record into a struct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76" name=""/>
          <p:cNvPicPr/>
          <p:nvPr/>
        </p:nvPicPr>
        <p:blipFill>
          <a:blip r:embed="rId4"/>
          <a:stretch/>
        </p:blipFill>
        <p:spPr>
          <a:xfrm>
            <a:off x="11076480" y="4277880"/>
            <a:ext cx="5610960" cy="3063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505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TextBox 26"/>
          <p:cNvSpPr/>
          <p:nvPr/>
        </p:nvSpPr>
        <p:spPr>
          <a:xfrm>
            <a:off x="1130040" y="3277080"/>
            <a:ext cx="16013520" cy="100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7883"/>
              </a:lnSpc>
            </a:pPr>
            <a:r>
              <a:rPr lang="en-GB" sz="5630" b="0" u="none" strike="noStrike">
                <a:solidFill>
                  <a:schemeClr val="accent6"/>
                </a:solidFill>
                <a:effectLst/>
                <a:uFillTx/>
                <a:latin typeface="Poppins Semi-Bold"/>
                <a:ea typeface="DejaVu Sans"/>
              </a:rPr>
              <a:t> 0x05 - Golang != OOP</a:t>
            </a:r>
            <a:endParaRPr lang="en-US" sz="56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378" name="Group 10"/>
          <p:cNvGrpSpPr/>
          <p:nvPr/>
        </p:nvGrpSpPr>
        <p:grpSpPr>
          <a:xfrm>
            <a:off x="11482200" y="1690920"/>
            <a:ext cx="5847120" cy="6106680"/>
            <a:chOff x="11482200" y="1690920"/>
            <a:chExt cx="5847120" cy="6106680"/>
          </a:xfrm>
        </p:grpSpPr>
        <p:sp>
          <p:nvSpPr>
            <p:cNvPr id="379" name="Freeform 27"/>
            <p:cNvSpPr/>
            <p:nvPr/>
          </p:nvSpPr>
          <p:spPr>
            <a:xfrm>
              <a:off x="11482200" y="1690920"/>
              <a:ext cx="5847120" cy="6106680"/>
            </a:xfrm>
            <a:custGeom>
              <a:avLst/>
              <a:gdLst>
                <a:gd name="textAreaLeft" fmla="*/ 0 w 5847120"/>
                <a:gd name="textAreaRight" fmla="*/ 5848920 w 5847120"/>
                <a:gd name="textAreaTop" fmla="*/ 0 h 6106680"/>
                <a:gd name="textAreaBottom" fmla="*/ 6108480 h 6106680"/>
              </a:gdLst>
              <a:ahLst/>
              <a:cxnLst/>
              <a:rect l="textAreaLeft" t="textAreaTop" r="textAreaRight" b="textAreaBottom"/>
              <a:pathLst>
                <a:path w="7618603" h="7956550">
                  <a:moveTo>
                    <a:pt x="0" y="0"/>
                  </a:moveTo>
                  <a:lnTo>
                    <a:pt x="7618603" y="0"/>
                  </a:lnTo>
                  <a:lnTo>
                    <a:pt x="7618603" y="7956550"/>
                  </a:lnTo>
                  <a:lnTo>
                    <a:pt x="0" y="79565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4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380" name="Freeform 28"/>
          <p:cNvSpPr/>
          <p:nvPr/>
        </p:nvSpPr>
        <p:spPr>
          <a:xfrm>
            <a:off x="1053000" y="931680"/>
            <a:ext cx="4097160" cy="601920"/>
          </a:xfrm>
          <a:custGeom>
            <a:avLst/>
            <a:gdLst>
              <a:gd name="textAreaLeft" fmla="*/ 0 w 4097160"/>
              <a:gd name="textAreaRight" fmla="*/ 4098960 w 4097160"/>
              <a:gd name="textAreaTop" fmla="*/ 0 h 601920"/>
              <a:gd name="textAreaBottom" fmla="*/ 603720 h 601920"/>
            </a:gdLst>
            <a:ahLst/>
            <a:cxnLst/>
            <a:rect l="textAreaLeft" t="textAreaTop" r="textAreaRight" b="textAreaBottom"/>
            <a:pathLst>
              <a:path w="4004526" h="589757">
                <a:moveTo>
                  <a:pt x="0" y="0"/>
                </a:moveTo>
                <a:lnTo>
                  <a:pt x="4004526" y="0"/>
                </a:lnTo>
                <a:lnTo>
                  <a:pt x="4004526" y="589757"/>
                </a:lnTo>
                <a:lnTo>
                  <a:pt x="0" y="58975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4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1" name="TextBox 27"/>
          <p:cNvSpPr/>
          <p:nvPr/>
        </p:nvSpPr>
        <p:spPr>
          <a:xfrm>
            <a:off x="914400" y="4390920"/>
            <a:ext cx="10971000" cy="298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No classes or inheritance, but composition and interfaces.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lvl="1" indent="-216000" defTabSz="914400">
              <a:lnSpc>
                <a:spcPct val="150000"/>
              </a:lnSpc>
              <a:spcBef>
                <a:spcPts val="5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Noto Sans CJK SC"/>
              </a:rPr>
              <a:t>Let’s look at composition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lvl="1" indent="-216000" defTabSz="914400">
              <a:lnSpc>
                <a:spcPct val="150000"/>
              </a:lnSpc>
              <a:spcBef>
                <a:spcPts val="5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Noto Sans CJK SC"/>
              </a:rPr>
              <a:t>Interfaces are not (strictly) implemented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lvl="1" indent="-216000" defTabSz="914400">
              <a:lnSpc>
                <a:spcPct val="150000"/>
              </a:lnSpc>
              <a:spcBef>
                <a:spcPts val="5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Noto Sans CJK SC"/>
              </a:rPr>
              <a:t>The Observer Pattern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Freeform 95"/>
          <p:cNvSpPr/>
          <p:nvPr/>
        </p:nvSpPr>
        <p:spPr>
          <a:xfrm>
            <a:off x="1739880" y="498600"/>
            <a:ext cx="15485400" cy="1526760"/>
          </a:xfrm>
          <a:custGeom>
            <a:avLst/>
            <a:gdLst>
              <a:gd name="textAreaLeft" fmla="*/ 0 w 15485400"/>
              <a:gd name="textAreaRight" fmla="*/ 15487200 w 15485400"/>
              <a:gd name="textAreaTop" fmla="*/ 0 h 1526760"/>
              <a:gd name="textAreaBottom" fmla="*/ 1528560 h 1526760"/>
            </a:gdLst>
            <a:ahLst/>
            <a:cxnLst/>
            <a:rect l="textAreaLeft" t="textAreaTop" r="textAreaRight" b="textAreaBottom"/>
            <a:pathLst>
              <a:path w="15129861" h="1493264">
                <a:moveTo>
                  <a:pt x="0" y="0"/>
                </a:moveTo>
                <a:lnTo>
                  <a:pt x="15129861" y="0"/>
                </a:lnTo>
                <a:lnTo>
                  <a:pt x="15129861" y="1493264"/>
                </a:lnTo>
                <a:lnTo>
                  <a:pt x="0" y="149326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endParaRPr lang="en-US" sz="4610" b="0" u="none" strike="noStrike">
              <a:solidFill>
                <a:schemeClr val="lt1"/>
              </a:solidFill>
              <a:effectLst/>
              <a:uFillTx/>
              <a:latin typeface="Poppins Semi-Bold"/>
            </a:endParaRPr>
          </a:p>
        </p:txBody>
      </p:sp>
      <p:sp>
        <p:nvSpPr>
          <p:cNvPr id="383" name="TextBox 3"/>
          <p:cNvSpPr/>
          <p:nvPr/>
        </p:nvSpPr>
        <p:spPr>
          <a:xfrm>
            <a:off x="3197880" y="613080"/>
            <a:ext cx="12758760" cy="62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36000">
              <a:lnSpc>
                <a:spcPts val="4912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4610" b="0" u="none" strike="noStrike">
                <a:solidFill>
                  <a:schemeClr val="lt1"/>
                </a:solidFill>
                <a:effectLst/>
                <a:uFillTx/>
                <a:latin typeface="Poppins Semi-Bold"/>
                <a:ea typeface="DejaVu Sans"/>
              </a:rPr>
              <a:t>Golang != OOP</a:t>
            </a:r>
            <a:endParaRPr lang="en-US" sz="46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Freeform 96"/>
          <p:cNvSpPr/>
          <p:nvPr/>
        </p:nvSpPr>
        <p:spPr>
          <a:xfrm>
            <a:off x="16071840" y="9673920"/>
            <a:ext cx="2346120" cy="344160"/>
          </a:xfrm>
          <a:custGeom>
            <a:avLst/>
            <a:gdLst>
              <a:gd name="textAreaLeft" fmla="*/ 0 w 2346120"/>
              <a:gd name="textAreaRight" fmla="*/ 2347920 w 2346120"/>
              <a:gd name="textAreaTop" fmla="*/ 0 h 344160"/>
              <a:gd name="textAreaBottom" fmla="*/ 345960 h 344160"/>
            </a:gdLst>
            <a:ahLst/>
            <a:cxnLst/>
            <a:rect l="textAreaLeft" t="textAreaTop" r="textAreaRight" b="textAreaBottom"/>
            <a:pathLst>
              <a:path w="2293806" h="337815">
                <a:moveTo>
                  <a:pt x="0" y="0"/>
                </a:moveTo>
                <a:lnTo>
                  <a:pt x="2293806" y="0"/>
                </a:lnTo>
                <a:lnTo>
                  <a:pt x="2293806" y="337815"/>
                </a:lnTo>
                <a:lnTo>
                  <a:pt x="0" y="33781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4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5" name="TextBox 99"/>
          <p:cNvSpPr/>
          <p:nvPr/>
        </p:nvSpPr>
        <p:spPr>
          <a:xfrm>
            <a:off x="2971800" y="1649160"/>
            <a:ext cx="1394316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457200" defTabSz="914400">
              <a:lnSpc>
                <a:spcPct val="200000"/>
              </a:lnSpc>
            </a:pPr>
            <a:r>
              <a:rPr lang="en-GB" sz="3600" b="1" u="none" strike="noStrike">
                <a:solidFill>
                  <a:schemeClr val="accent6"/>
                </a:solidFill>
                <a:effectLst/>
                <a:uFillTx/>
                <a:latin typeface="Calibri"/>
                <a:ea typeface="Noto Sans CJK SC"/>
              </a:rPr>
              <a:t>Forget about Object Oriented Programming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6" name=""/>
          <p:cNvPicPr/>
          <p:nvPr/>
        </p:nvPicPr>
        <p:blipFill>
          <a:blip r:embed="rId5"/>
          <a:stretch/>
        </p:blipFill>
        <p:spPr>
          <a:xfrm>
            <a:off x="314640" y="4572000"/>
            <a:ext cx="1741320" cy="5446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7" name=""/>
          <p:cNvSpPr/>
          <p:nvPr/>
        </p:nvSpPr>
        <p:spPr>
          <a:xfrm>
            <a:off x="3429000" y="3109320"/>
            <a:ext cx="13860360" cy="22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Go doesn’t have classes. </a:t>
            </a: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DejaVu Sans"/>
              </a:rPr>
              <a:t>Instead, Go uses </a:t>
            </a:r>
            <a:r>
              <a:rPr lang="en-GB" sz="2400" b="0" u="none" strike="noStrike">
                <a:solidFill>
                  <a:srgbClr val="729FCF"/>
                </a:solidFill>
                <a:effectLst/>
                <a:uFillTx/>
                <a:latin typeface="Calibri"/>
                <a:ea typeface="DejaVu Sans"/>
              </a:rPr>
              <a:t>structs</a:t>
            </a: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DejaVu Sans"/>
              </a:rPr>
              <a:t> and </a:t>
            </a:r>
            <a:r>
              <a:rPr lang="en-GB" sz="2400" b="0" u="none" strike="noStrike">
                <a:solidFill>
                  <a:srgbClr val="729FCF"/>
                </a:solidFill>
                <a:effectLst/>
                <a:uFillTx/>
                <a:latin typeface="Calibri"/>
                <a:ea typeface="DejaVu Sans"/>
              </a:rPr>
              <a:t>interfaces</a:t>
            </a: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DejaVu Sans"/>
              </a:rPr>
              <a:t>, instead you build through </a:t>
            </a:r>
            <a:r>
              <a:rPr lang="en-GB" sz="2400" b="0" u="none" strike="noStrike">
                <a:solidFill>
                  <a:srgbClr val="729FCF"/>
                </a:solidFill>
                <a:effectLst/>
                <a:uFillTx/>
                <a:latin typeface="Calibri"/>
                <a:ea typeface="DejaVu Sans"/>
              </a:rPr>
              <a:t>composition</a:t>
            </a: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DejaVu Sans"/>
              </a:rPr>
              <a:t>, not </a:t>
            </a:r>
            <a:r>
              <a:rPr lang="en-GB" sz="2400" b="0" u="none" strike="noStrike">
                <a:solidFill>
                  <a:srgbClr val="729FCF"/>
                </a:solidFill>
                <a:effectLst/>
                <a:uFillTx/>
                <a:latin typeface="Calibri"/>
                <a:ea typeface="DejaVu Sans"/>
              </a:rPr>
              <a:t>inheritance</a:t>
            </a: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DejaVu Sans"/>
              </a:rPr>
              <a:t>.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DejaVu Sans"/>
              </a:rPr>
              <a:t>A simple way to thing of it is </a:t>
            </a:r>
            <a:r>
              <a:rPr lang="en-GB" sz="240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“</a:t>
            </a:r>
            <a:r>
              <a:rPr lang="en-GB" sz="2400" b="1" i="1" u="none" strike="noStrik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combining  lego blocks to solve a problem, rather than building a new lego block for every problem”</a:t>
            </a:r>
            <a:r>
              <a:rPr lang="en-GB" sz="240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 </a:t>
            </a:r>
            <a:r>
              <a:rPr lang="en-GB" sz="2400" b="0" i="1" u="none" strike="noStrike">
                <a:solidFill>
                  <a:schemeClr val="lt1"/>
                </a:solidFill>
                <a:effectLst/>
                <a:uFillTx/>
                <a:latin typeface="Calibri"/>
                <a:ea typeface="DejaVu Sans"/>
              </a:rPr>
              <a:t>– Mitchel 2025</a:t>
            </a: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DejaVu Sans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"/>
          <p:cNvSpPr txBox="1"/>
          <p:nvPr/>
        </p:nvSpPr>
        <p:spPr>
          <a:xfrm>
            <a:off x="13716000" y="8976960"/>
            <a:ext cx="4800600" cy="395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NL" sz="2400" b="0" u="sng" strike="noStrike">
                <a:solidFill>
                  <a:schemeClr val="accent1"/>
                </a:solidFill>
                <a:effectLst/>
                <a:uFillTx/>
                <a:latin typeface="Calibri"/>
                <a:ea typeface="DejaVu Sans"/>
                <a:hlinkClick r:id="rId6"/>
              </a:rPr>
              <a:t>The Flaws of Inheritance  (video)</a:t>
            </a:r>
            <a:endParaRPr lang="en-US" sz="2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slow">
    <p:push dir="u"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Freeform 97"/>
          <p:cNvSpPr/>
          <p:nvPr/>
        </p:nvSpPr>
        <p:spPr>
          <a:xfrm>
            <a:off x="1739880" y="498600"/>
            <a:ext cx="15485400" cy="1526760"/>
          </a:xfrm>
          <a:custGeom>
            <a:avLst/>
            <a:gdLst>
              <a:gd name="textAreaLeft" fmla="*/ 0 w 15485400"/>
              <a:gd name="textAreaRight" fmla="*/ 15487200 w 15485400"/>
              <a:gd name="textAreaTop" fmla="*/ 0 h 1526760"/>
              <a:gd name="textAreaBottom" fmla="*/ 1528560 h 1526760"/>
            </a:gdLst>
            <a:ahLst/>
            <a:cxnLst/>
            <a:rect l="textAreaLeft" t="textAreaTop" r="textAreaRight" b="textAreaBottom"/>
            <a:pathLst>
              <a:path w="15129861" h="1493264">
                <a:moveTo>
                  <a:pt x="0" y="0"/>
                </a:moveTo>
                <a:lnTo>
                  <a:pt x="15129861" y="0"/>
                </a:lnTo>
                <a:lnTo>
                  <a:pt x="15129861" y="1493264"/>
                </a:lnTo>
                <a:lnTo>
                  <a:pt x="0" y="149326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endParaRPr lang="en-US" sz="4610" b="0" u="none" strike="noStrike">
              <a:solidFill>
                <a:schemeClr val="lt1"/>
              </a:solidFill>
              <a:effectLst/>
              <a:uFillTx/>
              <a:latin typeface="Poppins Semi-Bold"/>
            </a:endParaRPr>
          </a:p>
        </p:txBody>
      </p:sp>
      <p:sp>
        <p:nvSpPr>
          <p:cNvPr id="390" name="TextBox 100"/>
          <p:cNvSpPr/>
          <p:nvPr/>
        </p:nvSpPr>
        <p:spPr>
          <a:xfrm>
            <a:off x="3197880" y="613080"/>
            <a:ext cx="12758760" cy="62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36000">
              <a:lnSpc>
                <a:spcPts val="4912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4610" b="0" u="none" strike="noStrike">
                <a:solidFill>
                  <a:schemeClr val="lt1"/>
                </a:solidFill>
                <a:effectLst/>
                <a:uFillTx/>
                <a:latin typeface="Poppins Semi-Bold"/>
                <a:ea typeface="DejaVu Sans"/>
              </a:rPr>
              <a:t>Golang != OOP</a:t>
            </a:r>
            <a:endParaRPr lang="en-US" sz="46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Freeform 98"/>
          <p:cNvSpPr/>
          <p:nvPr/>
        </p:nvSpPr>
        <p:spPr>
          <a:xfrm>
            <a:off x="16071840" y="9673920"/>
            <a:ext cx="2346120" cy="344160"/>
          </a:xfrm>
          <a:custGeom>
            <a:avLst/>
            <a:gdLst>
              <a:gd name="textAreaLeft" fmla="*/ 0 w 2346120"/>
              <a:gd name="textAreaRight" fmla="*/ 2347920 w 2346120"/>
              <a:gd name="textAreaTop" fmla="*/ 0 h 344160"/>
              <a:gd name="textAreaBottom" fmla="*/ 345960 h 344160"/>
            </a:gdLst>
            <a:ahLst/>
            <a:cxnLst/>
            <a:rect l="textAreaLeft" t="textAreaTop" r="textAreaRight" b="textAreaBottom"/>
            <a:pathLst>
              <a:path w="2293806" h="337815">
                <a:moveTo>
                  <a:pt x="0" y="0"/>
                </a:moveTo>
                <a:lnTo>
                  <a:pt x="2293806" y="0"/>
                </a:lnTo>
                <a:lnTo>
                  <a:pt x="2293806" y="337815"/>
                </a:lnTo>
                <a:lnTo>
                  <a:pt x="0" y="33781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4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2" name="TextBox 101"/>
          <p:cNvSpPr/>
          <p:nvPr/>
        </p:nvSpPr>
        <p:spPr>
          <a:xfrm>
            <a:off x="2971800" y="1649160"/>
            <a:ext cx="1394316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457200" defTabSz="914400">
              <a:lnSpc>
                <a:spcPct val="200000"/>
              </a:lnSpc>
            </a:pPr>
            <a:r>
              <a:rPr lang="en-GB" sz="3600" b="1" u="none" strike="noStrike">
                <a:solidFill>
                  <a:schemeClr val="accent6"/>
                </a:solidFill>
                <a:effectLst/>
                <a:uFillTx/>
                <a:latin typeface="Calibri"/>
                <a:ea typeface="Noto Sans CJK SC"/>
              </a:rPr>
              <a:t>Lets look at composition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3" name=""/>
          <p:cNvPicPr/>
          <p:nvPr/>
        </p:nvPicPr>
        <p:blipFill>
          <a:blip r:embed="rId5"/>
          <a:stretch/>
        </p:blipFill>
        <p:spPr>
          <a:xfrm>
            <a:off x="314640" y="4572000"/>
            <a:ext cx="1741320" cy="5446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4" name=""/>
          <p:cNvSpPr/>
          <p:nvPr/>
        </p:nvSpPr>
        <p:spPr>
          <a:xfrm>
            <a:off x="3429000" y="3109320"/>
            <a:ext cx="13860360" cy="112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We can add </a:t>
            </a:r>
            <a:r>
              <a:rPr lang="en-GB" sz="2400" b="0" u="none" strike="noStrike">
                <a:solidFill>
                  <a:srgbClr val="729FCF"/>
                </a:solidFill>
                <a:effectLst/>
                <a:uFillTx/>
                <a:latin typeface="Calibri"/>
                <a:ea typeface="DejaVu Sans"/>
              </a:rPr>
              <a:t>components</a:t>
            </a:r>
            <a:r>
              <a:rPr lang="en-GB" sz="2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 (engine) to </a:t>
            </a:r>
            <a:r>
              <a:rPr lang="en-GB" sz="2400" b="0" u="none" strike="noStrike">
                <a:solidFill>
                  <a:srgbClr val="729FCF"/>
                </a:solidFill>
                <a:effectLst/>
                <a:uFillTx/>
                <a:latin typeface="Calibri"/>
                <a:ea typeface="DejaVu Sans"/>
              </a:rPr>
              <a:t>composites</a:t>
            </a:r>
            <a:r>
              <a:rPr lang="en-GB" sz="2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 (car) to create different cars, without creating super classes</a:t>
            </a: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DejaVu Sans"/>
              </a:rPr>
              <a:t>. Each composite is just a new arrangement of the same building blocks.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5" name=""/>
          <p:cNvPicPr/>
          <p:nvPr/>
        </p:nvPicPr>
        <p:blipFill>
          <a:blip r:embed="rId6"/>
          <a:stretch/>
        </p:blipFill>
        <p:spPr>
          <a:xfrm>
            <a:off x="3567600" y="4343400"/>
            <a:ext cx="6260760" cy="2332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6" name=""/>
          <p:cNvPicPr/>
          <p:nvPr/>
        </p:nvPicPr>
        <p:blipFill>
          <a:blip r:embed="rId7"/>
          <a:stretch/>
        </p:blipFill>
        <p:spPr>
          <a:xfrm>
            <a:off x="10972800" y="4343400"/>
            <a:ext cx="5484960" cy="31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7" name=""/>
          <p:cNvSpPr/>
          <p:nvPr/>
        </p:nvSpPr>
        <p:spPr>
          <a:xfrm>
            <a:off x="9829800" y="5257800"/>
            <a:ext cx="1600200" cy="360"/>
          </a:xfrm>
          <a:prstGeom prst="line">
            <a:avLst/>
          </a:prstGeom>
          <a:ln w="3672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8000" tIns="-27000" rIns="108000" bIns="-27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8" name=""/>
          <p:cNvPicPr/>
          <p:nvPr/>
        </p:nvPicPr>
        <p:blipFill>
          <a:blip r:embed="rId8"/>
          <a:stretch/>
        </p:blipFill>
        <p:spPr>
          <a:xfrm>
            <a:off x="4114800" y="7023600"/>
            <a:ext cx="3427560" cy="2347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9" name=""/>
          <p:cNvSpPr/>
          <p:nvPr/>
        </p:nvSpPr>
        <p:spPr>
          <a:xfrm flipH="1">
            <a:off x="7315200" y="6858000"/>
            <a:ext cx="3657600" cy="914400"/>
          </a:xfrm>
          <a:prstGeom prst="line">
            <a:avLst/>
          </a:prstGeom>
          <a:ln w="3672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8000" tIns="63000" rIns="108000" bIns="63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slow">
    <p:push dir="u"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Freeform 99"/>
          <p:cNvSpPr/>
          <p:nvPr/>
        </p:nvSpPr>
        <p:spPr>
          <a:xfrm>
            <a:off x="1739880" y="498600"/>
            <a:ext cx="15485400" cy="1526760"/>
          </a:xfrm>
          <a:custGeom>
            <a:avLst/>
            <a:gdLst>
              <a:gd name="textAreaLeft" fmla="*/ 0 w 15485400"/>
              <a:gd name="textAreaRight" fmla="*/ 15487200 w 15485400"/>
              <a:gd name="textAreaTop" fmla="*/ 0 h 1526760"/>
              <a:gd name="textAreaBottom" fmla="*/ 1528560 h 1526760"/>
            </a:gdLst>
            <a:ahLst/>
            <a:cxnLst/>
            <a:rect l="textAreaLeft" t="textAreaTop" r="textAreaRight" b="textAreaBottom"/>
            <a:pathLst>
              <a:path w="15129861" h="1493264">
                <a:moveTo>
                  <a:pt x="0" y="0"/>
                </a:moveTo>
                <a:lnTo>
                  <a:pt x="15129861" y="0"/>
                </a:lnTo>
                <a:lnTo>
                  <a:pt x="15129861" y="1493264"/>
                </a:lnTo>
                <a:lnTo>
                  <a:pt x="0" y="149326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endParaRPr lang="en-US" sz="4610" b="0" u="none" strike="noStrike">
              <a:solidFill>
                <a:schemeClr val="lt1"/>
              </a:solidFill>
              <a:effectLst/>
              <a:uFillTx/>
              <a:latin typeface="Poppins Semi-Bold"/>
            </a:endParaRPr>
          </a:p>
        </p:txBody>
      </p:sp>
      <p:sp>
        <p:nvSpPr>
          <p:cNvPr id="401" name="TextBox 102"/>
          <p:cNvSpPr/>
          <p:nvPr/>
        </p:nvSpPr>
        <p:spPr>
          <a:xfrm>
            <a:off x="3197880" y="613080"/>
            <a:ext cx="12758760" cy="62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36000">
              <a:lnSpc>
                <a:spcPts val="4912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4610" b="0" u="none" strike="noStrike">
                <a:solidFill>
                  <a:schemeClr val="lt1"/>
                </a:solidFill>
                <a:effectLst/>
                <a:uFillTx/>
                <a:latin typeface="Poppins Semi-Bold"/>
                <a:ea typeface="DejaVu Sans"/>
              </a:rPr>
              <a:t>Golang != OOP</a:t>
            </a:r>
            <a:endParaRPr lang="en-US" sz="46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Freeform 100"/>
          <p:cNvSpPr/>
          <p:nvPr/>
        </p:nvSpPr>
        <p:spPr>
          <a:xfrm>
            <a:off x="16071840" y="9673920"/>
            <a:ext cx="2346120" cy="344160"/>
          </a:xfrm>
          <a:custGeom>
            <a:avLst/>
            <a:gdLst>
              <a:gd name="textAreaLeft" fmla="*/ 0 w 2346120"/>
              <a:gd name="textAreaRight" fmla="*/ 2347920 w 2346120"/>
              <a:gd name="textAreaTop" fmla="*/ 0 h 344160"/>
              <a:gd name="textAreaBottom" fmla="*/ 345960 h 344160"/>
            </a:gdLst>
            <a:ahLst/>
            <a:cxnLst/>
            <a:rect l="textAreaLeft" t="textAreaTop" r="textAreaRight" b="textAreaBottom"/>
            <a:pathLst>
              <a:path w="2293806" h="337815">
                <a:moveTo>
                  <a:pt x="0" y="0"/>
                </a:moveTo>
                <a:lnTo>
                  <a:pt x="2293806" y="0"/>
                </a:lnTo>
                <a:lnTo>
                  <a:pt x="2293806" y="337815"/>
                </a:lnTo>
                <a:lnTo>
                  <a:pt x="0" y="33781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4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3" name="TextBox 103"/>
          <p:cNvSpPr/>
          <p:nvPr/>
        </p:nvSpPr>
        <p:spPr>
          <a:xfrm>
            <a:off x="2971800" y="1649160"/>
            <a:ext cx="1394316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457200" defTabSz="914400">
              <a:lnSpc>
                <a:spcPct val="200000"/>
              </a:lnSpc>
            </a:pPr>
            <a:r>
              <a:rPr lang="en-GB" sz="3600" b="1" u="none" strike="noStrike">
                <a:solidFill>
                  <a:schemeClr val="accent6"/>
                </a:solidFill>
                <a:effectLst/>
                <a:uFillTx/>
                <a:latin typeface="Calibri"/>
                <a:ea typeface="Noto Sans CJK SC"/>
              </a:rPr>
              <a:t>Interfaces are not (strictly) implemented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4" name=""/>
          <p:cNvPicPr/>
          <p:nvPr/>
        </p:nvPicPr>
        <p:blipFill>
          <a:blip r:embed="rId5"/>
          <a:stretch/>
        </p:blipFill>
        <p:spPr>
          <a:xfrm>
            <a:off x="314640" y="4572000"/>
            <a:ext cx="1741320" cy="5446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5" name=""/>
          <p:cNvSpPr/>
          <p:nvPr/>
        </p:nvSpPr>
        <p:spPr>
          <a:xfrm>
            <a:off x="3429000" y="3109320"/>
            <a:ext cx="1386036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DejaVu Sans"/>
              </a:rPr>
              <a:t>Rather, any </a:t>
            </a:r>
            <a:r>
              <a:rPr lang="en-GB" sz="2400" b="0" u="none" strike="noStrike">
                <a:solidFill>
                  <a:srgbClr val="FF7B59"/>
                </a:solidFill>
                <a:effectLst/>
                <a:uFillTx/>
                <a:latin typeface="Calibri"/>
                <a:ea typeface="DejaVu Sans"/>
              </a:rPr>
              <a:t>struct</a:t>
            </a: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DejaVu Sans"/>
              </a:rPr>
              <a:t> that meets the interface implementation… Implements the </a:t>
            </a:r>
            <a:r>
              <a:rPr lang="en-GB" sz="2400" b="0" u="none" strike="noStrike">
                <a:solidFill>
                  <a:srgbClr val="FF7B59"/>
                </a:solidFill>
                <a:effectLst/>
                <a:uFillTx/>
                <a:latin typeface="Calibri"/>
                <a:ea typeface="DejaVu Sans"/>
              </a:rPr>
              <a:t>interface</a:t>
            </a: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DejaVu Sans"/>
              </a:rPr>
              <a:t> when used as such.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6" name=""/>
          <p:cNvPicPr/>
          <p:nvPr/>
        </p:nvPicPr>
        <p:blipFill>
          <a:blip r:embed="rId6"/>
          <a:stretch/>
        </p:blipFill>
        <p:spPr>
          <a:xfrm>
            <a:off x="3512520" y="3783240"/>
            <a:ext cx="5858640" cy="513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7" name=""/>
          <p:cNvPicPr/>
          <p:nvPr/>
        </p:nvPicPr>
        <p:blipFill>
          <a:blip r:embed="rId7"/>
          <a:stretch/>
        </p:blipFill>
        <p:spPr>
          <a:xfrm>
            <a:off x="9699480" y="3835080"/>
            <a:ext cx="7215480" cy="576468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push dir="u"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Freeform 101"/>
          <p:cNvSpPr/>
          <p:nvPr/>
        </p:nvSpPr>
        <p:spPr>
          <a:xfrm>
            <a:off x="1739880" y="498600"/>
            <a:ext cx="15485400" cy="1526760"/>
          </a:xfrm>
          <a:custGeom>
            <a:avLst/>
            <a:gdLst>
              <a:gd name="textAreaLeft" fmla="*/ 0 w 15485400"/>
              <a:gd name="textAreaRight" fmla="*/ 15487200 w 15485400"/>
              <a:gd name="textAreaTop" fmla="*/ 0 h 1526760"/>
              <a:gd name="textAreaBottom" fmla="*/ 1528560 h 1526760"/>
            </a:gdLst>
            <a:ahLst/>
            <a:cxnLst/>
            <a:rect l="textAreaLeft" t="textAreaTop" r="textAreaRight" b="textAreaBottom"/>
            <a:pathLst>
              <a:path w="15129861" h="1493264">
                <a:moveTo>
                  <a:pt x="0" y="0"/>
                </a:moveTo>
                <a:lnTo>
                  <a:pt x="15129861" y="0"/>
                </a:lnTo>
                <a:lnTo>
                  <a:pt x="15129861" y="1493264"/>
                </a:lnTo>
                <a:lnTo>
                  <a:pt x="0" y="149326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endParaRPr lang="en-US" sz="4610" b="0" u="none" strike="noStrike">
              <a:solidFill>
                <a:schemeClr val="lt1"/>
              </a:solidFill>
              <a:effectLst/>
              <a:uFillTx/>
              <a:latin typeface="Poppins Semi-Bold"/>
            </a:endParaRPr>
          </a:p>
        </p:txBody>
      </p:sp>
      <p:sp>
        <p:nvSpPr>
          <p:cNvPr id="409" name="TextBox 104"/>
          <p:cNvSpPr/>
          <p:nvPr/>
        </p:nvSpPr>
        <p:spPr>
          <a:xfrm>
            <a:off x="3197880" y="613080"/>
            <a:ext cx="12758760" cy="62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36000">
              <a:lnSpc>
                <a:spcPts val="4912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4610" b="0" u="none" strike="noStrike">
                <a:solidFill>
                  <a:schemeClr val="lt1"/>
                </a:solidFill>
                <a:effectLst/>
                <a:uFillTx/>
                <a:latin typeface="Poppins Semi-Bold"/>
                <a:ea typeface="DejaVu Sans"/>
              </a:rPr>
              <a:t>Golang != OOP</a:t>
            </a:r>
            <a:endParaRPr lang="en-US" sz="46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Freeform 102"/>
          <p:cNvSpPr/>
          <p:nvPr/>
        </p:nvSpPr>
        <p:spPr>
          <a:xfrm>
            <a:off x="16071840" y="9673920"/>
            <a:ext cx="2346120" cy="344160"/>
          </a:xfrm>
          <a:custGeom>
            <a:avLst/>
            <a:gdLst>
              <a:gd name="textAreaLeft" fmla="*/ 0 w 2346120"/>
              <a:gd name="textAreaRight" fmla="*/ 2347920 w 2346120"/>
              <a:gd name="textAreaTop" fmla="*/ 0 h 344160"/>
              <a:gd name="textAreaBottom" fmla="*/ 345960 h 344160"/>
            </a:gdLst>
            <a:ahLst/>
            <a:cxnLst/>
            <a:rect l="textAreaLeft" t="textAreaTop" r="textAreaRight" b="textAreaBottom"/>
            <a:pathLst>
              <a:path w="2293806" h="337815">
                <a:moveTo>
                  <a:pt x="0" y="0"/>
                </a:moveTo>
                <a:lnTo>
                  <a:pt x="2293806" y="0"/>
                </a:lnTo>
                <a:lnTo>
                  <a:pt x="2293806" y="337815"/>
                </a:lnTo>
                <a:lnTo>
                  <a:pt x="0" y="33781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4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1" name="TextBox 105"/>
          <p:cNvSpPr/>
          <p:nvPr/>
        </p:nvSpPr>
        <p:spPr>
          <a:xfrm>
            <a:off x="2971800" y="1649160"/>
            <a:ext cx="1394316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457200" defTabSz="914400">
              <a:lnSpc>
                <a:spcPct val="200000"/>
              </a:lnSpc>
            </a:pPr>
            <a:r>
              <a:rPr lang="en-GB" sz="3600" b="1" u="none" strike="noStrike">
                <a:solidFill>
                  <a:schemeClr val="accent6"/>
                </a:solidFill>
                <a:effectLst/>
                <a:uFillTx/>
                <a:latin typeface="Calibri"/>
                <a:ea typeface="Noto Sans CJK SC"/>
              </a:rPr>
              <a:t>Let’s look at a the observer pattern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2" name=""/>
          <p:cNvPicPr/>
          <p:nvPr/>
        </p:nvPicPr>
        <p:blipFill>
          <a:blip r:embed="rId5"/>
          <a:stretch/>
        </p:blipFill>
        <p:spPr>
          <a:xfrm>
            <a:off x="314640" y="4572000"/>
            <a:ext cx="1741320" cy="5446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3" name=""/>
          <p:cNvSpPr/>
          <p:nvPr/>
        </p:nvSpPr>
        <p:spPr>
          <a:xfrm>
            <a:off x="3429000" y="3109320"/>
            <a:ext cx="13860360" cy="82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DejaVu Sans"/>
              </a:rPr>
              <a:t>How do we fire update events throughout our application?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4" name=""/>
          <p:cNvPicPr/>
          <p:nvPr/>
        </p:nvPicPr>
        <p:blipFill>
          <a:blip r:embed="rId6"/>
          <a:stretch/>
        </p:blipFill>
        <p:spPr>
          <a:xfrm>
            <a:off x="3657600" y="3668040"/>
            <a:ext cx="6890760" cy="3874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5" name=""/>
          <p:cNvSpPr/>
          <p:nvPr/>
        </p:nvSpPr>
        <p:spPr>
          <a:xfrm>
            <a:off x="3626640" y="7654320"/>
            <a:ext cx="50587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  <a:hlinkClick r:id="rId7"/>
              </a:rPr>
              <a:t>https://refactoring.guru/design-patterns/observer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slow">
    <p:push dir="u"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Freeform 103"/>
          <p:cNvSpPr/>
          <p:nvPr/>
        </p:nvSpPr>
        <p:spPr>
          <a:xfrm>
            <a:off x="1739880" y="498600"/>
            <a:ext cx="15485400" cy="1526760"/>
          </a:xfrm>
          <a:custGeom>
            <a:avLst/>
            <a:gdLst>
              <a:gd name="textAreaLeft" fmla="*/ 0 w 15485400"/>
              <a:gd name="textAreaRight" fmla="*/ 15487200 w 15485400"/>
              <a:gd name="textAreaTop" fmla="*/ 0 h 1526760"/>
              <a:gd name="textAreaBottom" fmla="*/ 1528560 h 1526760"/>
            </a:gdLst>
            <a:ahLst/>
            <a:cxnLst/>
            <a:rect l="textAreaLeft" t="textAreaTop" r="textAreaRight" b="textAreaBottom"/>
            <a:pathLst>
              <a:path w="15129861" h="1493264">
                <a:moveTo>
                  <a:pt x="0" y="0"/>
                </a:moveTo>
                <a:lnTo>
                  <a:pt x="15129861" y="0"/>
                </a:lnTo>
                <a:lnTo>
                  <a:pt x="15129861" y="1493264"/>
                </a:lnTo>
                <a:lnTo>
                  <a:pt x="0" y="149326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endParaRPr lang="en-US" sz="4610" b="0" u="none" strike="noStrike">
              <a:solidFill>
                <a:schemeClr val="lt1"/>
              </a:solidFill>
              <a:effectLst/>
              <a:uFillTx/>
              <a:latin typeface="Poppins Semi-Bold"/>
            </a:endParaRPr>
          </a:p>
        </p:txBody>
      </p:sp>
      <p:sp>
        <p:nvSpPr>
          <p:cNvPr id="417" name="TextBox 106"/>
          <p:cNvSpPr/>
          <p:nvPr/>
        </p:nvSpPr>
        <p:spPr>
          <a:xfrm>
            <a:off x="3197880" y="613080"/>
            <a:ext cx="12758760" cy="62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36000">
              <a:lnSpc>
                <a:spcPts val="4912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4610" b="0" u="none" strike="noStrike">
                <a:solidFill>
                  <a:schemeClr val="lt1"/>
                </a:solidFill>
                <a:effectLst/>
                <a:uFillTx/>
                <a:latin typeface="Poppins Semi-Bold"/>
                <a:ea typeface="DejaVu Sans"/>
              </a:rPr>
              <a:t>Golang != OOP</a:t>
            </a:r>
            <a:endParaRPr lang="en-US" sz="46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Freeform 104"/>
          <p:cNvSpPr/>
          <p:nvPr/>
        </p:nvSpPr>
        <p:spPr>
          <a:xfrm>
            <a:off x="16071840" y="9673920"/>
            <a:ext cx="2346120" cy="344160"/>
          </a:xfrm>
          <a:custGeom>
            <a:avLst/>
            <a:gdLst>
              <a:gd name="textAreaLeft" fmla="*/ 0 w 2346120"/>
              <a:gd name="textAreaRight" fmla="*/ 2347920 w 2346120"/>
              <a:gd name="textAreaTop" fmla="*/ 0 h 344160"/>
              <a:gd name="textAreaBottom" fmla="*/ 345960 h 344160"/>
            </a:gdLst>
            <a:ahLst/>
            <a:cxnLst/>
            <a:rect l="textAreaLeft" t="textAreaTop" r="textAreaRight" b="textAreaBottom"/>
            <a:pathLst>
              <a:path w="2293806" h="337815">
                <a:moveTo>
                  <a:pt x="0" y="0"/>
                </a:moveTo>
                <a:lnTo>
                  <a:pt x="2293806" y="0"/>
                </a:lnTo>
                <a:lnTo>
                  <a:pt x="2293806" y="337815"/>
                </a:lnTo>
                <a:lnTo>
                  <a:pt x="0" y="33781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4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9" name="TextBox 107"/>
          <p:cNvSpPr/>
          <p:nvPr/>
        </p:nvSpPr>
        <p:spPr>
          <a:xfrm>
            <a:off x="2971800" y="1649160"/>
            <a:ext cx="1394316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457200" defTabSz="914400">
              <a:lnSpc>
                <a:spcPct val="200000"/>
              </a:lnSpc>
            </a:pPr>
            <a:r>
              <a:rPr lang="en-GB" sz="3600" b="1" u="none" strike="noStrike">
                <a:solidFill>
                  <a:schemeClr val="accent6"/>
                </a:solidFill>
                <a:effectLst/>
                <a:uFillTx/>
                <a:latin typeface="Calibri"/>
                <a:ea typeface="Noto Sans CJK SC"/>
              </a:rPr>
              <a:t>Let’s look at a the observer pattern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0" name=""/>
          <p:cNvPicPr/>
          <p:nvPr/>
        </p:nvPicPr>
        <p:blipFill>
          <a:blip r:embed="rId5"/>
          <a:stretch/>
        </p:blipFill>
        <p:spPr>
          <a:xfrm>
            <a:off x="314640" y="4572000"/>
            <a:ext cx="1741320" cy="5446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1" name=""/>
          <p:cNvSpPr/>
          <p:nvPr/>
        </p:nvSpPr>
        <p:spPr>
          <a:xfrm>
            <a:off x="3429000" y="3109320"/>
            <a:ext cx="13860360" cy="82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DejaVu Sans"/>
              </a:rPr>
              <a:t>Publisher and Subscriber models (such as message queues) are a great solution.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"/>
          <p:cNvSpPr/>
          <p:nvPr/>
        </p:nvSpPr>
        <p:spPr>
          <a:xfrm>
            <a:off x="3572640" y="7315200"/>
            <a:ext cx="50587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  <a:hlinkClick r:id="rId6"/>
              </a:rPr>
              <a:t>https://refactoring.guru/design-patterns/observer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3" name=""/>
          <p:cNvPicPr/>
          <p:nvPr/>
        </p:nvPicPr>
        <p:blipFill>
          <a:blip r:embed="rId7"/>
          <a:stretch/>
        </p:blipFill>
        <p:spPr>
          <a:xfrm>
            <a:off x="3572640" y="3668040"/>
            <a:ext cx="6484320" cy="3645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4" name=""/>
          <p:cNvPicPr/>
          <p:nvPr/>
        </p:nvPicPr>
        <p:blipFill>
          <a:blip r:embed="rId8"/>
          <a:stretch/>
        </p:blipFill>
        <p:spPr>
          <a:xfrm>
            <a:off x="10524960" y="3763440"/>
            <a:ext cx="7075800" cy="4464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5" name=""/>
          <p:cNvSpPr/>
          <p:nvPr/>
        </p:nvSpPr>
        <p:spPr>
          <a:xfrm>
            <a:off x="10515600" y="8229600"/>
            <a:ext cx="50587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  <a:hlinkClick r:id="rId9"/>
              </a:rPr>
              <a:t>https://refactoring.guru/design-patterns/observer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slow">
    <p:push dir="u"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Freeform 105"/>
          <p:cNvSpPr/>
          <p:nvPr/>
        </p:nvSpPr>
        <p:spPr>
          <a:xfrm>
            <a:off x="1739880" y="498600"/>
            <a:ext cx="15485400" cy="1526760"/>
          </a:xfrm>
          <a:custGeom>
            <a:avLst/>
            <a:gdLst>
              <a:gd name="textAreaLeft" fmla="*/ 0 w 15485400"/>
              <a:gd name="textAreaRight" fmla="*/ 15487200 w 15485400"/>
              <a:gd name="textAreaTop" fmla="*/ 0 h 1526760"/>
              <a:gd name="textAreaBottom" fmla="*/ 1528560 h 1526760"/>
            </a:gdLst>
            <a:ahLst/>
            <a:cxnLst/>
            <a:rect l="textAreaLeft" t="textAreaTop" r="textAreaRight" b="textAreaBottom"/>
            <a:pathLst>
              <a:path w="15129861" h="1493264">
                <a:moveTo>
                  <a:pt x="0" y="0"/>
                </a:moveTo>
                <a:lnTo>
                  <a:pt x="15129861" y="0"/>
                </a:lnTo>
                <a:lnTo>
                  <a:pt x="15129861" y="1493264"/>
                </a:lnTo>
                <a:lnTo>
                  <a:pt x="0" y="149326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endParaRPr lang="en-US" sz="4610" b="0" u="none" strike="noStrike">
              <a:solidFill>
                <a:schemeClr val="lt1"/>
              </a:solidFill>
              <a:effectLst/>
              <a:uFillTx/>
              <a:latin typeface="Poppins Semi-Bold"/>
            </a:endParaRPr>
          </a:p>
        </p:txBody>
      </p:sp>
      <p:sp>
        <p:nvSpPr>
          <p:cNvPr id="427" name="TextBox 108"/>
          <p:cNvSpPr/>
          <p:nvPr/>
        </p:nvSpPr>
        <p:spPr>
          <a:xfrm>
            <a:off x="3197880" y="613080"/>
            <a:ext cx="12758760" cy="62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36000">
              <a:lnSpc>
                <a:spcPts val="4912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4610" b="0" u="none" strike="noStrike">
                <a:solidFill>
                  <a:schemeClr val="lt1"/>
                </a:solidFill>
                <a:effectLst/>
                <a:uFillTx/>
                <a:latin typeface="Poppins Semi-Bold"/>
                <a:ea typeface="DejaVu Sans"/>
              </a:rPr>
              <a:t>Golang != OOP</a:t>
            </a:r>
            <a:endParaRPr lang="en-US" sz="46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Freeform 106"/>
          <p:cNvSpPr/>
          <p:nvPr/>
        </p:nvSpPr>
        <p:spPr>
          <a:xfrm>
            <a:off x="16071840" y="9673920"/>
            <a:ext cx="2346120" cy="344160"/>
          </a:xfrm>
          <a:custGeom>
            <a:avLst/>
            <a:gdLst>
              <a:gd name="textAreaLeft" fmla="*/ 0 w 2346120"/>
              <a:gd name="textAreaRight" fmla="*/ 2347920 w 2346120"/>
              <a:gd name="textAreaTop" fmla="*/ 0 h 344160"/>
              <a:gd name="textAreaBottom" fmla="*/ 345960 h 344160"/>
            </a:gdLst>
            <a:ahLst/>
            <a:cxnLst/>
            <a:rect l="textAreaLeft" t="textAreaTop" r="textAreaRight" b="textAreaBottom"/>
            <a:pathLst>
              <a:path w="2293806" h="337815">
                <a:moveTo>
                  <a:pt x="0" y="0"/>
                </a:moveTo>
                <a:lnTo>
                  <a:pt x="2293806" y="0"/>
                </a:lnTo>
                <a:lnTo>
                  <a:pt x="2293806" y="337815"/>
                </a:lnTo>
                <a:lnTo>
                  <a:pt x="0" y="33781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4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9" name="TextBox 109"/>
          <p:cNvSpPr/>
          <p:nvPr/>
        </p:nvSpPr>
        <p:spPr>
          <a:xfrm>
            <a:off x="2971800" y="1649160"/>
            <a:ext cx="1394316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457200" defTabSz="914400">
              <a:lnSpc>
                <a:spcPct val="200000"/>
              </a:lnSpc>
            </a:pPr>
            <a:r>
              <a:rPr lang="en-GB" sz="3600" b="1" u="none" strike="noStrike">
                <a:solidFill>
                  <a:schemeClr val="accent6"/>
                </a:solidFill>
                <a:effectLst/>
                <a:uFillTx/>
                <a:latin typeface="Calibri"/>
                <a:ea typeface="Noto Sans CJK SC"/>
              </a:rPr>
              <a:t>The Observer Pattern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0" name=""/>
          <p:cNvPicPr/>
          <p:nvPr/>
        </p:nvPicPr>
        <p:blipFill>
          <a:blip r:embed="rId5"/>
          <a:stretch/>
        </p:blipFill>
        <p:spPr>
          <a:xfrm>
            <a:off x="314640" y="4572000"/>
            <a:ext cx="1741320" cy="5446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1" name=""/>
          <p:cNvSpPr/>
          <p:nvPr/>
        </p:nvSpPr>
        <p:spPr>
          <a:xfrm>
            <a:off x="3429000" y="3109320"/>
            <a:ext cx="13860360" cy="82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DejaVu Sans"/>
              </a:rPr>
              <a:t>We need to create a new  </a:t>
            </a:r>
            <a:r>
              <a:rPr lang="en-GB" sz="2400" b="0" u="none" strike="noStrike">
                <a:solidFill>
                  <a:srgbClr val="729FCF"/>
                </a:solidFill>
                <a:effectLst/>
                <a:uFillTx/>
                <a:latin typeface="Calibri"/>
                <a:ea typeface="DejaVu Sans"/>
              </a:rPr>
              <a:t>publisher</a:t>
            </a: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DejaVu Sans"/>
              </a:rPr>
              <a:t> and </a:t>
            </a:r>
            <a:r>
              <a:rPr lang="en-GB" sz="2400" b="0" u="none" strike="noStrike">
                <a:solidFill>
                  <a:srgbClr val="729FCF"/>
                </a:solidFill>
                <a:effectLst/>
                <a:uFillTx/>
                <a:latin typeface="Calibri"/>
                <a:ea typeface="DejaVu Sans"/>
              </a:rPr>
              <a:t>subscribers</a:t>
            </a: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DejaVu Sans"/>
              </a:rPr>
              <a:t>. The publishers maintains </a:t>
            </a:r>
            <a:r>
              <a:rPr lang="en-GB" sz="2400" b="0" u="none" strike="noStrike">
                <a:solidFill>
                  <a:srgbClr val="729FCF"/>
                </a:solidFill>
                <a:effectLst/>
                <a:uFillTx/>
                <a:latin typeface="Calibri"/>
                <a:ea typeface="DejaVu Sans"/>
              </a:rPr>
              <a:t>a list of subscribers</a:t>
            </a: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DejaVu Sans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2" name=""/>
          <p:cNvPicPr/>
          <p:nvPr/>
        </p:nvPicPr>
        <p:blipFill>
          <a:blip r:embed="rId6"/>
          <a:stretch/>
        </p:blipFill>
        <p:spPr>
          <a:xfrm>
            <a:off x="3657600" y="4248720"/>
            <a:ext cx="6973200" cy="2150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3" name=""/>
          <p:cNvPicPr/>
          <p:nvPr/>
        </p:nvPicPr>
        <p:blipFill>
          <a:blip r:embed="rId7"/>
          <a:stretch/>
        </p:blipFill>
        <p:spPr>
          <a:xfrm>
            <a:off x="11430000" y="3886200"/>
            <a:ext cx="4645800" cy="3402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4" name=""/>
          <p:cNvPicPr/>
          <p:nvPr/>
        </p:nvPicPr>
        <p:blipFill>
          <a:blip r:embed="rId8"/>
          <a:stretch/>
        </p:blipFill>
        <p:spPr>
          <a:xfrm>
            <a:off x="4343400" y="7086600"/>
            <a:ext cx="4915800" cy="1141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5" name=""/>
          <p:cNvPicPr/>
          <p:nvPr/>
        </p:nvPicPr>
        <p:blipFill>
          <a:blip r:embed="rId9"/>
          <a:stretch/>
        </p:blipFill>
        <p:spPr>
          <a:xfrm>
            <a:off x="14173200" y="7772400"/>
            <a:ext cx="3982320" cy="137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6" name=""/>
          <p:cNvSpPr/>
          <p:nvPr/>
        </p:nvSpPr>
        <p:spPr>
          <a:xfrm>
            <a:off x="6858000" y="6400800"/>
            <a:ext cx="360" cy="685800"/>
          </a:xfrm>
          <a:prstGeom prst="line">
            <a:avLst/>
          </a:prstGeom>
          <a:ln w="3672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tIns="63000" rIns="0" bIns="63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"/>
          <p:cNvSpPr/>
          <p:nvPr/>
        </p:nvSpPr>
        <p:spPr>
          <a:xfrm>
            <a:off x="8686800" y="4800600"/>
            <a:ext cx="2743200" cy="914400"/>
          </a:xfrm>
          <a:prstGeom prst="line">
            <a:avLst/>
          </a:prstGeom>
          <a:ln w="3672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8000" tIns="63000" rIns="108000" bIns="63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"/>
          <p:cNvSpPr/>
          <p:nvPr/>
        </p:nvSpPr>
        <p:spPr>
          <a:xfrm>
            <a:off x="15087600" y="4343400"/>
            <a:ext cx="2743200" cy="3429000"/>
          </a:xfrm>
          <a:prstGeom prst="line">
            <a:avLst/>
          </a:prstGeom>
          <a:ln w="3672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8000" tIns="63000" rIns="108000" bIns="63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9" name=""/>
          <p:cNvPicPr/>
          <p:nvPr/>
        </p:nvPicPr>
        <p:blipFill>
          <a:blip r:embed="rId10"/>
          <a:stretch/>
        </p:blipFill>
        <p:spPr>
          <a:xfrm>
            <a:off x="9601200" y="7724160"/>
            <a:ext cx="4341960" cy="1418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0" name=""/>
          <p:cNvSpPr/>
          <p:nvPr/>
        </p:nvSpPr>
        <p:spPr>
          <a:xfrm flipH="1">
            <a:off x="13258800" y="7086600"/>
            <a:ext cx="685800" cy="637560"/>
          </a:xfrm>
          <a:prstGeom prst="line">
            <a:avLst/>
          </a:prstGeom>
          <a:ln w="3672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8000" tIns="63000" rIns="108000" bIns="63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slow">
    <p:push dir="u"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Freeform 107"/>
          <p:cNvSpPr/>
          <p:nvPr/>
        </p:nvSpPr>
        <p:spPr>
          <a:xfrm>
            <a:off x="1739880" y="498600"/>
            <a:ext cx="15485400" cy="1526760"/>
          </a:xfrm>
          <a:custGeom>
            <a:avLst/>
            <a:gdLst>
              <a:gd name="textAreaLeft" fmla="*/ 0 w 15485400"/>
              <a:gd name="textAreaRight" fmla="*/ 15487200 w 15485400"/>
              <a:gd name="textAreaTop" fmla="*/ 0 h 1526760"/>
              <a:gd name="textAreaBottom" fmla="*/ 1528560 h 1526760"/>
            </a:gdLst>
            <a:ahLst/>
            <a:cxnLst/>
            <a:rect l="textAreaLeft" t="textAreaTop" r="textAreaRight" b="textAreaBottom"/>
            <a:pathLst>
              <a:path w="15129861" h="1493264">
                <a:moveTo>
                  <a:pt x="0" y="0"/>
                </a:moveTo>
                <a:lnTo>
                  <a:pt x="15129861" y="0"/>
                </a:lnTo>
                <a:lnTo>
                  <a:pt x="15129861" y="1493264"/>
                </a:lnTo>
                <a:lnTo>
                  <a:pt x="0" y="149326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endParaRPr lang="en-US" sz="4610" b="0" u="none" strike="noStrike">
              <a:solidFill>
                <a:schemeClr val="lt1"/>
              </a:solidFill>
              <a:effectLst/>
              <a:uFillTx/>
              <a:latin typeface="Poppins Semi-Bold"/>
            </a:endParaRPr>
          </a:p>
        </p:txBody>
      </p:sp>
      <p:sp>
        <p:nvSpPr>
          <p:cNvPr id="442" name="TextBox 110"/>
          <p:cNvSpPr/>
          <p:nvPr/>
        </p:nvSpPr>
        <p:spPr>
          <a:xfrm>
            <a:off x="3197880" y="613080"/>
            <a:ext cx="12758760" cy="62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36000">
              <a:lnSpc>
                <a:spcPts val="4912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4610" b="0" u="none" strike="noStrike">
                <a:solidFill>
                  <a:schemeClr val="lt1"/>
                </a:solidFill>
                <a:effectLst/>
                <a:uFillTx/>
                <a:latin typeface="Poppins Semi-Bold"/>
                <a:ea typeface="DejaVu Sans"/>
              </a:rPr>
              <a:t>Golang != OOP</a:t>
            </a:r>
            <a:endParaRPr lang="en-US" sz="46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Freeform 108"/>
          <p:cNvSpPr/>
          <p:nvPr/>
        </p:nvSpPr>
        <p:spPr>
          <a:xfrm>
            <a:off x="16071840" y="9673920"/>
            <a:ext cx="2346120" cy="344160"/>
          </a:xfrm>
          <a:custGeom>
            <a:avLst/>
            <a:gdLst>
              <a:gd name="textAreaLeft" fmla="*/ 0 w 2346120"/>
              <a:gd name="textAreaRight" fmla="*/ 2347920 w 2346120"/>
              <a:gd name="textAreaTop" fmla="*/ 0 h 344160"/>
              <a:gd name="textAreaBottom" fmla="*/ 345960 h 344160"/>
            </a:gdLst>
            <a:ahLst/>
            <a:cxnLst/>
            <a:rect l="textAreaLeft" t="textAreaTop" r="textAreaRight" b="textAreaBottom"/>
            <a:pathLst>
              <a:path w="2293806" h="337815">
                <a:moveTo>
                  <a:pt x="0" y="0"/>
                </a:moveTo>
                <a:lnTo>
                  <a:pt x="2293806" y="0"/>
                </a:lnTo>
                <a:lnTo>
                  <a:pt x="2293806" y="337815"/>
                </a:lnTo>
                <a:lnTo>
                  <a:pt x="0" y="33781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4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4" name="TextBox 111"/>
          <p:cNvSpPr/>
          <p:nvPr/>
        </p:nvSpPr>
        <p:spPr>
          <a:xfrm>
            <a:off x="2971800" y="1649160"/>
            <a:ext cx="1394316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457200" defTabSz="914400">
              <a:lnSpc>
                <a:spcPct val="200000"/>
              </a:lnSpc>
            </a:pPr>
            <a:r>
              <a:rPr lang="en-GB" sz="3600" b="1" u="none" strike="noStrike">
                <a:solidFill>
                  <a:schemeClr val="accent6"/>
                </a:solidFill>
                <a:effectLst/>
                <a:uFillTx/>
                <a:latin typeface="Calibri"/>
                <a:ea typeface="Noto Sans CJK SC"/>
              </a:rPr>
              <a:t>The Observer Pattern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45" name=""/>
          <p:cNvPicPr/>
          <p:nvPr/>
        </p:nvPicPr>
        <p:blipFill>
          <a:blip r:embed="rId5"/>
          <a:stretch/>
        </p:blipFill>
        <p:spPr>
          <a:xfrm>
            <a:off x="314640" y="4572000"/>
            <a:ext cx="1741320" cy="5446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6" name=""/>
          <p:cNvSpPr/>
          <p:nvPr/>
        </p:nvSpPr>
        <p:spPr>
          <a:xfrm>
            <a:off x="3429000" y="3109320"/>
            <a:ext cx="13860360" cy="82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DejaVu Sans"/>
              </a:rPr>
              <a:t>Once </a:t>
            </a:r>
            <a:r>
              <a:rPr lang="en-GB" sz="2400" b="0" u="none" strike="noStrike">
                <a:solidFill>
                  <a:srgbClr val="729FCF"/>
                </a:solidFill>
                <a:effectLst/>
                <a:uFillTx/>
                <a:latin typeface="Calibri"/>
                <a:ea typeface="DejaVu Sans"/>
              </a:rPr>
              <a:t>subscribers</a:t>
            </a: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DejaVu Sans"/>
              </a:rPr>
              <a:t> are created, they need to </a:t>
            </a:r>
            <a:r>
              <a:rPr lang="en-GB" sz="2400" b="0" u="none" strike="noStrike">
                <a:solidFill>
                  <a:srgbClr val="729FCF"/>
                </a:solidFill>
                <a:effectLst/>
                <a:uFillTx/>
                <a:latin typeface="Calibri"/>
                <a:ea typeface="DejaVu Sans"/>
              </a:rPr>
              <a:t>subscribe to the publisher</a:t>
            </a: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DejaVu Sans"/>
              </a:rPr>
              <a:t>. Append to the slice of observers.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47" name=""/>
          <p:cNvPicPr/>
          <p:nvPr/>
        </p:nvPicPr>
        <p:blipFill>
          <a:blip r:embed="rId6"/>
          <a:stretch/>
        </p:blipFill>
        <p:spPr>
          <a:xfrm>
            <a:off x="3506400" y="3963240"/>
            <a:ext cx="5767560" cy="152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8" name=""/>
          <p:cNvPicPr/>
          <p:nvPr/>
        </p:nvPicPr>
        <p:blipFill>
          <a:blip r:embed="rId7"/>
          <a:stretch/>
        </p:blipFill>
        <p:spPr>
          <a:xfrm>
            <a:off x="9601200" y="4201560"/>
            <a:ext cx="8499600" cy="12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9" name=""/>
          <p:cNvSpPr/>
          <p:nvPr/>
        </p:nvSpPr>
        <p:spPr>
          <a:xfrm flipV="1">
            <a:off x="8229600" y="4572000"/>
            <a:ext cx="1371600" cy="228600"/>
          </a:xfrm>
          <a:prstGeom prst="line">
            <a:avLst/>
          </a:prstGeom>
          <a:ln w="3672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8000" tIns="63000" rIns="108000" bIns="63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50" name=""/>
          <p:cNvPicPr/>
          <p:nvPr/>
        </p:nvPicPr>
        <p:blipFill>
          <a:blip r:embed="rId8"/>
          <a:stretch/>
        </p:blipFill>
        <p:spPr>
          <a:xfrm>
            <a:off x="9601200" y="5943600"/>
            <a:ext cx="4570560" cy="2062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1" name=""/>
          <p:cNvSpPr/>
          <p:nvPr/>
        </p:nvSpPr>
        <p:spPr>
          <a:xfrm>
            <a:off x="11658600" y="5029200"/>
            <a:ext cx="1371600" cy="1371600"/>
          </a:xfrm>
          <a:prstGeom prst="line">
            <a:avLst/>
          </a:prstGeom>
          <a:ln w="3672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8000" tIns="63000" rIns="108000" bIns="63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slow">
    <p:push dir="u"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Freeform 109"/>
          <p:cNvSpPr/>
          <p:nvPr/>
        </p:nvSpPr>
        <p:spPr>
          <a:xfrm>
            <a:off x="1739880" y="498600"/>
            <a:ext cx="15485400" cy="1526760"/>
          </a:xfrm>
          <a:custGeom>
            <a:avLst/>
            <a:gdLst>
              <a:gd name="textAreaLeft" fmla="*/ 0 w 15485400"/>
              <a:gd name="textAreaRight" fmla="*/ 15487200 w 15485400"/>
              <a:gd name="textAreaTop" fmla="*/ 0 h 1526760"/>
              <a:gd name="textAreaBottom" fmla="*/ 1528560 h 1526760"/>
            </a:gdLst>
            <a:ahLst/>
            <a:cxnLst/>
            <a:rect l="textAreaLeft" t="textAreaTop" r="textAreaRight" b="textAreaBottom"/>
            <a:pathLst>
              <a:path w="15129861" h="1493264">
                <a:moveTo>
                  <a:pt x="0" y="0"/>
                </a:moveTo>
                <a:lnTo>
                  <a:pt x="15129861" y="0"/>
                </a:lnTo>
                <a:lnTo>
                  <a:pt x="15129861" y="1493264"/>
                </a:lnTo>
                <a:lnTo>
                  <a:pt x="0" y="149326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endParaRPr lang="en-US" sz="4610" b="0" u="none" strike="noStrike">
              <a:solidFill>
                <a:schemeClr val="lt1"/>
              </a:solidFill>
              <a:effectLst/>
              <a:uFillTx/>
              <a:latin typeface="Poppins Semi-Bold"/>
            </a:endParaRPr>
          </a:p>
        </p:txBody>
      </p:sp>
      <p:sp>
        <p:nvSpPr>
          <p:cNvPr id="453" name="TextBox 112"/>
          <p:cNvSpPr/>
          <p:nvPr/>
        </p:nvSpPr>
        <p:spPr>
          <a:xfrm>
            <a:off x="3197880" y="613080"/>
            <a:ext cx="12758760" cy="62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36000">
              <a:lnSpc>
                <a:spcPts val="4912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4610" b="0" u="none" strike="noStrike">
                <a:solidFill>
                  <a:schemeClr val="lt1"/>
                </a:solidFill>
                <a:effectLst/>
                <a:uFillTx/>
                <a:latin typeface="Poppins Semi-Bold"/>
                <a:ea typeface="DejaVu Sans"/>
              </a:rPr>
              <a:t>Golang != OOP</a:t>
            </a:r>
            <a:endParaRPr lang="en-US" sz="46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Freeform 110"/>
          <p:cNvSpPr/>
          <p:nvPr/>
        </p:nvSpPr>
        <p:spPr>
          <a:xfrm>
            <a:off x="16071840" y="9673920"/>
            <a:ext cx="2346120" cy="344160"/>
          </a:xfrm>
          <a:custGeom>
            <a:avLst/>
            <a:gdLst>
              <a:gd name="textAreaLeft" fmla="*/ 0 w 2346120"/>
              <a:gd name="textAreaRight" fmla="*/ 2347920 w 2346120"/>
              <a:gd name="textAreaTop" fmla="*/ 0 h 344160"/>
              <a:gd name="textAreaBottom" fmla="*/ 345960 h 344160"/>
            </a:gdLst>
            <a:ahLst/>
            <a:cxnLst/>
            <a:rect l="textAreaLeft" t="textAreaTop" r="textAreaRight" b="textAreaBottom"/>
            <a:pathLst>
              <a:path w="2293806" h="337815">
                <a:moveTo>
                  <a:pt x="0" y="0"/>
                </a:moveTo>
                <a:lnTo>
                  <a:pt x="2293806" y="0"/>
                </a:lnTo>
                <a:lnTo>
                  <a:pt x="2293806" y="337815"/>
                </a:lnTo>
                <a:lnTo>
                  <a:pt x="0" y="33781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4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5" name="TextBox 113"/>
          <p:cNvSpPr/>
          <p:nvPr/>
        </p:nvSpPr>
        <p:spPr>
          <a:xfrm>
            <a:off x="2971800" y="1649160"/>
            <a:ext cx="1394316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457200" defTabSz="914400">
              <a:lnSpc>
                <a:spcPct val="200000"/>
              </a:lnSpc>
            </a:pPr>
            <a:r>
              <a:rPr lang="en-GB" sz="3600" b="1" u="none" strike="noStrike">
                <a:solidFill>
                  <a:schemeClr val="accent6"/>
                </a:solidFill>
                <a:effectLst/>
                <a:uFillTx/>
                <a:latin typeface="Calibri"/>
                <a:ea typeface="Noto Sans CJK SC"/>
              </a:rPr>
              <a:t>The Observer Pattern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56" name=""/>
          <p:cNvPicPr/>
          <p:nvPr/>
        </p:nvPicPr>
        <p:blipFill>
          <a:blip r:embed="rId5"/>
          <a:stretch/>
        </p:blipFill>
        <p:spPr>
          <a:xfrm>
            <a:off x="314640" y="4572000"/>
            <a:ext cx="1741320" cy="5446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7" name=""/>
          <p:cNvSpPr/>
          <p:nvPr/>
        </p:nvSpPr>
        <p:spPr>
          <a:xfrm>
            <a:off x="3429000" y="3109320"/>
            <a:ext cx="13860360" cy="82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DejaVu Sans"/>
              </a:rPr>
              <a:t>Finally the </a:t>
            </a:r>
            <a:r>
              <a:rPr lang="en-GB" sz="2400" b="0" u="none" strike="noStrike">
                <a:solidFill>
                  <a:srgbClr val="729FCF"/>
                </a:solidFill>
                <a:effectLst/>
                <a:uFillTx/>
                <a:latin typeface="Calibri"/>
                <a:ea typeface="DejaVu Sans"/>
              </a:rPr>
              <a:t>publisher</a:t>
            </a: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DejaVu Sans"/>
              </a:rPr>
              <a:t> can </a:t>
            </a:r>
            <a:r>
              <a:rPr lang="en-GB" sz="2400" b="0" u="none" strike="noStrike">
                <a:solidFill>
                  <a:srgbClr val="729FCF"/>
                </a:solidFill>
                <a:effectLst/>
                <a:uFillTx/>
                <a:latin typeface="Calibri"/>
                <a:ea typeface="DejaVu Sans"/>
              </a:rPr>
              <a:t>notify all subscribers </a:t>
            </a: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DejaVu Sans"/>
              </a:rPr>
              <a:t>to their unique </a:t>
            </a:r>
            <a:r>
              <a:rPr lang="en-GB" sz="2400" b="0" u="none" strike="noStrike">
                <a:solidFill>
                  <a:srgbClr val="729FCF"/>
                </a:solidFill>
                <a:effectLst/>
                <a:uFillTx/>
                <a:latin typeface="Calibri"/>
                <a:ea typeface="DejaVu Sans"/>
              </a:rPr>
              <a:t>update call</a:t>
            </a: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DejaVu Sans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58" name=""/>
          <p:cNvPicPr/>
          <p:nvPr/>
        </p:nvPicPr>
        <p:blipFill>
          <a:blip r:embed="rId6"/>
          <a:stretch/>
        </p:blipFill>
        <p:spPr>
          <a:xfrm>
            <a:off x="3506040" y="3842280"/>
            <a:ext cx="6550920" cy="866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9" name=""/>
          <p:cNvPicPr/>
          <p:nvPr/>
        </p:nvPicPr>
        <p:blipFill>
          <a:blip r:embed="rId7"/>
          <a:stretch/>
        </p:blipFill>
        <p:spPr>
          <a:xfrm>
            <a:off x="6353280" y="5029200"/>
            <a:ext cx="7818480" cy="1707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0" name=""/>
          <p:cNvPicPr/>
          <p:nvPr/>
        </p:nvPicPr>
        <p:blipFill>
          <a:blip r:embed="rId8"/>
          <a:stretch/>
        </p:blipFill>
        <p:spPr>
          <a:xfrm>
            <a:off x="8915400" y="7007040"/>
            <a:ext cx="6856560" cy="1787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1" name=""/>
          <p:cNvSpPr/>
          <p:nvPr/>
        </p:nvSpPr>
        <p:spPr>
          <a:xfrm>
            <a:off x="5943600" y="4709880"/>
            <a:ext cx="914400" cy="319320"/>
          </a:xfrm>
          <a:prstGeom prst="line">
            <a:avLst/>
          </a:prstGeom>
          <a:ln w="3672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8000" tIns="63000" rIns="108000" bIns="63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"/>
          <p:cNvSpPr/>
          <p:nvPr/>
        </p:nvSpPr>
        <p:spPr>
          <a:xfrm>
            <a:off x="8229600" y="6629400"/>
            <a:ext cx="685800" cy="457200"/>
          </a:xfrm>
          <a:prstGeom prst="line">
            <a:avLst/>
          </a:prstGeom>
          <a:ln w="3672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8000" tIns="63000" rIns="108000" bIns="63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63" name=""/>
          <p:cNvPicPr/>
          <p:nvPr/>
        </p:nvPicPr>
        <p:blipFill>
          <a:blip r:embed="rId9"/>
          <a:stretch/>
        </p:blipFill>
        <p:spPr>
          <a:xfrm>
            <a:off x="1676520" y="9144000"/>
            <a:ext cx="8609040" cy="91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4" name=""/>
          <p:cNvSpPr/>
          <p:nvPr/>
        </p:nvSpPr>
        <p:spPr>
          <a:xfrm flipH="1">
            <a:off x="8458200" y="8686800"/>
            <a:ext cx="1143000" cy="685800"/>
          </a:xfrm>
          <a:prstGeom prst="line">
            <a:avLst/>
          </a:prstGeom>
          <a:ln w="3672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8000" tIns="63000" rIns="108000" bIns="63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slow">
    <p:push dir="u"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505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TextBox 95"/>
          <p:cNvSpPr/>
          <p:nvPr/>
        </p:nvSpPr>
        <p:spPr>
          <a:xfrm>
            <a:off x="1130040" y="3277080"/>
            <a:ext cx="11352960" cy="100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7883"/>
              </a:lnSpc>
            </a:pPr>
            <a:r>
              <a:rPr lang="en-GB" sz="5630" b="0" u="none" strike="noStrike">
                <a:solidFill>
                  <a:srgbClr val="729FCF"/>
                </a:solidFill>
                <a:effectLst/>
                <a:uFillTx/>
                <a:latin typeface="Poppins Semi-Bold"/>
                <a:ea typeface="DejaVu Sans"/>
              </a:rPr>
              <a:t>Exercise – Website status monitor</a:t>
            </a:r>
            <a:endParaRPr lang="en-US" sz="56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6" name="Freeform 91"/>
          <p:cNvSpPr/>
          <p:nvPr/>
        </p:nvSpPr>
        <p:spPr>
          <a:xfrm>
            <a:off x="1053000" y="931680"/>
            <a:ext cx="4097160" cy="601920"/>
          </a:xfrm>
          <a:custGeom>
            <a:avLst/>
            <a:gdLst>
              <a:gd name="textAreaLeft" fmla="*/ 0 w 4097160"/>
              <a:gd name="textAreaRight" fmla="*/ 4098960 w 4097160"/>
              <a:gd name="textAreaTop" fmla="*/ 0 h 601920"/>
              <a:gd name="textAreaBottom" fmla="*/ 603720 h 601920"/>
            </a:gdLst>
            <a:ahLst/>
            <a:cxnLst/>
            <a:rect l="textAreaLeft" t="textAreaTop" r="textAreaRight" b="textAreaBottom"/>
            <a:pathLst>
              <a:path w="4004526" h="589757">
                <a:moveTo>
                  <a:pt x="0" y="0"/>
                </a:moveTo>
                <a:lnTo>
                  <a:pt x="4004526" y="0"/>
                </a:lnTo>
                <a:lnTo>
                  <a:pt x="4004526" y="589757"/>
                </a:lnTo>
                <a:lnTo>
                  <a:pt x="0" y="58975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4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7" name="TextBox 96"/>
          <p:cNvSpPr/>
          <p:nvPr/>
        </p:nvSpPr>
        <p:spPr>
          <a:xfrm>
            <a:off x="914400" y="4127040"/>
            <a:ext cx="10971000" cy="42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Can you monitor the status code of these websites?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00280" lvl="1" indent="-343080" defTabSz="91440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Download the top 100 websites: </a:t>
            </a:r>
            <a:r>
              <a:rPr lang="en-GB" sz="2400" b="0" u="none" strike="noStrike">
                <a:solidFill>
                  <a:srgbClr val="0000FF"/>
                </a:solidFill>
                <a:effectLst/>
                <a:uFillTx/>
                <a:latin typeface="Calibri"/>
                <a:ea typeface="Noto Sans CJK SC"/>
                <a:hlinkClick r:id="rId3"/>
              </a:rPr>
              <a:t>https://pastebin.com/9r9ADsaQ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00280" lvl="1" indent="-343080" defTabSz="91440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Use  </a:t>
            </a:r>
            <a:r>
              <a:rPr lang="en-GB" sz="2400" b="0" u="none" strike="noStrike">
                <a:solidFill>
                  <a:srgbClr val="729FCF"/>
                </a:solidFill>
                <a:effectLst/>
                <a:uFillTx/>
                <a:latin typeface="Calibri"/>
                <a:ea typeface="Noto Sans CJK SC"/>
              </a:rPr>
              <a:t>go get </a:t>
            </a: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for </a:t>
            </a:r>
            <a:r>
              <a:rPr lang="en-GB" sz="2400" b="0" u="none" strike="noStrike">
                <a:solidFill>
                  <a:srgbClr val="0000FF"/>
                </a:solidFill>
                <a:effectLst/>
                <a:uFillTx/>
                <a:latin typeface="Calibri"/>
                <a:ea typeface="Noto Sans CJK SC"/>
                <a:hlinkClick r:id="rId4"/>
              </a:rPr>
              <a:t>https://pkg.go.dev/net/http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00280" lvl="1" indent="-343080" defTabSz="91440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Visit all domains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00280" lvl="1" indent="-343080" defTabSz="91440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Print results to screen &amp; store in a file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00280" lvl="1" indent="-343080" defTabSz="914400">
              <a:lnSpc>
                <a:spcPct val="150000"/>
              </a:lnSpc>
              <a:buClr>
                <a:srgbClr val="FFFFFF"/>
              </a:buClr>
              <a:buFont typeface="Arial"/>
              <a:buChar char="•"/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Bonus points for CSV (</a:t>
            </a:r>
            <a:r>
              <a:rPr lang="en-GB" sz="2400" b="0" u="none" strike="noStrike">
                <a:solidFill>
                  <a:srgbClr val="0000FF"/>
                </a:solidFill>
                <a:effectLst/>
                <a:uFillTx/>
                <a:latin typeface="Calibri"/>
                <a:ea typeface="Noto Sans CJK SC"/>
                <a:hlinkClick r:id="rId5"/>
              </a:rPr>
              <a:t>https://pkg.go.dev/encoding/csv</a:t>
            </a: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Noto Sans CJK SC"/>
              </a:rPr>
              <a:t>)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505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TextBox 1"/>
          <p:cNvSpPr/>
          <p:nvPr/>
        </p:nvSpPr>
        <p:spPr>
          <a:xfrm>
            <a:off x="1130040" y="3277080"/>
            <a:ext cx="11352960" cy="200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7883"/>
              </a:lnSpc>
            </a:pPr>
            <a:r>
              <a:rPr lang="en-GB" sz="5630" b="0" u="none" strike="noStrike">
                <a:solidFill>
                  <a:schemeClr val="accent6"/>
                </a:solidFill>
                <a:effectLst/>
                <a:uFillTx/>
                <a:latin typeface="Poppins Semi-Bold"/>
                <a:ea typeface="DejaVu Sans"/>
              </a:rPr>
              <a:t>Thank You</a:t>
            </a:r>
            <a:endParaRPr lang="en-US" sz="56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7883"/>
              </a:lnSpc>
            </a:pPr>
            <a:r>
              <a:rPr lang="en-GB" sz="4160" b="0" u="none" strike="noStrike">
                <a:solidFill>
                  <a:srgbClr val="F1F1F3"/>
                </a:solidFill>
                <a:effectLst/>
                <a:uFillTx/>
                <a:latin typeface="Poppins Semi-Bold"/>
                <a:ea typeface="DejaVu Sans"/>
              </a:rPr>
              <a:t>Feel free to reach out to me!</a:t>
            </a:r>
            <a:endParaRPr lang="en-US" sz="41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469" name="Group 1"/>
          <p:cNvGrpSpPr/>
          <p:nvPr/>
        </p:nvGrpSpPr>
        <p:grpSpPr>
          <a:xfrm>
            <a:off x="11482200" y="1690920"/>
            <a:ext cx="5847120" cy="6106680"/>
            <a:chOff x="11482200" y="1690920"/>
            <a:chExt cx="5847120" cy="6106680"/>
          </a:xfrm>
        </p:grpSpPr>
        <p:sp>
          <p:nvSpPr>
            <p:cNvPr id="470" name="Freeform 1"/>
            <p:cNvSpPr/>
            <p:nvPr/>
          </p:nvSpPr>
          <p:spPr>
            <a:xfrm>
              <a:off x="11482200" y="1690920"/>
              <a:ext cx="5847120" cy="6106680"/>
            </a:xfrm>
            <a:custGeom>
              <a:avLst/>
              <a:gdLst>
                <a:gd name="textAreaLeft" fmla="*/ 0 w 5847120"/>
                <a:gd name="textAreaRight" fmla="*/ 5848920 w 5847120"/>
                <a:gd name="textAreaTop" fmla="*/ 0 h 6106680"/>
                <a:gd name="textAreaBottom" fmla="*/ 6108480 h 6106680"/>
              </a:gdLst>
              <a:ahLst/>
              <a:cxnLst/>
              <a:rect l="textAreaLeft" t="textAreaTop" r="textAreaRight" b="textAreaBottom"/>
              <a:pathLst>
                <a:path w="7618603" h="7956550">
                  <a:moveTo>
                    <a:pt x="0" y="0"/>
                  </a:moveTo>
                  <a:lnTo>
                    <a:pt x="7618603" y="0"/>
                  </a:lnTo>
                  <a:lnTo>
                    <a:pt x="7618603" y="7956550"/>
                  </a:lnTo>
                  <a:lnTo>
                    <a:pt x="0" y="795655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4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471" name="Freeform 2"/>
          <p:cNvSpPr/>
          <p:nvPr/>
        </p:nvSpPr>
        <p:spPr>
          <a:xfrm>
            <a:off x="1053000" y="931680"/>
            <a:ext cx="4097160" cy="601920"/>
          </a:xfrm>
          <a:custGeom>
            <a:avLst/>
            <a:gdLst>
              <a:gd name="textAreaLeft" fmla="*/ 0 w 4097160"/>
              <a:gd name="textAreaRight" fmla="*/ 4098960 w 4097160"/>
              <a:gd name="textAreaTop" fmla="*/ 0 h 601920"/>
              <a:gd name="textAreaBottom" fmla="*/ 603720 h 601920"/>
            </a:gdLst>
            <a:ahLst/>
            <a:cxnLst/>
            <a:rect l="textAreaLeft" t="textAreaTop" r="textAreaRight" b="textAreaBottom"/>
            <a:pathLst>
              <a:path w="4004526" h="589757">
                <a:moveTo>
                  <a:pt x="0" y="0"/>
                </a:moveTo>
                <a:lnTo>
                  <a:pt x="4004526" y="0"/>
                </a:lnTo>
                <a:lnTo>
                  <a:pt x="4004526" y="589757"/>
                </a:lnTo>
                <a:lnTo>
                  <a:pt x="0" y="58975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4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57235</TotalTime>
  <Application>LibreOffice/26.2.6.3$Linux_X86_64 LibreOffice_project/620$Build-3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Gireesh</dc:creator>
  <dc:description/>
  <dc:identifier>DAF3jCVaY0U</dc:identifier>
  <dc:language>en-US</dc:language>
  <cp:lastModifiedBy/>
  <dcterms:modified xsi:type="dcterms:W3CDTF">2026-09-15T22:52:04Z</dcterms:modified>
  <cp:revision>386</cp:revision>
  <dc:subject/>
  <dc:title>Copy of BreachLock Sales Pitch Design V1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0x0101006207D3CB5A510843B1838FD3DB03CC1B</vt:lpwstr>
  </property>
  <property fmtid="{D5CDD505-2E9C-101B-9397-08002B2CF9AE}" pid="3" name="Notes">
    <vt:r8>24</vt:r8>
  </property>
  <property fmtid="{D5CDD505-2E9C-101B-9397-08002B2CF9AE}" pid="4" name="PresentationFormat">
    <vt:lpwstr>Custom</vt:lpwstr>
  </property>
  <property fmtid="{D5CDD505-2E9C-101B-9397-08002B2CF9AE}" pid="5" name="Slides">
    <vt:r8>24</vt:r8>
  </property>
</Properties>
</file>