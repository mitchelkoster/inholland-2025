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1.xml" ContentType="application/vnd.openxmlformats-officedocument.presentationml.slideMaster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25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59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37.xml" ContentType="application/vnd.openxmlformats-officedocument.presentationml.slide+xml"/>
  <Override PartName="/ppt/slides/slide43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55.xml" ContentType="application/vnd.openxmlformats-officedocument.presentationml.slide+xml"/>
  <Override PartName="/ppt/slides/slide53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14.xml" ContentType="application/vnd.openxmlformats-officedocument.presentationml.slide+xml"/>
  <Override PartName="/ppt/slides/slide30.xml" ContentType="application/vnd.openxmlformats-officedocument.presentationml.slide+xml"/>
  <Override PartName="/ppt/slides/slide52.xml" ContentType="application/vnd.openxmlformats-officedocument.presentationml.slide+xml"/>
  <Override PartName="/ppt/slides/slide45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40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21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51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notesSlides/notesSlide4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6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8719800" cy="10287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10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11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12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C01D58C-221A-46B9-A74D-33412E1E5EC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9B4F548-A479-4150-B646-2CE7649CE93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AA63B7-6B80-4663-848E-159BCD40F70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A78AA5B-E18D-42FF-9E02-3E244AF387E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F27633C-37CB-4AD3-98FC-EC5EB9FEAB8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9BCC6F4-DB3C-499E-B6D9-8B5E9A21EFD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323C612-369D-40D9-AB9C-AF4F70692B8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8E7E61-20EE-418C-AC26-5F340735F24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96D4F86-03EC-47B0-951D-3B7F6B56CF6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7F34EE8-DA8F-40E0-8D5F-60885D19429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1F86252-7D3A-4745-B388-12319E96229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D8D3999-3287-4791-AE62-6EFA8FAE0DD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7EC76C5-CFAA-404C-A76B-AE54455BC60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0E34F8F-D864-481E-867A-907A8B5FA86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4347902-E87F-4D0A-AABE-0D86214056F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CCDB8A-244A-4BB0-9334-711D6F29657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2B105D-338A-492C-BA3C-E7C2C7F9211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794B89B-740C-461A-A2B9-244AE23EBEF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8F80377-DDED-43BB-B6A5-AEEEDF4A240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B0E6FF6-4BBB-4072-B584-11BD0719216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86F575-DBF2-4166-A3E1-2163E8C4307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CE86D40-6691-4564-8140-DEDA5D772E3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6D3CFA4-A076-4BD0-9CE1-5808F9EAD5B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B3CAD03-27AC-4710-A662-8BCAC3ADA0C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5AE6E0-F726-4085-B3B1-A073963FFAC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B3A1735-01E1-4F22-B2BF-3233BEB2C6A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39F3A0-9E2B-4C7D-8DA1-5C347E2A99C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1E70D33-B17B-469C-AE6A-C5873EB7364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0F42033-507B-4713-A7BD-17071B8DBCA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521419-36F0-42B4-95C1-3905AC5CD5F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F4B18-B1CE-428E-A4FD-F4C256764E4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559736-F266-4DAC-B666-A47B3156EED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DC9647-B290-49D6-A45B-0E70D48899B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49A54CC-477C-49D0-966E-D1A6A19FEEF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91A4814-30C4-497D-B509-A5AD0C7EC75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86185B8-4038-40F2-B59A-46F632B19ED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974FEB9-35DD-4C45-8F05-64312ED11E9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650648-BA94-4DC3-B979-B8F9DA1F30D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76B00C6-CA77-40BF-835A-ED7AD864578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345266-0CB8-444E-B85F-ECA5CB94631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2103F07-B748-4159-A5C7-F48480CB8C7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2B8F2EC-99CC-44F2-AC9E-951B7FE3410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5B307FC-0652-4567-B78D-CDD75EF8A6A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B4E217-7C38-41D1-B979-224FAC89F11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161713C-D301-4092-86B5-4C8FED8C9B9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A6ADC0E-7BAB-48CB-90C0-A68A632B45B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CF587E4-F1E9-443B-B2BB-81B97531AF0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BE3DB6-12FA-4169-BC35-52F2837AB10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342DDC6-6529-43EA-97A0-69419640E78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7128D9-15B0-4307-BB5F-583864592F3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5DF41AD-7D57-46C0-80BF-8541E18BDE4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9339A6-05C8-4488-BA47-67B8E812CA5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B2ABAF7-6A97-4AB3-AE8C-A3CB2C02F16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A4679A8-2B43-4525-A1EB-F76A599F4BA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31ED72F-4FB1-4EDC-A271-BFAA92942DE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23B530-ADD5-4FCB-9E44-18931D8EA6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A90D0D7-365B-44FD-BCF1-092F6FB30D0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52B3564-AD84-47C8-AF58-BEE22A2047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1434C9-D450-488B-9C4F-9C167A32A42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622440" y="1143000"/>
            <a:ext cx="5610960" cy="308376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13C707-8827-496B-A6CC-608BC42982B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1358AC-150B-4314-B079-BD4D7E2E465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002228-6C78-408E-8B08-0B4A12E5AC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ubTitle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61489EA-6A13-471A-936A-42410A62EBE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935640" y="1131480"/>
            <a:ext cx="168451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5480" cy="596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Section Header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35640" y="1130760"/>
            <a:ext cx="168454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197880" y="6356520"/>
            <a:ext cx="29613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6707880" y="6356520"/>
            <a:ext cx="21816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7DB2DC-C700-4402-A77D-701A43161CFA}" type="slidenum">
              <a:rPr lang="en-US" sz="12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468000" y="6356520"/>
            <a:ext cx="21816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935640" y="1130760"/>
            <a:ext cx="168454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ftr" idx="4"/>
          </p:nvPr>
        </p:nvSpPr>
        <p:spPr>
          <a:xfrm>
            <a:off x="3197880" y="6356520"/>
            <a:ext cx="29613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5"/>
          </p:nvPr>
        </p:nvSpPr>
        <p:spPr>
          <a:xfrm>
            <a:off x="6707880" y="6356520"/>
            <a:ext cx="21816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6D8D2C-E1A9-44B2-BF7A-7DB555EA2339}" type="slidenum">
              <a:rPr lang="en-US" sz="12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6"/>
          </p:nvPr>
        </p:nvSpPr>
        <p:spPr>
          <a:xfrm>
            <a:off x="468000" y="6356520"/>
            <a:ext cx="21816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5480" cy="171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vert="eaVert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7"/>
          </p:nvPr>
        </p:nvSpPr>
        <p:spPr>
          <a:xfrm>
            <a:off x="3197880" y="6356520"/>
            <a:ext cx="29613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8"/>
          </p:nvPr>
        </p:nvSpPr>
        <p:spPr>
          <a:xfrm>
            <a:off x="6707880" y="6356520"/>
            <a:ext cx="21816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EA76BA-1D55-4F2A-8F8D-1BD8D6AEF377}" type="slidenum">
              <a:rPr lang="en-US" sz="12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9"/>
          </p:nvPr>
        </p:nvSpPr>
        <p:spPr>
          <a:xfrm>
            <a:off x="468000" y="6356520"/>
            <a:ext cx="21816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2"/>
          <p:cNvSpPr/>
          <p:nvPr/>
        </p:nvSpPr>
        <p:spPr>
          <a:xfrm>
            <a:off x="0" y="0"/>
            <a:ext cx="18717120" cy="10284480"/>
          </a:xfrm>
          <a:custGeom>
            <a:avLst/>
            <a:gdLst>
              <a:gd name="textAreaLeft" fmla="*/ 0 w 18717120"/>
              <a:gd name="textAreaRight" fmla="*/ 18719640 w 18717120"/>
              <a:gd name="textAreaTop" fmla="*/ 0 h 10284480"/>
              <a:gd name="textAreaBottom" fmla="*/ 10287000 h 102844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935640" y="410400"/>
            <a:ext cx="1684728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935640" y="2406960"/>
            <a:ext cx="1684728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hyperlink" Target="https://www.linkedin.com/in/mitchelkoster/" TargetMode="External"/><Relationship Id="rId5" Type="http://schemas.openxmlformats.org/officeDocument/2006/relationships/slideLayout" Target="../slideLayouts/slideLayout10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www.destroyallsoftware.com/talks/wat" TargetMode="External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hyperlink" Target="https://gobyexample.com/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www.youtube.com/watch?v=oV9rvDllKEg" TargetMode="External"/><Relationship Id="rId6" Type="http://schemas.openxmlformats.org/officeDocument/2006/relationships/hyperlink" Target="https://www.amazon.nl/Learning-Go-Idiomatic-Real-World-Programming/dp/1098139291" TargetMode="External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hyperlink" Target="https://go.dev/" TargetMode="External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github.com/mitchelkoster/vacay-gaurdian/blob/main/storage/storage.go" TargetMode="External"/><Relationship Id="rId3" Type="http://schemas.openxmlformats.org/officeDocument/2006/relationships/image" Target="../media/image50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51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5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6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65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66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67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0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1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pastebin.com/fbW8wUZ7" TargetMode="External"/><Relationship Id="rId3" Type="http://schemas.openxmlformats.org/officeDocument/2006/relationships/image" Target="../media/image72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hyperlink" Target="https://www.youtube.com/watch?v=hxGOiiR9ZKg" TargetMode="External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8.png"/><Relationship Id="rId5" Type="http://schemas.openxmlformats.org/officeDocument/2006/relationships/hyperlink" Target="https://refactoring.guru/design-patterns/observer" TargetMode="External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hyperlink" Target="https://refactoring.guru/design-patterns/observer" TargetMode="External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hyperlink" Target="https://refactoring.guru/design-patterns/observer" TargetMode="External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85.png"/><Relationship Id="rId9" Type="http://schemas.openxmlformats.org/officeDocument/2006/relationships/slideLayout" Target="../slideLayouts/slideLayout12.xml"/><Relationship Id="rId10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86.png"/><Relationship Id="rId5" Type="http://schemas.openxmlformats.org/officeDocument/2006/relationships/image" Target="../media/image87.png"/><Relationship Id="rId6" Type="http://schemas.openxmlformats.org/officeDocument/2006/relationships/image" Target="../media/image88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pastebin.com/9r9ADsaQ" TargetMode="External"/><Relationship Id="rId3" Type="http://schemas.openxmlformats.org/officeDocument/2006/relationships/hyperlink" Target="https://pkg.go.dev/net/http" TargetMode="External"/><Relationship Id="rId4" Type="http://schemas.openxmlformats.org/officeDocument/2006/relationships/hyperlink" Target="https://pkg.go.dev/encoding/csv" TargetMode="External"/><Relationship Id="rId5" Type="http://schemas.openxmlformats.org/officeDocument/2006/relationships/slideLayout" Target="../slideLayouts/slideLayout10.xml"/><Relationship Id="rId6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5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2"/>
          <p:cNvSpPr/>
          <p:nvPr/>
        </p:nvSpPr>
        <p:spPr>
          <a:xfrm>
            <a:off x="1130040" y="3277080"/>
            <a:ext cx="11352240" cy="30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chemeClr val="accent6"/>
                </a:solidFill>
                <a:effectLst/>
                <a:uFillTx/>
                <a:latin typeface="Poppins Semi-Bold"/>
                <a:ea typeface="DejaVu Sans"/>
              </a:rPr>
              <a:t>InHolland Golang 2026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7883"/>
              </a:lnSpc>
            </a:pPr>
            <a:r>
              <a:rPr lang="en-GB" sz="4150" b="0" u="none" strike="noStrike">
                <a:solidFill>
                  <a:srgbClr val="F1F1F3"/>
                </a:solidFill>
                <a:effectLst/>
                <a:uFillTx/>
                <a:latin typeface="Poppins Semi-Bold"/>
                <a:ea typeface="DejaVu Sans"/>
              </a:rPr>
              <a:t>A hands-on introduction to Go in </a:t>
            </a:r>
            <a:br>
              <a:rPr sz="4150"/>
            </a:br>
            <a:r>
              <a:rPr lang="en-GB" sz="4150" b="0" u="none" strike="noStrike">
                <a:solidFill>
                  <a:srgbClr val="F1F1F3"/>
                </a:solidFill>
                <a:effectLst/>
                <a:uFillTx/>
                <a:latin typeface="Poppins Semi-Bold"/>
                <a:ea typeface="DejaVu Sans"/>
              </a:rPr>
              <a:t>one day!</a:t>
            </a:r>
            <a:endParaRPr lang="en-US" sz="4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3" name="Group 3"/>
          <p:cNvGrpSpPr/>
          <p:nvPr/>
        </p:nvGrpSpPr>
        <p:grpSpPr>
          <a:xfrm>
            <a:off x="11482200" y="1690920"/>
            <a:ext cx="5846400" cy="6105960"/>
            <a:chOff x="11482200" y="1690920"/>
            <a:chExt cx="5846400" cy="6105960"/>
          </a:xfrm>
        </p:grpSpPr>
        <p:sp>
          <p:nvSpPr>
            <p:cNvPr id="54" name="Freeform 4"/>
            <p:cNvSpPr/>
            <p:nvPr/>
          </p:nvSpPr>
          <p:spPr>
            <a:xfrm>
              <a:off x="11482200" y="1690920"/>
              <a:ext cx="5846400" cy="6105960"/>
            </a:xfrm>
            <a:custGeom>
              <a:avLst/>
              <a:gdLst>
                <a:gd name="textAreaLeft" fmla="*/ 0 w 5846400"/>
                <a:gd name="textAreaRight" fmla="*/ 5848920 w 5846400"/>
                <a:gd name="textAreaTop" fmla="*/ 0 h 6105960"/>
                <a:gd name="textAreaBottom" fmla="*/ 6108480 h 6105960"/>
              </a:gdLst>
              <a:ahLst/>
              <a:cxnLst/>
              <a:rect l="textAreaLeft" t="textAreaTop" r="textAreaRight" b="textAreaBottom"/>
              <a:pathLst>
                <a:path w="7618603" h="7956550">
                  <a:moveTo>
                    <a:pt x="0" y="0"/>
                  </a:moveTo>
                  <a:lnTo>
                    <a:pt x="7618603" y="0"/>
                  </a:lnTo>
                  <a:lnTo>
                    <a:pt x="7618603" y="7956550"/>
                  </a:lnTo>
                  <a:lnTo>
                    <a:pt x="0" y="79565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5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55" name="Freeform 5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56" name="Straight Connector 5"/>
          <p:cNvCxnSpPr/>
          <p:nvPr/>
        </p:nvCxnSpPr>
        <p:spPr>
          <a:xfrm flipH="1">
            <a:off x="1130040" y="6667200"/>
            <a:ext cx="8384760" cy="2520"/>
          </a:xfrm>
          <a:prstGeom prst="straightConnector1">
            <a:avLst/>
          </a:prstGeom>
          <a:ln w="76320">
            <a:solidFill>
              <a:srgbClr val="EEECE1"/>
            </a:solidFill>
            <a:round/>
          </a:ln>
        </p:spPr>
      </p:cxnSp>
      <p:sp>
        <p:nvSpPr>
          <p:cNvPr id="57" name="TextBox 11"/>
          <p:cNvSpPr/>
          <p:nvPr/>
        </p:nvSpPr>
        <p:spPr>
          <a:xfrm>
            <a:off x="1053000" y="6797520"/>
            <a:ext cx="9356760" cy="10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4150" b="0" u="none" strike="noStrike">
                <a:solidFill>
                  <a:schemeClr val="accent4"/>
                </a:solidFill>
                <a:effectLst/>
                <a:uFillTx/>
                <a:latin typeface="Poppins Semi-Bold"/>
                <a:ea typeface="DejaVu Sans"/>
              </a:rPr>
              <a:t>Mitchel Koster</a:t>
            </a:r>
            <a:endParaRPr lang="en-US" sz="4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Box 7"/>
          <p:cNvSpPr/>
          <p:nvPr/>
        </p:nvSpPr>
        <p:spPr>
          <a:xfrm>
            <a:off x="10462320" y="9408240"/>
            <a:ext cx="8208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150000"/>
              </a:lnSpc>
            </a:pPr>
            <a:r>
              <a:rPr lang="en-US" sz="2400" b="0" u="sng" strike="noStrike">
                <a:solidFill>
                  <a:schemeClr val="accent1"/>
                </a:solidFill>
                <a:effectLst/>
                <a:uFillTx/>
                <a:latin typeface="Calibri"/>
                <a:ea typeface="DejaVu Sans"/>
              </a:rPr>
              <a:t>https://github.com/mitchelkoster/inholland-2025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20"/>
          <p:cNvSpPr/>
          <p:nvPr/>
        </p:nvSpPr>
        <p:spPr>
          <a:xfrm>
            <a:off x="1130040" y="3277080"/>
            <a:ext cx="1135224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chemeClr val="accent6"/>
                </a:solidFill>
                <a:effectLst/>
                <a:uFillTx/>
                <a:latin typeface="Poppins Semi-Bold"/>
                <a:ea typeface="DejaVu Sans"/>
              </a:rPr>
              <a:t>0x00 - Introduction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11"/>
          <p:cNvGrpSpPr/>
          <p:nvPr/>
        </p:nvGrpSpPr>
        <p:grpSpPr>
          <a:xfrm>
            <a:off x="11482200" y="1690920"/>
            <a:ext cx="5846400" cy="6105960"/>
            <a:chOff x="11482200" y="1690920"/>
            <a:chExt cx="5846400" cy="6105960"/>
          </a:xfrm>
        </p:grpSpPr>
        <p:sp>
          <p:nvSpPr>
            <p:cNvPr id="61" name="Freeform 116"/>
            <p:cNvSpPr/>
            <p:nvPr/>
          </p:nvSpPr>
          <p:spPr>
            <a:xfrm>
              <a:off x="11482200" y="1690920"/>
              <a:ext cx="5846400" cy="6105960"/>
            </a:xfrm>
            <a:custGeom>
              <a:avLst/>
              <a:gdLst>
                <a:gd name="textAreaLeft" fmla="*/ 0 w 5846400"/>
                <a:gd name="textAreaRight" fmla="*/ 5848920 w 5846400"/>
                <a:gd name="textAreaTop" fmla="*/ 0 h 6105960"/>
                <a:gd name="textAreaBottom" fmla="*/ 6108480 h 6105960"/>
              </a:gdLst>
              <a:ahLst/>
              <a:cxnLst/>
              <a:rect l="textAreaLeft" t="textAreaTop" r="textAreaRight" b="textAreaBottom"/>
              <a:pathLst>
                <a:path w="7618603" h="7956550">
                  <a:moveTo>
                    <a:pt x="0" y="0"/>
                  </a:moveTo>
                  <a:lnTo>
                    <a:pt x="7618603" y="0"/>
                  </a:lnTo>
                  <a:lnTo>
                    <a:pt x="7618603" y="7956550"/>
                  </a:lnTo>
                  <a:lnTo>
                    <a:pt x="0" y="79565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5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2" name="Freeform 117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122"/>
          <p:cNvSpPr/>
          <p:nvPr/>
        </p:nvSpPr>
        <p:spPr>
          <a:xfrm>
            <a:off x="685800" y="4208040"/>
            <a:ext cx="1097028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Whoami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What will we learn?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What is Golang?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Useful resources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Freeform 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4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Whoami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19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1730160" y="2173680"/>
            <a:ext cx="914148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About Me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Chief Security Researcher @ Breachlock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Background in Software Development &amp; Embedded Systems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Pentester, Red Teamer, Software Developer &amp; Mentor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A passion for learning how things work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6" descr="Mitchel Koster - Chief Security Researcher"/>
          <p:cNvPicPr/>
          <p:nvPr/>
        </p:nvPicPr>
        <p:blipFill>
          <a:blip r:embed="rId3"/>
          <a:stretch/>
        </p:blipFill>
        <p:spPr>
          <a:xfrm>
            <a:off x="10350360" y="2173680"/>
            <a:ext cx="5407560" cy="540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Box 13"/>
          <p:cNvSpPr/>
          <p:nvPr/>
        </p:nvSpPr>
        <p:spPr>
          <a:xfrm>
            <a:off x="1739880" y="5485320"/>
            <a:ext cx="935928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Certifications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OSCP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OSCE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CREST: CPSA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OpenSymbol"/>
              <a:buChar char="-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CREST: CRPT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" name="Straight Connector 14"/>
          <p:cNvCxnSpPr/>
          <p:nvPr/>
        </p:nvCxnSpPr>
        <p:spPr>
          <a:xfrm>
            <a:off x="1587240" y="1913400"/>
            <a:ext cx="2520" cy="7165440"/>
          </a:xfrm>
          <a:prstGeom prst="straightConnector1">
            <a:avLst/>
          </a:prstGeom>
          <a:ln w="76320">
            <a:solidFill>
              <a:srgbClr val="EEECE1"/>
            </a:solidFill>
            <a:round/>
          </a:ln>
        </p:spPr>
      </p:cxnSp>
      <p:sp>
        <p:nvSpPr>
          <p:cNvPr id="71" name="TextBox 5"/>
          <p:cNvSpPr/>
          <p:nvPr/>
        </p:nvSpPr>
        <p:spPr>
          <a:xfrm>
            <a:off x="9798480" y="7730640"/>
            <a:ext cx="6511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150000"/>
              </a:lnSpc>
            </a:pPr>
            <a:r>
              <a:rPr lang="en-US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  <a:hlinkClick r:id="rId4"/>
              </a:rPr>
              <a:t>https://www.linkedin.com/in/mitchelkoster/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Freeform 8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What is Go?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9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8"/>
          <p:cNvSpPr/>
          <p:nvPr/>
        </p:nvSpPr>
        <p:spPr>
          <a:xfrm>
            <a:off x="2057400" y="2286000"/>
            <a:ext cx="946908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What Google Says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An open-source programming language supported by Google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Easy to learn and great for teams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Built-in concurrency and a robust standard library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Large ecosystem of partners, communities, and tools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"/>
          <p:cNvPicPr/>
          <p:nvPr/>
        </p:nvPicPr>
        <p:blipFill>
          <a:blip r:embed="rId4"/>
          <a:stretch/>
        </p:blipFill>
        <p:spPr>
          <a:xfrm>
            <a:off x="11658600" y="2743200"/>
            <a:ext cx="5941440" cy="594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29"/>
          <p:cNvSpPr/>
          <p:nvPr/>
        </p:nvSpPr>
        <p:spPr>
          <a:xfrm>
            <a:off x="2057400" y="5396760"/>
            <a:ext cx="9469080" cy="46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My own additions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 language with a </a:t>
            </a:r>
            <a:r>
              <a:rPr lang="en-GB" sz="2400" b="0" i="1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“simplicity first”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approach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It’s not a loosely-typed language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Build from the ground up with scalability in mind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It’s compiled and supports cross-platform compilation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Is one of the fastest languages out there!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0270440" y="8915400"/>
            <a:ext cx="7788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800280" lvl="1" indent="-34308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  <a:hlinkClick r:id="rId5"/>
              </a:rPr>
              <a:t>https://www.destroyallsoftware.com/talks/wat</a:t>
            </a:r>
            <a:r>
              <a:rPr lang="en-US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</a:rPr>
              <a:t> (video)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Freeform 10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What will we learn?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Freeform 11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3" name=""/>
          <p:cNvPicPr/>
          <p:nvPr/>
        </p:nvPicPr>
        <p:blipFill>
          <a:blip r:embed="rId3"/>
          <a:stretch/>
        </p:blipFill>
        <p:spPr>
          <a:xfrm>
            <a:off x="315000" y="457236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Box 30"/>
          <p:cNvSpPr/>
          <p:nvPr/>
        </p:nvSpPr>
        <p:spPr>
          <a:xfrm>
            <a:off x="2286000" y="1828800"/>
            <a:ext cx="15412680" cy="66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2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0x01 - Setup &amp; Tooling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Install Go, write and compile your first program.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2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0x02 – Language Basics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Learn variables, control flow, and functions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2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0x03 - Files &amp; Errors</a:t>
            </a:r>
            <a:r>
              <a:rPr lang="en-GB" sz="2400" b="1" u="none" strike="noStrike">
                <a:solidFill>
                  <a:srgbClr val="2A6099"/>
                </a:solidFill>
                <a:effectLst/>
                <a:uFillTx/>
                <a:latin typeface="Calibri"/>
                <a:ea typeface="Noto Sans CJK SC"/>
              </a:rPr>
              <a:t>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Understand the “Go way” of error handling and basic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2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3465A4"/>
                </a:solidFill>
                <a:effectLst/>
                <a:uFillTx/>
                <a:latin typeface="Calibri"/>
                <a:ea typeface="Noto Sans CJK SC"/>
              </a:rPr>
              <a:t>Exercise</a:t>
            </a:r>
            <a:r>
              <a:rPr lang="en-GB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Spot my mistake!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2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0x04 - Data Structures</a:t>
            </a:r>
            <a:r>
              <a:rPr lang="en-GB" sz="2400" b="1" u="none" strike="noStrike">
                <a:solidFill>
                  <a:srgbClr val="2A6099"/>
                </a:solidFill>
                <a:effectLst/>
                <a:uFillTx/>
                <a:latin typeface="Calibri"/>
                <a:ea typeface="Noto Sans CJK SC"/>
              </a:rPr>
              <a:t>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Work with slices, maps, and structs and pointers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2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3465A4"/>
                </a:solidFill>
                <a:effectLst/>
                <a:uFillTx/>
                <a:latin typeface="Calibri"/>
                <a:ea typeface="Noto Sans CJK SC"/>
              </a:rPr>
              <a:t>Exercise</a:t>
            </a:r>
            <a:r>
              <a:rPr lang="en-GB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Parse web server log books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2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0x05 Go != OOP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Use composition and interfaces to build a website uptime monitor.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2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3465A4"/>
                </a:solidFill>
                <a:effectLst/>
                <a:uFillTx/>
                <a:latin typeface="Calibri"/>
                <a:ea typeface="Noto Sans CJK SC"/>
              </a:rPr>
              <a:t>Exercise</a:t>
            </a:r>
            <a:r>
              <a:rPr lang="en-GB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Build a website up-time monitor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 14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Useful Resources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Freeform 15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4"/>
          <p:cNvSpPr/>
          <p:nvPr/>
        </p:nvSpPr>
        <p:spPr>
          <a:xfrm>
            <a:off x="2286000" y="2514600"/>
            <a:ext cx="94690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2400" b="0" u="sng" strike="noStrike">
                <a:solidFill>
                  <a:schemeClr val="accent1"/>
                </a:solidFill>
                <a:effectLst/>
                <a:uFillTx/>
                <a:latin typeface="Calibri"/>
                <a:ea typeface="DejaVu Sans"/>
              </a:rPr>
              <a:t>https://go.dev/learn/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  <a:hlinkClick r:id="rId3"/>
              </a:rPr>
              <a:t>https://gobyexample.com/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2400" b="0" u="sng" strike="noStrike">
                <a:solidFill>
                  <a:schemeClr val="accent1"/>
                </a:solidFill>
                <a:effectLst/>
                <a:uFillTx/>
                <a:latin typeface="Calibri"/>
                <a:ea typeface="DejaVu Sans"/>
              </a:rPr>
              <a:t>https://quii.gitbook.io/learn-go-with-tests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4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"/>
          <p:cNvSpPr/>
          <p:nvPr/>
        </p:nvSpPr>
        <p:spPr>
          <a:xfrm>
            <a:off x="2743200" y="2514600"/>
            <a:ext cx="708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Concepts &amp; Reference Material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743560" y="4800600"/>
            <a:ext cx="70848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Go Package Repository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2523960" y="5258160"/>
            <a:ext cx="3418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2400" b="0" u="sng" strike="noStrike">
                <a:solidFill>
                  <a:schemeClr val="accent1"/>
                </a:solidFill>
                <a:effectLst/>
                <a:uFillTx/>
                <a:latin typeface="Calibri"/>
                <a:ea typeface="DejaVu Sans"/>
              </a:rPr>
              <a:t>https://pkg.go.dev/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497320" y="6401160"/>
            <a:ext cx="618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2400" b="0" u="sng" strike="noStrike">
                <a:solidFill>
                  <a:schemeClr val="accent1"/>
                </a:solidFill>
                <a:effectLst/>
                <a:uFillTx/>
                <a:latin typeface="Calibri"/>
                <a:ea typeface="DejaVu Sans"/>
              </a:rPr>
              <a:t>https://github.com/projectdiscovery/nuclei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2743560" y="6035040"/>
            <a:ext cx="70848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A Professional Project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2498040" y="7605000"/>
            <a:ext cx="7788240" cy="86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800280" lvl="1" indent="-34308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  <a:hlinkClick r:id="rId5"/>
              </a:rPr>
              <a:t>Concurrency is not Parallelism by Rob Pike  (video)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  <a:hlinkClick r:id="rId6"/>
              </a:rPr>
              <a:t>Learning Go – O’Reilly (ISBN: 978-1-098-13929-2)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2744280" y="7086600"/>
            <a:ext cx="708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Obtain the “Go Mindset”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6"/>
          <p:cNvSpPr/>
          <p:nvPr/>
        </p:nvSpPr>
        <p:spPr>
          <a:xfrm>
            <a:off x="1130040" y="3277080"/>
            <a:ext cx="1135224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chemeClr val="accent6"/>
                </a:solidFill>
                <a:effectLst/>
                <a:uFillTx/>
                <a:latin typeface="Poppins Semi-Bold"/>
                <a:ea typeface="DejaVu Sans"/>
              </a:rPr>
              <a:t>0x01 - The Go Environment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Group 4"/>
          <p:cNvGrpSpPr/>
          <p:nvPr/>
        </p:nvGrpSpPr>
        <p:grpSpPr>
          <a:xfrm>
            <a:off x="11482200" y="1690920"/>
            <a:ext cx="5846400" cy="6105960"/>
            <a:chOff x="11482200" y="1690920"/>
            <a:chExt cx="5846400" cy="6105960"/>
          </a:xfrm>
        </p:grpSpPr>
        <p:sp>
          <p:nvSpPr>
            <p:cNvPr id="99" name="Freeform 6"/>
            <p:cNvSpPr/>
            <p:nvPr/>
          </p:nvSpPr>
          <p:spPr>
            <a:xfrm>
              <a:off x="11482200" y="1690920"/>
              <a:ext cx="5846400" cy="6105960"/>
            </a:xfrm>
            <a:custGeom>
              <a:avLst/>
              <a:gdLst>
                <a:gd name="textAreaLeft" fmla="*/ 0 w 5846400"/>
                <a:gd name="textAreaRight" fmla="*/ 5848920 w 5846400"/>
                <a:gd name="textAreaTop" fmla="*/ 0 h 6105960"/>
                <a:gd name="textAreaBottom" fmla="*/ 6108480 h 6105960"/>
              </a:gdLst>
              <a:ahLst/>
              <a:cxnLst/>
              <a:rect l="textAreaLeft" t="textAreaTop" r="textAreaRight" b="textAreaBottom"/>
              <a:pathLst>
                <a:path w="7618603" h="7956550">
                  <a:moveTo>
                    <a:pt x="0" y="0"/>
                  </a:moveTo>
                  <a:lnTo>
                    <a:pt x="7618603" y="0"/>
                  </a:lnTo>
                  <a:lnTo>
                    <a:pt x="7618603" y="7956550"/>
                  </a:lnTo>
                  <a:lnTo>
                    <a:pt x="0" y="79565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5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00" name="Freeform 7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15"/>
          <p:cNvSpPr/>
          <p:nvPr/>
        </p:nvSpPr>
        <p:spPr>
          <a:xfrm>
            <a:off x="914760" y="4127040"/>
            <a:ext cx="10970280" cy="40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Students configure their environment, get familiar with the CLI, and build </a:t>
            </a:r>
            <a:br>
              <a:rPr sz="2400"/>
            </a:b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their first program.</a:t>
            </a:r>
            <a:br>
              <a:rPr sz="2400"/>
            </a:b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Setting up the Go environment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Getting familiar with Go CLI tools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Understanding Go modules &amp; packages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Freeform 12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Setting up the Go environment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Freeform 13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31"/>
          <p:cNvSpPr/>
          <p:nvPr/>
        </p:nvSpPr>
        <p:spPr>
          <a:xfrm>
            <a:off x="2057400" y="2286000"/>
            <a:ext cx="946908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Setting up the Go environment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Download Go on </a:t>
            </a:r>
            <a:r>
              <a:rPr lang="en-GB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  <a:hlinkClick r:id="rId3"/>
              </a:rPr>
              <a:t>https://go.dev/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Install Go!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Open a Terminal and type </a:t>
            </a:r>
            <a:r>
              <a:rPr lang="en-GB" sz="2400" b="0" i="1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“</a:t>
            </a:r>
            <a:r>
              <a:rPr lang="en-GB" sz="2400" b="0" i="1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go version</a:t>
            </a:r>
            <a:r>
              <a:rPr lang="en-GB" sz="2400" b="0" i="1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If this does not work check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$GOPATH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and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$PATH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"/>
          <p:cNvPicPr/>
          <p:nvPr/>
        </p:nvPicPr>
        <p:blipFill>
          <a:blip r:embed="rId4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"/>
          <p:cNvPicPr/>
          <p:nvPr/>
        </p:nvPicPr>
        <p:blipFill>
          <a:blip r:embed="rId5"/>
          <a:stretch/>
        </p:blipFill>
        <p:spPr>
          <a:xfrm>
            <a:off x="10058400" y="3200400"/>
            <a:ext cx="5877360" cy="228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"/>
          <p:cNvPicPr/>
          <p:nvPr/>
        </p:nvPicPr>
        <p:blipFill>
          <a:blip r:embed="rId6"/>
          <a:stretch/>
        </p:blipFill>
        <p:spPr>
          <a:xfrm>
            <a:off x="2450520" y="6172200"/>
            <a:ext cx="15149520" cy="29174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Freeform 3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10" name="TextBox 36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Setting up the Go environment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Freeform 3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37"/>
          <p:cNvSpPr/>
          <p:nvPr/>
        </p:nvSpPr>
        <p:spPr>
          <a:xfrm>
            <a:off x="2057400" y="2286000"/>
            <a:ext cx="946908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Let’s create our first program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We always start with “Hello World”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"/>
          <p:cNvPicPr/>
          <p:nvPr/>
        </p:nvPicPr>
        <p:blipFill>
          <a:blip r:embed="rId4"/>
          <a:stretch/>
        </p:blipFill>
        <p:spPr>
          <a:xfrm>
            <a:off x="7717320" y="4753800"/>
            <a:ext cx="5996520" cy="296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"/>
          <p:cNvPicPr/>
          <p:nvPr/>
        </p:nvPicPr>
        <p:blipFill>
          <a:blip r:embed="rId5"/>
          <a:stretch/>
        </p:blipFill>
        <p:spPr>
          <a:xfrm>
            <a:off x="3106080" y="4734720"/>
            <a:ext cx="3749760" cy="23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"/>
          <p:cNvSpPr/>
          <p:nvPr/>
        </p:nvSpPr>
        <p:spPr>
          <a:xfrm>
            <a:off x="6172200" y="5486400"/>
            <a:ext cx="1600200" cy="228600"/>
          </a:xfrm>
          <a:prstGeom prst="line">
            <a:avLst/>
          </a:prstGeom>
          <a:ln w="54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7000" tIns="72000" rIns="117000" bIns="72000" anchor="ctr">
            <a:noAutofit/>
          </a:bodyPr>
          <a:p>
            <a:endParaRPr lang="en-US" sz="1800" b="0" u="none" strike="noStrike">
              <a:solidFill>
                <a:srgbClr val="729FC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Freeform 2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18" name="TextBox 32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Getting familiar with Go CLI tools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Freeform 3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33"/>
          <p:cNvSpPr/>
          <p:nvPr/>
        </p:nvSpPr>
        <p:spPr>
          <a:xfrm>
            <a:off x="2057400" y="2286000"/>
            <a:ext cx="7998840" cy="66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The Go Tool kit is awesome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go run main.go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compile &amp; run a program quickly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go build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build a binary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go fmt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 format code automatically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go doc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view documentation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go test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run tests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Tests can do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–benchmarks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spcBef>
                <a:spcPts val="624"/>
              </a:spcBef>
              <a:spcAft>
                <a:spcPts val="425"/>
              </a:spcAft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And more!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"/>
          <p:cNvPicPr/>
          <p:nvPr/>
        </p:nvPicPr>
        <p:blipFill>
          <a:blip r:embed="rId4"/>
          <a:stretch/>
        </p:blipFill>
        <p:spPr>
          <a:xfrm>
            <a:off x="10287000" y="2514600"/>
            <a:ext cx="7587720" cy="368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"/>
          <p:cNvPicPr/>
          <p:nvPr/>
        </p:nvPicPr>
        <p:blipFill>
          <a:blip r:embed="rId5"/>
          <a:stretch/>
        </p:blipFill>
        <p:spPr>
          <a:xfrm>
            <a:off x="10287000" y="6629400"/>
            <a:ext cx="7541640" cy="284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"/>
          <p:cNvSpPr/>
          <p:nvPr/>
        </p:nvSpPr>
        <p:spPr>
          <a:xfrm>
            <a:off x="2791440" y="9372600"/>
            <a:ext cx="6350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env GOOS=darwin GOARCH=amd64 go build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743200" y="8976960"/>
            <a:ext cx="617040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To build  for a different environment: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Freeform 31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27" name="TextBox 34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Understand Go Modules and Packages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Freeform 32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35"/>
          <p:cNvSpPr/>
          <p:nvPr/>
        </p:nvSpPr>
        <p:spPr>
          <a:xfrm>
            <a:off x="2057400" y="2286000"/>
            <a:ext cx="7084440" cy="9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Go Modules &amp; Packages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module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is a Go project or a </a:t>
            </a:r>
            <a:r>
              <a:rPr lang="en-GB" sz="2400" b="0" i="1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“container of dependencies” (third party code). A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package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is a “name space” within your program.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To import a module: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16000" defTabSz="914400">
              <a:lnSpc>
                <a:spcPct val="200000"/>
              </a:lnSpc>
              <a:buClr>
                <a:srgbClr val="FFFFFF"/>
              </a:buClr>
              <a:buFont typeface="OpenSymbol"/>
              <a:buAutoNum type="arabicParenR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Initialize your project as module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16000" defTabSz="914400">
              <a:lnSpc>
                <a:spcPct val="200000"/>
              </a:lnSpc>
              <a:buClr>
                <a:srgbClr val="FFFFFF"/>
              </a:buClr>
              <a:buFont typeface="OpenSymbol"/>
              <a:buAutoNum type="arabicParenR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Use the go tool kit to “get” code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16000" defTabSz="914400">
              <a:lnSpc>
                <a:spcPct val="200000"/>
              </a:lnSpc>
              <a:buClr>
                <a:srgbClr val="FFFFFF"/>
              </a:buClr>
              <a:buFont typeface="OpenSymbol"/>
              <a:buAutoNum type="arabicParenR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Maintain dependencies in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go.mod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"/>
          <p:cNvPicPr/>
          <p:nvPr/>
        </p:nvPicPr>
        <p:blipFill>
          <a:blip r:embed="rId4"/>
          <a:stretch/>
        </p:blipFill>
        <p:spPr>
          <a:xfrm>
            <a:off x="9277200" y="3657600"/>
            <a:ext cx="8551440" cy="190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"/>
          <p:cNvPicPr/>
          <p:nvPr/>
        </p:nvPicPr>
        <p:blipFill>
          <a:blip r:embed="rId5"/>
          <a:stretch/>
        </p:blipFill>
        <p:spPr>
          <a:xfrm>
            <a:off x="9045360" y="5710320"/>
            <a:ext cx="8783280" cy="366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"/>
          <p:cNvSpPr/>
          <p:nvPr/>
        </p:nvSpPr>
        <p:spPr>
          <a:xfrm>
            <a:off x="11658600" y="9601200"/>
            <a:ext cx="41806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sng" strike="noStrike">
                <a:solidFill>
                  <a:schemeClr val="accent1"/>
                </a:solidFill>
                <a:effectLst/>
                <a:uFillTx/>
                <a:latin typeface="Calibri"/>
                <a:ea typeface="DejaVu Sans"/>
              </a:rPr>
              <a:t>https://github.com/fatih/color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fill="hold" nodeType="clickEffect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fill="hold" nodeType="clickEffect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3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Box 16"/>
          <p:cNvSpPr/>
          <p:nvPr/>
        </p:nvSpPr>
        <p:spPr>
          <a:xfrm>
            <a:off x="1130040" y="3277080"/>
            <a:ext cx="1135224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chemeClr val="accent6"/>
                </a:solidFill>
                <a:effectLst/>
                <a:uFillTx/>
                <a:latin typeface="Poppins Semi-Bold"/>
                <a:ea typeface="DejaVu Sans"/>
              </a:rPr>
              <a:t>0x02 - Language basics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35" name="Group 5"/>
          <p:cNvGrpSpPr/>
          <p:nvPr/>
        </p:nvGrpSpPr>
        <p:grpSpPr>
          <a:xfrm>
            <a:off x="11482200" y="1690920"/>
            <a:ext cx="5846400" cy="6105960"/>
            <a:chOff x="11482200" y="1690920"/>
            <a:chExt cx="5846400" cy="6105960"/>
          </a:xfrm>
        </p:grpSpPr>
        <p:sp>
          <p:nvSpPr>
            <p:cNvPr id="136" name="Freeform 16"/>
            <p:cNvSpPr/>
            <p:nvPr/>
          </p:nvSpPr>
          <p:spPr>
            <a:xfrm>
              <a:off x="11482200" y="1690920"/>
              <a:ext cx="5846400" cy="6105960"/>
            </a:xfrm>
            <a:custGeom>
              <a:avLst/>
              <a:gdLst>
                <a:gd name="textAreaLeft" fmla="*/ 0 w 5846400"/>
                <a:gd name="textAreaRight" fmla="*/ 5848920 w 5846400"/>
                <a:gd name="textAreaTop" fmla="*/ 0 h 6105960"/>
                <a:gd name="textAreaBottom" fmla="*/ 6108480 h 6105960"/>
              </a:gdLst>
              <a:ahLst/>
              <a:cxnLst/>
              <a:rect l="textAreaLeft" t="textAreaTop" r="textAreaRight" b="textAreaBottom"/>
              <a:pathLst>
                <a:path w="7618603" h="7956550">
                  <a:moveTo>
                    <a:pt x="0" y="0"/>
                  </a:moveTo>
                  <a:lnTo>
                    <a:pt x="7618603" y="0"/>
                  </a:lnTo>
                  <a:lnTo>
                    <a:pt x="7618603" y="7956550"/>
                  </a:lnTo>
                  <a:lnTo>
                    <a:pt x="0" y="79565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5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37" name="Freeform 17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7"/>
          <p:cNvSpPr/>
          <p:nvPr/>
        </p:nvSpPr>
        <p:spPr>
          <a:xfrm>
            <a:off x="914400" y="4390920"/>
            <a:ext cx="10970280" cy="29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Minimal building blocks for writing simple programs: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Variables, constants &amp; data types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Control flows &amp; Defer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Functions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11887200" y="9601200"/>
            <a:ext cx="63896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sng" strike="noStrike">
                <a:solidFill>
                  <a:schemeClr val="accent1"/>
                </a:solidFill>
                <a:effectLst/>
                <a:uFillTx/>
                <a:latin typeface="Calibri"/>
                <a:ea typeface="DejaVu Sans"/>
              </a:rPr>
              <a:t>https://www.destroyallsoftware.com/talks/wat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Freeform 37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41" name="TextBox 41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Variables, Constants &amp;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Freeform 38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42"/>
          <p:cNvSpPr/>
          <p:nvPr/>
        </p:nvSpPr>
        <p:spPr>
          <a:xfrm>
            <a:off x="2971800" y="1649160"/>
            <a:ext cx="5484240" cy="47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Basic Data Types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Go has very few data types.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5" name=""/>
          <p:cNvPicPr/>
          <p:nvPr/>
        </p:nvPicPr>
        <p:blipFill>
          <a:blip r:embed="rId4"/>
          <a:stretch/>
        </p:blipFill>
        <p:spPr>
          <a:xfrm>
            <a:off x="3515760" y="3706560"/>
            <a:ext cx="3797280" cy="591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TextBox 43"/>
          <p:cNvSpPr/>
          <p:nvPr/>
        </p:nvSpPr>
        <p:spPr>
          <a:xfrm>
            <a:off x="8686800" y="1600200"/>
            <a:ext cx="8227440" cy="53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Variables and variable Declaration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There is some quirks to variables.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"/>
          <p:cNvPicPr/>
          <p:nvPr/>
        </p:nvPicPr>
        <p:blipFill>
          <a:blip r:embed="rId5"/>
          <a:stretch/>
        </p:blipFill>
        <p:spPr>
          <a:xfrm>
            <a:off x="9144360" y="3632400"/>
            <a:ext cx="7553520" cy="368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"/>
          <p:cNvPicPr/>
          <p:nvPr/>
        </p:nvPicPr>
        <p:blipFill>
          <a:blip r:embed="rId6"/>
          <a:stretch/>
        </p:blipFill>
        <p:spPr>
          <a:xfrm>
            <a:off x="9144360" y="7704000"/>
            <a:ext cx="7149960" cy="166680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Freeform 3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50" name="TextBox 38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Variables, Constants &amp;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Freeform 3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2971800" y="1649160"/>
            <a:ext cx="12342240" cy="47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Constants  and Global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As in other languages, constants are immutable when initialized.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"/>
          <p:cNvPicPr/>
          <p:nvPr/>
        </p:nvPicPr>
        <p:blipFill>
          <a:blip r:embed="rId4"/>
          <a:stretch/>
        </p:blipFill>
        <p:spPr>
          <a:xfrm>
            <a:off x="3429000" y="3657600"/>
            <a:ext cx="8548560" cy="1559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5" name=""/>
          <p:cNvPicPr/>
          <p:nvPr/>
        </p:nvPicPr>
        <p:blipFill>
          <a:blip r:embed="rId5"/>
          <a:stretch/>
        </p:blipFill>
        <p:spPr>
          <a:xfrm>
            <a:off x="3429360" y="6647400"/>
            <a:ext cx="8456040" cy="2494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"/>
          <p:cNvSpPr/>
          <p:nvPr/>
        </p:nvSpPr>
        <p:spPr>
          <a:xfrm>
            <a:off x="3429000" y="5947200"/>
            <a:ext cx="812736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Global variables (must use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var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) can be redeclared in the context of a scope.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Freeform 3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58" name="TextBox 40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Control Flow &amp; Defer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Freeform 4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44"/>
          <p:cNvSpPr/>
          <p:nvPr/>
        </p:nvSpPr>
        <p:spPr>
          <a:xfrm>
            <a:off x="2971800" y="1649160"/>
            <a:ext cx="14171040" cy="47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If statements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Are no different from what you are used to, minus the parenthesis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( 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1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2" name=""/>
          <p:cNvPicPr/>
          <p:nvPr/>
        </p:nvPicPr>
        <p:blipFill>
          <a:blip r:embed="rId4"/>
          <a:stretch/>
        </p:blipFill>
        <p:spPr>
          <a:xfrm>
            <a:off x="3535200" y="3886200"/>
            <a:ext cx="10178640" cy="56552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Freeform 41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64" name="TextBox 45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Control Flow &amp; Defer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Freeform 42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46"/>
          <p:cNvSpPr/>
          <p:nvPr/>
        </p:nvSpPr>
        <p:spPr>
          <a:xfrm>
            <a:off x="2971800" y="1649160"/>
            <a:ext cx="14171040" cy="46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Switches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Can run on much more than just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integers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"/>
          <p:cNvPicPr/>
          <p:nvPr/>
        </p:nvPicPr>
        <p:blipFill>
          <a:blip r:embed="rId4"/>
          <a:stretch/>
        </p:blipFill>
        <p:spPr>
          <a:xfrm>
            <a:off x="3657600" y="3849120"/>
            <a:ext cx="8863920" cy="369252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Freeform 4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70" name="TextBox 47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Control Flow &amp; Defer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Freeform 4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48"/>
          <p:cNvSpPr/>
          <p:nvPr/>
        </p:nvSpPr>
        <p:spPr>
          <a:xfrm>
            <a:off x="2971800" y="1649160"/>
            <a:ext cx="14171040" cy="46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Switches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You can perform calculations in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cases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, this reduces overhead.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"/>
          <p:cNvPicPr/>
          <p:nvPr/>
        </p:nvPicPr>
        <p:blipFill>
          <a:blip r:embed="rId4"/>
          <a:stretch/>
        </p:blipFill>
        <p:spPr>
          <a:xfrm>
            <a:off x="3468240" y="3753720"/>
            <a:ext cx="6588000" cy="523548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Freeform 4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76" name="TextBox 49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Control Flow &amp; Defer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Freeform 4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50"/>
          <p:cNvSpPr/>
          <p:nvPr/>
        </p:nvSpPr>
        <p:spPr>
          <a:xfrm>
            <a:off x="2971800" y="1649160"/>
            <a:ext cx="14171040" cy="46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Switches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Or create switches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without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conditions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in place of long if-else statements.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0" name=""/>
          <p:cNvPicPr/>
          <p:nvPr/>
        </p:nvPicPr>
        <p:blipFill>
          <a:blip r:embed="rId4"/>
          <a:stretch/>
        </p:blipFill>
        <p:spPr>
          <a:xfrm>
            <a:off x="3639600" y="3886200"/>
            <a:ext cx="7785720" cy="45698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Freeform 47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82" name="TextBox 51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Control Flow &amp; Defer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Freeform 48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52"/>
          <p:cNvSpPr/>
          <p:nvPr/>
        </p:nvSpPr>
        <p:spPr>
          <a:xfrm>
            <a:off x="2971800" y="1649160"/>
            <a:ext cx="14171040" cy="46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Switches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You can multiple condition meet in one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case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"/>
          <p:cNvPicPr/>
          <p:nvPr/>
        </p:nvPicPr>
        <p:blipFill>
          <a:blip r:embed="rId4"/>
          <a:stretch/>
        </p:blipFill>
        <p:spPr>
          <a:xfrm>
            <a:off x="3657600" y="3696840"/>
            <a:ext cx="7081920" cy="293076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Freeform 4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88" name="TextBox 53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Control Flow &amp; Defer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Freeform 5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54"/>
          <p:cNvSpPr/>
          <p:nvPr/>
        </p:nvSpPr>
        <p:spPr>
          <a:xfrm>
            <a:off x="2971800" y="1649160"/>
            <a:ext cx="14171040" cy="46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For loops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There is nothing new about a 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for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loop.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"/>
          <p:cNvPicPr/>
          <p:nvPr/>
        </p:nvPicPr>
        <p:blipFill>
          <a:blip r:embed="rId4"/>
          <a:stretch/>
        </p:blipFill>
        <p:spPr>
          <a:xfrm>
            <a:off x="3657600" y="3858480"/>
            <a:ext cx="5027040" cy="259128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Freeform 51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194" name="TextBox 55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Control Flow &amp; Defer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Freeform 52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56"/>
          <p:cNvSpPr/>
          <p:nvPr/>
        </p:nvSpPr>
        <p:spPr>
          <a:xfrm>
            <a:off x="2971800" y="1649160"/>
            <a:ext cx="141710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For: One loop to rule them all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Other than it’s the only loop you’ll ever need, while do we have a while syntax?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"/>
          <p:cNvPicPr/>
          <p:nvPr/>
        </p:nvPicPr>
        <p:blipFill>
          <a:blip r:embed="rId4"/>
          <a:stretch/>
        </p:blipFill>
        <p:spPr>
          <a:xfrm>
            <a:off x="3429000" y="3925080"/>
            <a:ext cx="4798440" cy="2473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"/>
          <p:cNvPicPr/>
          <p:nvPr/>
        </p:nvPicPr>
        <p:blipFill>
          <a:blip r:embed="rId5"/>
          <a:stretch/>
        </p:blipFill>
        <p:spPr>
          <a:xfrm>
            <a:off x="6700320" y="6622920"/>
            <a:ext cx="4956120" cy="297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0" name=""/>
          <p:cNvPicPr/>
          <p:nvPr/>
        </p:nvPicPr>
        <p:blipFill>
          <a:blip r:embed="rId6"/>
          <a:stretch/>
        </p:blipFill>
        <p:spPr>
          <a:xfrm>
            <a:off x="9632520" y="3886200"/>
            <a:ext cx="6138720" cy="22838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Freeform 5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02" name="TextBox 57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Control Flow &amp; Defer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Freeform 5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58"/>
          <p:cNvSpPr/>
          <p:nvPr/>
        </p:nvSpPr>
        <p:spPr>
          <a:xfrm>
            <a:off x="2971800" y="1649160"/>
            <a:ext cx="141710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For: One loop to rule them all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For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loops can do iteration to, even over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built-in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types, it’s essentially an </a:t>
            </a:r>
            <a:r>
              <a:rPr lang="en-GB" sz="2400" b="0" u="none" strike="noStrike">
                <a:solidFill>
                  <a:srgbClr val="FF8000"/>
                </a:solidFill>
                <a:effectLst/>
                <a:uFillTx/>
                <a:latin typeface="Calibri"/>
                <a:ea typeface="Noto Sans CJK SC"/>
              </a:rPr>
              <a:t>for each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5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"/>
          <p:cNvPicPr/>
          <p:nvPr/>
        </p:nvPicPr>
        <p:blipFill>
          <a:blip r:embed="rId4"/>
          <a:stretch/>
        </p:blipFill>
        <p:spPr>
          <a:xfrm>
            <a:off x="3711240" y="3886200"/>
            <a:ext cx="4256280" cy="228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7" name=""/>
          <p:cNvPicPr/>
          <p:nvPr/>
        </p:nvPicPr>
        <p:blipFill>
          <a:blip r:embed="rId5"/>
          <a:stretch/>
        </p:blipFill>
        <p:spPr>
          <a:xfrm>
            <a:off x="8556480" y="3882960"/>
            <a:ext cx="6426720" cy="251568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Freeform 5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09" name="TextBox 59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Functions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Freeform 5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60"/>
          <p:cNvSpPr/>
          <p:nvPr/>
        </p:nvSpPr>
        <p:spPr>
          <a:xfrm>
            <a:off x="2971800" y="1649160"/>
            <a:ext cx="14171040" cy="49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Functions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For every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parameter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, name first, type second.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Return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a value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at the END of the function header.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3" name=""/>
          <p:cNvPicPr/>
          <p:nvPr/>
        </p:nvPicPr>
        <p:blipFill>
          <a:blip r:embed="rId4"/>
          <a:stretch/>
        </p:blipFill>
        <p:spPr>
          <a:xfrm>
            <a:off x="3429000" y="4572000"/>
            <a:ext cx="7729920" cy="2055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4" name=""/>
          <p:cNvPicPr/>
          <p:nvPr/>
        </p:nvPicPr>
        <p:blipFill>
          <a:blip r:embed="rId5"/>
          <a:stretch/>
        </p:blipFill>
        <p:spPr>
          <a:xfrm>
            <a:off x="13030200" y="3200400"/>
            <a:ext cx="3740760" cy="143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5" name=""/>
          <p:cNvPicPr/>
          <p:nvPr/>
        </p:nvPicPr>
        <p:blipFill>
          <a:blip r:embed="rId6"/>
          <a:stretch/>
        </p:blipFill>
        <p:spPr>
          <a:xfrm>
            <a:off x="13030200" y="5029200"/>
            <a:ext cx="4473720" cy="436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"/>
          <p:cNvSpPr/>
          <p:nvPr/>
        </p:nvSpPr>
        <p:spPr>
          <a:xfrm>
            <a:off x="16459200" y="3886200"/>
            <a:ext cx="685800" cy="13716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"/>
          <p:cNvPicPr/>
          <p:nvPr/>
        </p:nvPicPr>
        <p:blipFill>
          <a:blip r:embed="rId7"/>
          <a:stretch/>
        </p:blipFill>
        <p:spPr>
          <a:xfrm>
            <a:off x="3328920" y="7926480"/>
            <a:ext cx="8327520" cy="144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"/>
          <p:cNvSpPr/>
          <p:nvPr/>
        </p:nvSpPr>
        <p:spPr>
          <a:xfrm flipH="1">
            <a:off x="10515600" y="4343400"/>
            <a:ext cx="2971800" cy="38862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Freeform 57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20" name="TextBox 61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Functions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Freeform 58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TextBox 62"/>
          <p:cNvSpPr/>
          <p:nvPr/>
        </p:nvSpPr>
        <p:spPr>
          <a:xfrm>
            <a:off x="2971800" y="1649160"/>
            <a:ext cx="141710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Multiple returns &amp; Named returns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It’s also possible to return more than one value, and even do returns based on name.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4" name=""/>
          <p:cNvPicPr/>
          <p:nvPr/>
        </p:nvPicPr>
        <p:blipFill>
          <a:blip r:embed="rId4"/>
          <a:stretch/>
        </p:blipFill>
        <p:spPr>
          <a:xfrm>
            <a:off x="3525480" y="3657600"/>
            <a:ext cx="5209920" cy="548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5" name=""/>
          <p:cNvPicPr/>
          <p:nvPr/>
        </p:nvPicPr>
        <p:blipFill>
          <a:blip r:embed="rId5"/>
          <a:stretch/>
        </p:blipFill>
        <p:spPr>
          <a:xfrm>
            <a:off x="9507240" y="3657600"/>
            <a:ext cx="5815440" cy="548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6" name=""/>
          <p:cNvPicPr/>
          <p:nvPr/>
        </p:nvPicPr>
        <p:blipFill>
          <a:blip r:embed="rId6"/>
          <a:stretch/>
        </p:blipFill>
        <p:spPr>
          <a:xfrm>
            <a:off x="6530040" y="9372600"/>
            <a:ext cx="6498000" cy="69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"/>
          <p:cNvSpPr/>
          <p:nvPr/>
        </p:nvSpPr>
        <p:spPr>
          <a:xfrm>
            <a:off x="5715000" y="8915400"/>
            <a:ext cx="815040" cy="4572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 flipH="1">
            <a:off x="11887200" y="8915400"/>
            <a:ext cx="685800" cy="4572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Freeform 5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30" name="TextBox 63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Functions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Freeform 6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4"/>
          <p:cNvSpPr/>
          <p:nvPr/>
        </p:nvSpPr>
        <p:spPr>
          <a:xfrm>
            <a:off x="2971800" y="1649160"/>
            <a:ext cx="141710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Variadic Functions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If you need to supply dynamic  range of arguments for a function, you can use variadic functions.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"/>
          <p:cNvPicPr/>
          <p:nvPr/>
        </p:nvPicPr>
        <p:blipFill>
          <a:blip r:embed="rId4"/>
          <a:stretch/>
        </p:blipFill>
        <p:spPr>
          <a:xfrm>
            <a:off x="3429000" y="3657600"/>
            <a:ext cx="9064080" cy="2900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5" name=""/>
          <p:cNvPicPr/>
          <p:nvPr/>
        </p:nvPicPr>
        <p:blipFill>
          <a:blip r:embed="rId5"/>
          <a:stretch/>
        </p:blipFill>
        <p:spPr>
          <a:xfrm>
            <a:off x="6437880" y="7311240"/>
            <a:ext cx="8190360" cy="117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"/>
          <p:cNvSpPr/>
          <p:nvPr/>
        </p:nvSpPr>
        <p:spPr>
          <a:xfrm>
            <a:off x="9829800" y="6331320"/>
            <a:ext cx="1143000" cy="11430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Freeform 61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38" name="TextBox 65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Functions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Freeform 62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66"/>
          <p:cNvSpPr/>
          <p:nvPr/>
        </p:nvSpPr>
        <p:spPr>
          <a:xfrm>
            <a:off x="2971800" y="1649160"/>
            <a:ext cx="141710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Anonymous functions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Anonymous functions can be called in line, used as callbacks, etc.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"/>
          <p:cNvPicPr/>
          <p:nvPr/>
        </p:nvPicPr>
        <p:blipFill>
          <a:blip r:embed="rId4"/>
          <a:stretch/>
        </p:blipFill>
        <p:spPr>
          <a:xfrm>
            <a:off x="3657600" y="3846960"/>
            <a:ext cx="5168880" cy="278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3" name=""/>
          <p:cNvPicPr/>
          <p:nvPr/>
        </p:nvPicPr>
        <p:blipFill>
          <a:blip r:embed="rId5"/>
          <a:stretch/>
        </p:blipFill>
        <p:spPr>
          <a:xfrm>
            <a:off x="9372600" y="3886560"/>
            <a:ext cx="5962680" cy="15980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Box 20"/>
          <p:cNvSpPr/>
          <p:nvPr/>
        </p:nvSpPr>
        <p:spPr>
          <a:xfrm>
            <a:off x="1130040" y="3277080"/>
            <a:ext cx="1601280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chemeClr val="accent6"/>
                </a:solidFill>
                <a:effectLst/>
                <a:uFillTx/>
                <a:latin typeface="Poppins Semi-Bold"/>
                <a:ea typeface="DejaVu Sans"/>
              </a:rPr>
              <a:t>0x03 - Files &amp; Error handling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45" name="Group 7"/>
          <p:cNvGrpSpPr/>
          <p:nvPr/>
        </p:nvGrpSpPr>
        <p:grpSpPr>
          <a:xfrm>
            <a:off x="11482200" y="1690920"/>
            <a:ext cx="5846400" cy="6105960"/>
            <a:chOff x="11482200" y="1690920"/>
            <a:chExt cx="5846400" cy="6105960"/>
          </a:xfrm>
        </p:grpSpPr>
        <p:sp>
          <p:nvSpPr>
            <p:cNvPr id="246" name="Freeform 21"/>
            <p:cNvSpPr/>
            <p:nvPr/>
          </p:nvSpPr>
          <p:spPr>
            <a:xfrm>
              <a:off x="11482200" y="1690920"/>
              <a:ext cx="5846400" cy="6105960"/>
            </a:xfrm>
            <a:custGeom>
              <a:avLst/>
              <a:gdLst>
                <a:gd name="textAreaLeft" fmla="*/ 0 w 5846400"/>
                <a:gd name="textAreaRight" fmla="*/ 5848920 w 5846400"/>
                <a:gd name="textAreaTop" fmla="*/ 0 h 6105960"/>
                <a:gd name="textAreaBottom" fmla="*/ 6108480 h 6105960"/>
              </a:gdLst>
              <a:ahLst/>
              <a:cxnLst/>
              <a:rect l="textAreaLeft" t="textAreaTop" r="textAreaRight" b="textAreaBottom"/>
              <a:pathLst>
                <a:path w="7618603" h="7956550">
                  <a:moveTo>
                    <a:pt x="0" y="0"/>
                  </a:moveTo>
                  <a:lnTo>
                    <a:pt x="7618603" y="0"/>
                  </a:lnTo>
                  <a:lnTo>
                    <a:pt x="7618603" y="7956550"/>
                  </a:lnTo>
                  <a:lnTo>
                    <a:pt x="0" y="79565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5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47" name="Freeform 22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1"/>
          <p:cNvSpPr/>
          <p:nvPr/>
        </p:nvSpPr>
        <p:spPr>
          <a:xfrm>
            <a:off x="914400" y="4390920"/>
            <a:ext cx="10970280" cy="35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Go handles some things differently, so let’s discuss them while learning how to read files so and get accustomed to error handling.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The “Go way” of error handling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Opening files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Reading and Writing to files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Freeform 67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50" name="TextBox 71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The “Go way” of error handling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Freeform 68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72"/>
          <p:cNvSpPr/>
          <p:nvPr/>
        </p:nvSpPr>
        <p:spPr>
          <a:xfrm>
            <a:off x="2971800" y="1649160"/>
            <a:ext cx="1074240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Idiomatic Errors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Observe the idiomatic way of error handling, functions will often return an error.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"/>
          <p:cNvPicPr/>
          <p:nvPr/>
        </p:nvPicPr>
        <p:blipFill>
          <a:blip r:embed="rId4"/>
          <a:stretch/>
        </p:blipFill>
        <p:spPr>
          <a:xfrm>
            <a:off x="5029200" y="6744600"/>
            <a:ext cx="12217320" cy="2625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"/>
          <p:cNvPicPr/>
          <p:nvPr/>
        </p:nvPicPr>
        <p:blipFill>
          <a:blip r:embed="rId5"/>
          <a:stretch/>
        </p:blipFill>
        <p:spPr>
          <a:xfrm>
            <a:off x="3528000" y="3638880"/>
            <a:ext cx="5842440" cy="253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"/>
          <p:cNvSpPr/>
          <p:nvPr/>
        </p:nvSpPr>
        <p:spPr>
          <a:xfrm>
            <a:off x="8686800" y="5943600"/>
            <a:ext cx="685800" cy="9144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Freeform 6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58" name="TextBox 73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The “Go way” of error handling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Freeform 7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74"/>
          <p:cNvSpPr/>
          <p:nvPr/>
        </p:nvSpPr>
        <p:spPr>
          <a:xfrm>
            <a:off x="2971800" y="1649160"/>
            <a:ext cx="1165680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Custom errors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Custom errors can be made, you choose the level of granularity.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1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2" name=""/>
          <p:cNvPicPr/>
          <p:nvPr/>
        </p:nvPicPr>
        <p:blipFill>
          <a:blip r:embed="rId4"/>
          <a:stretch/>
        </p:blipFill>
        <p:spPr>
          <a:xfrm>
            <a:off x="10627920" y="3728880"/>
            <a:ext cx="6286320" cy="541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3" name=""/>
          <p:cNvPicPr/>
          <p:nvPr/>
        </p:nvPicPr>
        <p:blipFill>
          <a:blip r:embed="rId5"/>
          <a:stretch/>
        </p:blipFill>
        <p:spPr>
          <a:xfrm>
            <a:off x="3429000" y="3744360"/>
            <a:ext cx="6627240" cy="461736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Freeform 6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65" name="TextBox 67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Opening files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Freeform 6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68"/>
          <p:cNvSpPr/>
          <p:nvPr/>
        </p:nvSpPr>
        <p:spPr>
          <a:xfrm>
            <a:off x="2971800" y="1649160"/>
            <a:ext cx="1074240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Opening Files for Reading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Open files for reading by obtaining a file handler. What does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defer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do again?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9" name=""/>
          <p:cNvPicPr/>
          <p:nvPr/>
        </p:nvPicPr>
        <p:blipFill>
          <a:blip r:embed="rId4"/>
          <a:stretch/>
        </p:blipFill>
        <p:spPr>
          <a:xfrm>
            <a:off x="3566160" y="3753360"/>
            <a:ext cx="5347080" cy="228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0" name=""/>
          <p:cNvPicPr/>
          <p:nvPr/>
        </p:nvPicPr>
        <p:blipFill>
          <a:blip r:embed="rId5"/>
          <a:stretch/>
        </p:blipFill>
        <p:spPr>
          <a:xfrm>
            <a:off x="3429000" y="6858000"/>
            <a:ext cx="9518400" cy="184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"/>
          <p:cNvSpPr/>
          <p:nvPr/>
        </p:nvSpPr>
        <p:spPr>
          <a:xfrm>
            <a:off x="3443040" y="6462360"/>
            <a:ext cx="7070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You can use the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OpenFile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function for more control.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Freeform 6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73" name="TextBox 69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Reading &amp; Writing to files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Freeform 6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70"/>
          <p:cNvSpPr/>
          <p:nvPr/>
        </p:nvSpPr>
        <p:spPr>
          <a:xfrm>
            <a:off x="2971800" y="1649160"/>
            <a:ext cx="141710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Reading and Writing to files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Reading and writing to files is simple, dump in memory, use buffers, just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defer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and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flush buffers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6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"/>
          <p:cNvPicPr/>
          <p:nvPr/>
        </p:nvPicPr>
        <p:blipFill>
          <a:blip r:embed="rId4"/>
          <a:stretch/>
        </p:blipFill>
        <p:spPr>
          <a:xfrm>
            <a:off x="3429000" y="3782880"/>
            <a:ext cx="6495120" cy="330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8" name=""/>
          <p:cNvPicPr/>
          <p:nvPr/>
        </p:nvPicPr>
        <p:blipFill>
          <a:blip r:embed="rId5"/>
          <a:stretch/>
        </p:blipFill>
        <p:spPr>
          <a:xfrm>
            <a:off x="10744200" y="3778200"/>
            <a:ext cx="5843520" cy="58208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Box 114"/>
          <p:cNvSpPr/>
          <p:nvPr/>
        </p:nvSpPr>
        <p:spPr>
          <a:xfrm>
            <a:off x="1130040" y="3277080"/>
            <a:ext cx="1135224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rgbClr val="729FCF"/>
                </a:solidFill>
                <a:effectLst/>
                <a:uFillTx/>
                <a:latin typeface="Poppins Semi-Bold"/>
                <a:ea typeface="DejaVu Sans"/>
              </a:rPr>
              <a:t>Exercise – Spot my mistake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Freeform 112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1" name="TextBox 115"/>
          <p:cNvSpPr/>
          <p:nvPr/>
        </p:nvSpPr>
        <p:spPr>
          <a:xfrm>
            <a:off x="914400" y="4127040"/>
            <a:ext cx="10970280" cy="35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 made a mistake writing my first Go program. Can you spot it?</a:t>
            </a:r>
            <a:br>
              <a:rPr sz="2400"/>
            </a:b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Explain what my function does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What go principle did I not follow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  <a:hlinkClick r:id="rId2"/>
              </a:rPr>
              <a:t>https://github.com/mitchelkoster/vacay-gaurdian/blob/main/storage/storage.go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5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2" name=""/>
          <p:cNvPicPr/>
          <p:nvPr/>
        </p:nvPicPr>
        <p:blipFill>
          <a:blip r:embed="rId3"/>
          <a:stretch/>
        </p:blipFill>
        <p:spPr>
          <a:xfrm>
            <a:off x="11430000" y="3134880"/>
            <a:ext cx="6726960" cy="600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Box 18"/>
          <p:cNvSpPr/>
          <p:nvPr/>
        </p:nvSpPr>
        <p:spPr>
          <a:xfrm>
            <a:off x="1130040" y="3277080"/>
            <a:ext cx="1601280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chemeClr val="accent6"/>
                </a:solidFill>
                <a:effectLst/>
                <a:uFillTx/>
                <a:latin typeface="Poppins Semi-Bold"/>
                <a:ea typeface="DejaVu Sans"/>
              </a:rPr>
              <a:t>0x04 - Advanced data types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84" name="Group 6"/>
          <p:cNvGrpSpPr/>
          <p:nvPr/>
        </p:nvGrpSpPr>
        <p:grpSpPr>
          <a:xfrm>
            <a:off x="11482200" y="1690920"/>
            <a:ext cx="5846400" cy="6105960"/>
            <a:chOff x="11482200" y="1690920"/>
            <a:chExt cx="5846400" cy="6105960"/>
          </a:xfrm>
        </p:grpSpPr>
        <p:sp>
          <p:nvSpPr>
            <p:cNvPr id="285" name="Freeform 18"/>
            <p:cNvSpPr/>
            <p:nvPr/>
          </p:nvSpPr>
          <p:spPr>
            <a:xfrm>
              <a:off x="11482200" y="1690920"/>
              <a:ext cx="5846400" cy="6105960"/>
            </a:xfrm>
            <a:custGeom>
              <a:avLst/>
              <a:gdLst>
                <a:gd name="textAreaLeft" fmla="*/ 0 w 5846400"/>
                <a:gd name="textAreaRight" fmla="*/ 5848920 w 5846400"/>
                <a:gd name="textAreaTop" fmla="*/ 0 h 6105960"/>
                <a:gd name="textAreaBottom" fmla="*/ 6108480 h 6105960"/>
              </a:gdLst>
              <a:ahLst/>
              <a:cxnLst/>
              <a:rect l="textAreaLeft" t="textAreaTop" r="textAreaRight" b="textAreaBottom"/>
              <a:pathLst>
                <a:path w="7618603" h="7956550">
                  <a:moveTo>
                    <a:pt x="0" y="0"/>
                  </a:moveTo>
                  <a:lnTo>
                    <a:pt x="7618603" y="0"/>
                  </a:lnTo>
                  <a:lnTo>
                    <a:pt x="7618603" y="7956550"/>
                  </a:lnTo>
                  <a:lnTo>
                    <a:pt x="0" y="79565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5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86" name="Freeform 20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19"/>
          <p:cNvSpPr/>
          <p:nvPr/>
        </p:nvSpPr>
        <p:spPr>
          <a:xfrm>
            <a:off x="914400" y="4390920"/>
            <a:ext cx="10970280" cy="24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Work with more advanced structures so you can start building complex programs.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Slices, maps, enums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Structs and custom types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Freeform 71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89" name="TextBox 75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Freeform 72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Box 76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Slices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Slices allows us to have collections of any size. The syntax is very similar to arrays.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2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"/>
          <p:cNvPicPr/>
          <p:nvPr/>
        </p:nvPicPr>
        <p:blipFill>
          <a:blip r:embed="rId4"/>
          <a:stretch/>
        </p:blipFill>
        <p:spPr>
          <a:xfrm>
            <a:off x="3429000" y="3886200"/>
            <a:ext cx="8747280" cy="31982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Freeform 7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295" name="TextBox 77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Freeform 7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78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Slices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If you wan to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add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to a slice you need to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append()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, you cannot use the array syntax!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9" name=""/>
          <p:cNvPicPr/>
          <p:nvPr/>
        </p:nvPicPr>
        <p:blipFill>
          <a:blip r:embed="rId4"/>
          <a:stretch/>
        </p:blipFill>
        <p:spPr>
          <a:xfrm>
            <a:off x="3429000" y="3722400"/>
            <a:ext cx="5990760" cy="290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0" name=""/>
          <p:cNvPicPr/>
          <p:nvPr/>
        </p:nvPicPr>
        <p:blipFill>
          <a:blip r:embed="rId5"/>
          <a:stretch/>
        </p:blipFill>
        <p:spPr>
          <a:xfrm>
            <a:off x="9829800" y="5112720"/>
            <a:ext cx="7084440" cy="425772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Freeform 7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02" name="TextBox 79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Freeform 7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80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Slices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Slices allow for partial selection of the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5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6" name=""/>
          <p:cNvPicPr/>
          <p:nvPr/>
        </p:nvPicPr>
        <p:blipFill>
          <a:blip r:embed="rId4"/>
          <a:stretch/>
        </p:blipFill>
        <p:spPr>
          <a:xfrm>
            <a:off x="3687480" y="3753360"/>
            <a:ext cx="7283160" cy="22838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Freeform 7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08" name="TextBox 83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Freeform 8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0" name="TextBox 84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Slices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Deleting slices can be done through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index remapping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or by creating a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new slice.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2" name=""/>
          <p:cNvPicPr/>
          <p:nvPr/>
        </p:nvPicPr>
        <p:blipFill>
          <a:blip r:embed="rId4"/>
          <a:stretch/>
        </p:blipFill>
        <p:spPr>
          <a:xfrm>
            <a:off x="3385800" y="3723120"/>
            <a:ext cx="6899040" cy="244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3" name=""/>
          <p:cNvPicPr/>
          <p:nvPr/>
        </p:nvPicPr>
        <p:blipFill>
          <a:blip r:embed="rId5"/>
          <a:stretch/>
        </p:blipFill>
        <p:spPr>
          <a:xfrm>
            <a:off x="7433280" y="6317280"/>
            <a:ext cx="7880760" cy="351036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Freeform 77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15" name="TextBox 81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Freeform 78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82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Maps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If a map item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does not exist it returns 0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, this can be confusing but is easy to check.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9" name=""/>
          <p:cNvPicPr/>
          <p:nvPr/>
        </p:nvPicPr>
        <p:blipFill>
          <a:blip r:embed="rId4"/>
          <a:stretch/>
        </p:blipFill>
        <p:spPr>
          <a:xfrm>
            <a:off x="3429000" y="3867840"/>
            <a:ext cx="9200160" cy="3445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0" name=""/>
          <p:cNvPicPr/>
          <p:nvPr/>
        </p:nvPicPr>
        <p:blipFill>
          <a:blip r:embed="rId5"/>
          <a:stretch/>
        </p:blipFill>
        <p:spPr>
          <a:xfrm>
            <a:off x="13030200" y="3882600"/>
            <a:ext cx="5027040" cy="436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"/>
          <p:cNvPicPr/>
          <p:nvPr/>
        </p:nvPicPr>
        <p:blipFill>
          <a:blip r:embed="rId6"/>
          <a:stretch/>
        </p:blipFill>
        <p:spPr>
          <a:xfrm>
            <a:off x="3423960" y="7543800"/>
            <a:ext cx="5946480" cy="22838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Freeform 81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23" name="TextBox 85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Freeform 82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86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Maps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Maps items can easily be added to, updated or removed.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7" name=""/>
          <p:cNvPicPr/>
          <p:nvPr/>
        </p:nvPicPr>
        <p:blipFill>
          <a:blip r:embed="rId4"/>
          <a:stretch/>
        </p:blipFill>
        <p:spPr>
          <a:xfrm>
            <a:off x="3429000" y="3886200"/>
            <a:ext cx="5941440" cy="347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"/>
          <p:cNvPicPr/>
          <p:nvPr/>
        </p:nvPicPr>
        <p:blipFill>
          <a:blip r:embed="rId5"/>
          <a:stretch/>
        </p:blipFill>
        <p:spPr>
          <a:xfrm>
            <a:off x="9627840" y="3886200"/>
            <a:ext cx="7515000" cy="194436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Freeform 8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30" name="TextBox 87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Freeform 8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Box 88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Enums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The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enum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can’t be compared to Java, etc. They are typed constants (with a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custom type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for clarity)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3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4" name=""/>
          <p:cNvPicPr/>
          <p:nvPr/>
        </p:nvPicPr>
        <p:blipFill>
          <a:blip r:embed="rId4"/>
          <a:stretch/>
        </p:blipFill>
        <p:spPr>
          <a:xfrm>
            <a:off x="3465720" y="3886200"/>
            <a:ext cx="6361920" cy="375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5" name=""/>
          <p:cNvPicPr/>
          <p:nvPr/>
        </p:nvPicPr>
        <p:blipFill>
          <a:blip r:embed="rId5"/>
          <a:stretch/>
        </p:blipFill>
        <p:spPr>
          <a:xfrm>
            <a:off x="10212480" y="3886200"/>
            <a:ext cx="6473160" cy="57128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Freeform 8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37" name="TextBox 89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Freeform 8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90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Structs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You all  know structs, it’s a container, composite or record for a set of values.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1" name=""/>
          <p:cNvPicPr/>
          <p:nvPr/>
        </p:nvPicPr>
        <p:blipFill>
          <a:blip r:embed="rId4"/>
          <a:stretch/>
        </p:blipFill>
        <p:spPr>
          <a:xfrm>
            <a:off x="3432240" y="3657600"/>
            <a:ext cx="10053000" cy="389268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Freeform 87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43" name="TextBox 91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Freeform 88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Box 92"/>
          <p:cNvSpPr/>
          <p:nvPr/>
        </p:nvSpPr>
        <p:spPr>
          <a:xfrm>
            <a:off x="2971800" y="1649160"/>
            <a:ext cx="13942440" cy="51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Structs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In Go,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methods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can be tied to a type (like a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struct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), but the function itself still exists separately, it’s not like a class method in Java. You can call the method on a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receiver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(the struct receives the method Summary).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6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7" name=""/>
          <p:cNvPicPr/>
          <p:nvPr/>
        </p:nvPicPr>
        <p:blipFill>
          <a:blip r:embed="rId4"/>
          <a:stretch/>
        </p:blipFill>
        <p:spPr>
          <a:xfrm>
            <a:off x="3886200" y="4572000"/>
            <a:ext cx="8456040" cy="495756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Freeform 2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49" name="TextBox 24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Freeform 2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1" name="TextBox 25"/>
          <p:cNvSpPr/>
          <p:nvPr/>
        </p:nvSpPr>
        <p:spPr>
          <a:xfrm>
            <a:off x="2971800" y="1649160"/>
            <a:ext cx="1348668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Structs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A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receiver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looks very confusing, but can be thought of a syntactic sugar.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"/>
          <p:cNvPicPr/>
          <p:nvPr/>
        </p:nvPicPr>
        <p:blipFill>
          <a:blip r:embed="rId4"/>
          <a:stretch/>
        </p:blipFill>
        <p:spPr>
          <a:xfrm>
            <a:off x="3630240" y="3658680"/>
            <a:ext cx="6198840" cy="646848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Freeform 8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55" name="TextBox 93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Freeform 9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Box 94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Structs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Receivers with pointers can be compared to “this” in an object, it will update the reference.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8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9" name=""/>
          <p:cNvPicPr/>
          <p:nvPr/>
        </p:nvPicPr>
        <p:blipFill>
          <a:blip r:embed="rId4"/>
          <a:stretch/>
        </p:blipFill>
        <p:spPr>
          <a:xfrm>
            <a:off x="3429000" y="3680640"/>
            <a:ext cx="8456040" cy="591840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Freeform 11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61" name="TextBox 118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Freeform 11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TextBox 119"/>
          <p:cNvSpPr/>
          <p:nvPr/>
        </p:nvSpPr>
        <p:spPr>
          <a:xfrm>
            <a:off x="2971800" y="1649160"/>
            <a:ext cx="13942440" cy="51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A quick note on pointers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Go has (and uses)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pointers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, but the declaration is slightly different from C. Any assignment with a memory address is considered a pointer! The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dereference done auto-magically in structs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4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5" name=""/>
          <p:cNvPicPr/>
          <p:nvPr/>
        </p:nvPicPr>
        <p:blipFill>
          <a:blip r:embed="rId4"/>
          <a:stretch/>
        </p:blipFill>
        <p:spPr>
          <a:xfrm>
            <a:off x="3547800" y="4658400"/>
            <a:ext cx="10623240" cy="21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6" name=""/>
          <p:cNvPicPr/>
          <p:nvPr/>
        </p:nvPicPr>
        <p:blipFill>
          <a:blip r:embed="rId5"/>
          <a:stretch/>
        </p:blipFill>
        <p:spPr>
          <a:xfrm>
            <a:off x="8915400" y="7086600"/>
            <a:ext cx="7291080" cy="25088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Freeform 2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68" name="TextBox 22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Freeform 2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TextBox 23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Custom Types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We can also add methods to the  custom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HTTPStatus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type just as with a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Struct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1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"/>
          <p:cNvPicPr/>
          <p:nvPr/>
        </p:nvPicPr>
        <p:blipFill>
          <a:blip r:embed="rId4"/>
          <a:stretch/>
        </p:blipFill>
        <p:spPr>
          <a:xfrm>
            <a:off x="3525480" y="3706200"/>
            <a:ext cx="8386200" cy="383580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Freeform 9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74" name="TextBox 97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Advanced Data Types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Freeform 9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Box 98"/>
          <p:cNvSpPr/>
          <p:nvPr/>
        </p:nvSpPr>
        <p:spPr>
          <a:xfrm>
            <a:off x="2971800" y="1649160"/>
            <a:ext cx="13942440" cy="43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Custom Types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Now we have a very strong HTTP response handler using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structs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and custom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data types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  <a:spcBef>
                <a:spcPts val="1191"/>
              </a:spcBef>
              <a:spcAft>
                <a:spcPts val="992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2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"/>
          <p:cNvPicPr/>
          <p:nvPr/>
        </p:nvPicPr>
        <p:blipFill>
          <a:blip r:embed="rId4"/>
          <a:stretch/>
        </p:blipFill>
        <p:spPr>
          <a:xfrm>
            <a:off x="3573000" y="3657600"/>
            <a:ext cx="10275480" cy="342828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extBox 116"/>
          <p:cNvSpPr/>
          <p:nvPr/>
        </p:nvSpPr>
        <p:spPr>
          <a:xfrm>
            <a:off x="1130040" y="3277080"/>
            <a:ext cx="1135224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rgbClr val="729FCF"/>
                </a:solidFill>
                <a:effectLst/>
                <a:uFillTx/>
                <a:latin typeface="Poppins Semi-Bold"/>
                <a:ea typeface="DejaVu Sans"/>
              </a:rPr>
              <a:t>Exercise – Parse Server Logs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Freeform 111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TextBox 117"/>
          <p:cNvSpPr/>
          <p:nvPr/>
        </p:nvSpPr>
        <p:spPr>
          <a:xfrm>
            <a:off x="914400" y="4127040"/>
            <a:ext cx="10971000" cy="42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Can you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read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my log file and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parse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 it into a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slice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 of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Noto Sans CJK SC"/>
              </a:rPr>
              <a:t>structs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?</a:t>
            </a:r>
            <a:br>
              <a:rPr sz="2400"/>
            </a:b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Download the logbook:</a:t>
            </a:r>
            <a:r>
              <a:rPr lang="en-GB" sz="2400" b="0" u="none" strike="noStrike">
                <a:solidFill>
                  <a:srgbClr val="3465A4"/>
                </a:solidFill>
                <a:effectLst/>
                <a:uFillTx/>
                <a:latin typeface="Calibri"/>
                <a:ea typeface="Noto Sans CJK SC"/>
              </a:rPr>
              <a:t> </a:t>
            </a:r>
            <a:r>
              <a:rPr lang="en-GB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Noto Sans CJK SC"/>
                <a:hlinkClick r:id="rId2"/>
              </a:rPr>
              <a:t>https://pastebin.com/fbW8wUZ7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Log format: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IP - - [Timestamp] "METHOD PATH PROTOCOL" STATUS SIZE "REFERER" "USER-AGENT"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Parse the record into a struct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2" name=""/>
          <p:cNvPicPr/>
          <p:nvPr/>
        </p:nvPicPr>
        <p:blipFill>
          <a:blip r:embed="rId3"/>
          <a:stretch/>
        </p:blipFill>
        <p:spPr>
          <a:xfrm>
            <a:off x="11076480" y="4277880"/>
            <a:ext cx="5610240" cy="306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Box 26"/>
          <p:cNvSpPr/>
          <p:nvPr/>
        </p:nvSpPr>
        <p:spPr>
          <a:xfrm>
            <a:off x="1130040" y="3277080"/>
            <a:ext cx="1601280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chemeClr val="accent6"/>
                </a:solidFill>
                <a:effectLst/>
                <a:uFillTx/>
                <a:latin typeface="Poppins Semi-Bold"/>
                <a:ea typeface="DejaVu Sans"/>
              </a:rPr>
              <a:t> 0x05 - Golang != OOP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384" name="Group 10"/>
          <p:cNvGrpSpPr/>
          <p:nvPr/>
        </p:nvGrpSpPr>
        <p:grpSpPr>
          <a:xfrm>
            <a:off x="11482200" y="1690920"/>
            <a:ext cx="5846400" cy="6105960"/>
            <a:chOff x="11482200" y="1690920"/>
            <a:chExt cx="5846400" cy="6105960"/>
          </a:xfrm>
        </p:grpSpPr>
        <p:sp>
          <p:nvSpPr>
            <p:cNvPr id="385" name="Freeform 27"/>
            <p:cNvSpPr/>
            <p:nvPr/>
          </p:nvSpPr>
          <p:spPr>
            <a:xfrm>
              <a:off x="11482200" y="1690920"/>
              <a:ext cx="5846400" cy="6105960"/>
            </a:xfrm>
            <a:custGeom>
              <a:avLst/>
              <a:gdLst>
                <a:gd name="textAreaLeft" fmla="*/ 0 w 5846400"/>
                <a:gd name="textAreaRight" fmla="*/ 5848920 w 5846400"/>
                <a:gd name="textAreaTop" fmla="*/ 0 h 6105960"/>
                <a:gd name="textAreaBottom" fmla="*/ 6108480 h 6105960"/>
              </a:gdLst>
              <a:ahLst/>
              <a:cxnLst/>
              <a:rect l="textAreaLeft" t="textAreaTop" r="textAreaRight" b="textAreaBottom"/>
              <a:pathLst>
                <a:path w="7618603" h="7956550">
                  <a:moveTo>
                    <a:pt x="0" y="0"/>
                  </a:moveTo>
                  <a:lnTo>
                    <a:pt x="7618603" y="0"/>
                  </a:lnTo>
                  <a:lnTo>
                    <a:pt x="7618603" y="7956550"/>
                  </a:lnTo>
                  <a:lnTo>
                    <a:pt x="0" y="79565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5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86" name="Freeform 28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7" name="TextBox 27"/>
          <p:cNvSpPr/>
          <p:nvPr/>
        </p:nvSpPr>
        <p:spPr>
          <a:xfrm>
            <a:off x="914400" y="4390920"/>
            <a:ext cx="10970280" cy="29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No classes or inheritance, but composition and interfaces.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150000"/>
              </a:lnSpc>
              <a:spcBef>
                <a:spcPts val="5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Noto Sans CJK SC"/>
              </a:rPr>
              <a:t>Let’s look at composition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150000"/>
              </a:lnSpc>
              <a:spcBef>
                <a:spcPts val="5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Noto Sans CJK SC"/>
              </a:rPr>
              <a:t>Interfaces are not (strictly) implemented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150000"/>
              </a:lnSpc>
              <a:spcBef>
                <a:spcPts val="5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Noto Sans CJK SC"/>
              </a:rPr>
              <a:t>The Observer Pattern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Freeform 9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89" name="TextBox 3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Golang != OOP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Freeform 9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TextBox 99"/>
          <p:cNvSpPr/>
          <p:nvPr/>
        </p:nvSpPr>
        <p:spPr>
          <a:xfrm>
            <a:off x="2971800" y="1649160"/>
            <a:ext cx="13942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Forget about Object Oriented Programming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"/>
          <p:cNvSpPr/>
          <p:nvPr/>
        </p:nvSpPr>
        <p:spPr>
          <a:xfrm>
            <a:off x="3429000" y="3109320"/>
            <a:ext cx="1385964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Go doesn’t have classes.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Instead, Go uses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structs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 and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interfaces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, instead you build through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composition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, not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inheritance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A simple way to thing of it is </a:t>
            </a:r>
            <a:r>
              <a:rPr lang="en-GB" sz="2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“</a:t>
            </a:r>
            <a:r>
              <a:rPr lang="en-GB" sz="2400" b="1" i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combining  lego blocks to solve a problem, rather than building a new lego block for every problem”</a:t>
            </a:r>
            <a:r>
              <a:rPr lang="en-GB" sz="2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 </a:t>
            </a:r>
            <a:r>
              <a:rPr lang="en-GB" sz="2400" b="0" i="1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– Mitchel 2025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13716000" y="8976960"/>
            <a:ext cx="479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DejaVu Sans"/>
                <a:hlinkClick r:id="rId4"/>
              </a:rPr>
              <a:t>The Flaws of Inheritance  (video)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Freeform 97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396" name="TextBox 100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Golang != OOP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Freeform 98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Box 101"/>
          <p:cNvSpPr/>
          <p:nvPr/>
        </p:nvSpPr>
        <p:spPr>
          <a:xfrm>
            <a:off x="2971800" y="1649160"/>
            <a:ext cx="13942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Lets look at composition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9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"/>
          <p:cNvSpPr/>
          <p:nvPr/>
        </p:nvSpPr>
        <p:spPr>
          <a:xfrm>
            <a:off x="3429000" y="3109320"/>
            <a:ext cx="13859640" cy="11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We can add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components</a:t>
            </a: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 (engine) to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composites</a:t>
            </a: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 (car) to create different cars, without creating super classes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. Each composite is just a new arrangement of the same building blocks.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"/>
          <p:cNvPicPr/>
          <p:nvPr/>
        </p:nvPicPr>
        <p:blipFill>
          <a:blip r:embed="rId4"/>
          <a:stretch/>
        </p:blipFill>
        <p:spPr>
          <a:xfrm>
            <a:off x="3567600" y="4343400"/>
            <a:ext cx="6260040" cy="233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2" name=""/>
          <p:cNvPicPr/>
          <p:nvPr/>
        </p:nvPicPr>
        <p:blipFill>
          <a:blip r:embed="rId5"/>
          <a:stretch/>
        </p:blipFill>
        <p:spPr>
          <a:xfrm>
            <a:off x="10972800" y="4343400"/>
            <a:ext cx="5484240" cy="31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9829800" y="5257800"/>
            <a:ext cx="1600200" cy="3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-27000" rIns="108000" bIns="-27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4" name=""/>
          <p:cNvPicPr/>
          <p:nvPr/>
        </p:nvPicPr>
        <p:blipFill>
          <a:blip r:embed="rId6"/>
          <a:stretch/>
        </p:blipFill>
        <p:spPr>
          <a:xfrm>
            <a:off x="4114800" y="7023600"/>
            <a:ext cx="3426840" cy="234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"/>
          <p:cNvSpPr/>
          <p:nvPr/>
        </p:nvSpPr>
        <p:spPr>
          <a:xfrm flipH="1">
            <a:off x="7315200" y="6858000"/>
            <a:ext cx="3657600" cy="9144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Freeform 9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407" name="TextBox 102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Golang != OOP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Freeform 10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9" name="TextBox 103"/>
          <p:cNvSpPr/>
          <p:nvPr/>
        </p:nvSpPr>
        <p:spPr>
          <a:xfrm>
            <a:off x="2971800" y="1649160"/>
            <a:ext cx="13942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Interfaces are not (strictly) implemented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"/>
          <p:cNvSpPr/>
          <p:nvPr/>
        </p:nvSpPr>
        <p:spPr>
          <a:xfrm>
            <a:off x="3429000" y="3109320"/>
            <a:ext cx="138596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Rather, any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DejaVu Sans"/>
              </a:rPr>
              <a:t>struct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 that meets the interface implementation… Implements the </a:t>
            </a:r>
            <a:r>
              <a:rPr lang="en-GB" sz="2400" b="0" u="none" strike="noStrike">
                <a:solidFill>
                  <a:srgbClr val="FF7B59"/>
                </a:solidFill>
                <a:effectLst/>
                <a:uFillTx/>
                <a:latin typeface="Calibri"/>
                <a:ea typeface="DejaVu Sans"/>
              </a:rPr>
              <a:t>interface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 when used as such.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"/>
          <p:cNvPicPr/>
          <p:nvPr/>
        </p:nvPicPr>
        <p:blipFill>
          <a:blip r:embed="rId4"/>
          <a:stretch/>
        </p:blipFill>
        <p:spPr>
          <a:xfrm>
            <a:off x="3512520" y="3783240"/>
            <a:ext cx="5857920" cy="513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3" name=""/>
          <p:cNvPicPr/>
          <p:nvPr/>
        </p:nvPicPr>
        <p:blipFill>
          <a:blip r:embed="rId5"/>
          <a:stretch/>
        </p:blipFill>
        <p:spPr>
          <a:xfrm>
            <a:off x="9699480" y="3835080"/>
            <a:ext cx="7214760" cy="576396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Freeform 101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415" name="TextBox 104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Golang != OOP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Freeform 102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Box 105"/>
          <p:cNvSpPr/>
          <p:nvPr/>
        </p:nvSpPr>
        <p:spPr>
          <a:xfrm>
            <a:off x="2971800" y="1649160"/>
            <a:ext cx="13942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Let’s look at a the observer pattern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8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"/>
          <p:cNvSpPr/>
          <p:nvPr/>
        </p:nvSpPr>
        <p:spPr>
          <a:xfrm>
            <a:off x="3429000" y="3109320"/>
            <a:ext cx="13859640" cy="82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How do we fire update events throughout our application?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0" name=""/>
          <p:cNvPicPr/>
          <p:nvPr/>
        </p:nvPicPr>
        <p:blipFill>
          <a:blip r:embed="rId4"/>
          <a:stretch/>
        </p:blipFill>
        <p:spPr>
          <a:xfrm>
            <a:off x="3657600" y="3668040"/>
            <a:ext cx="6890040" cy="38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"/>
          <p:cNvSpPr/>
          <p:nvPr/>
        </p:nvSpPr>
        <p:spPr>
          <a:xfrm>
            <a:off x="3626640" y="7654320"/>
            <a:ext cx="551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sng" strike="noStrike">
                <a:solidFill>
                  <a:srgbClr val="3465A4"/>
                </a:solidFill>
                <a:effectLst/>
                <a:uFillTx/>
                <a:latin typeface="Arial"/>
                <a:ea typeface="DejaVu Sans"/>
                <a:hlinkClick r:id="rId5"/>
              </a:rPr>
              <a:t>https://refactoring.guru/design-patterns/observer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Freeform 103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423" name="TextBox 106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Golang != OOP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Freeform 104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5" name="TextBox 107"/>
          <p:cNvSpPr/>
          <p:nvPr/>
        </p:nvSpPr>
        <p:spPr>
          <a:xfrm>
            <a:off x="2971800" y="1649160"/>
            <a:ext cx="13942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Let’s look at a the observer pattern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"/>
          <p:cNvSpPr/>
          <p:nvPr/>
        </p:nvSpPr>
        <p:spPr>
          <a:xfrm>
            <a:off x="3429000" y="3109320"/>
            <a:ext cx="13859640" cy="82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Publisher and Subscriber models (such as message queues) are a great solution.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3572640" y="7315200"/>
            <a:ext cx="557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Arial"/>
                <a:ea typeface="DejaVu Sans"/>
                <a:hlinkClick r:id="rId4"/>
              </a:rPr>
              <a:t>https://refactoring.guru/design-patterns/observer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9" name=""/>
          <p:cNvPicPr/>
          <p:nvPr/>
        </p:nvPicPr>
        <p:blipFill>
          <a:blip r:embed="rId5"/>
          <a:stretch/>
        </p:blipFill>
        <p:spPr>
          <a:xfrm>
            <a:off x="3572640" y="3668040"/>
            <a:ext cx="6483600" cy="364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0" name=""/>
          <p:cNvPicPr/>
          <p:nvPr/>
        </p:nvPicPr>
        <p:blipFill>
          <a:blip r:embed="rId6"/>
          <a:stretch/>
        </p:blipFill>
        <p:spPr>
          <a:xfrm>
            <a:off x="10524960" y="3763440"/>
            <a:ext cx="7075080" cy="446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"/>
          <p:cNvSpPr/>
          <p:nvPr/>
        </p:nvSpPr>
        <p:spPr>
          <a:xfrm>
            <a:off x="10515600" y="8229600"/>
            <a:ext cx="548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Arial"/>
                <a:ea typeface="DejaVu Sans"/>
                <a:hlinkClick r:id="rId7"/>
              </a:rPr>
              <a:t>https://refactoring.guru/design-patterns/observer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Freeform 105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433" name="TextBox 108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Golang != OOP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Freeform 106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5" name="TextBox 109"/>
          <p:cNvSpPr/>
          <p:nvPr/>
        </p:nvSpPr>
        <p:spPr>
          <a:xfrm>
            <a:off x="2971800" y="1649160"/>
            <a:ext cx="13942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The Observer Pattern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6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"/>
          <p:cNvSpPr/>
          <p:nvPr/>
        </p:nvSpPr>
        <p:spPr>
          <a:xfrm>
            <a:off x="3429000" y="3109320"/>
            <a:ext cx="13859640" cy="82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We need to create a new 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publisher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 and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subscribers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. The publishers maintains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a list of subscribers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8" name=""/>
          <p:cNvPicPr/>
          <p:nvPr/>
        </p:nvPicPr>
        <p:blipFill>
          <a:blip r:embed="rId4"/>
          <a:stretch/>
        </p:blipFill>
        <p:spPr>
          <a:xfrm>
            <a:off x="3657600" y="4248720"/>
            <a:ext cx="6972480" cy="214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9" name=""/>
          <p:cNvPicPr/>
          <p:nvPr/>
        </p:nvPicPr>
        <p:blipFill>
          <a:blip r:embed="rId5"/>
          <a:stretch/>
        </p:blipFill>
        <p:spPr>
          <a:xfrm>
            <a:off x="11430000" y="3886200"/>
            <a:ext cx="4645080" cy="340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0" name=""/>
          <p:cNvPicPr/>
          <p:nvPr/>
        </p:nvPicPr>
        <p:blipFill>
          <a:blip r:embed="rId6"/>
          <a:stretch/>
        </p:blipFill>
        <p:spPr>
          <a:xfrm>
            <a:off x="4343400" y="7086600"/>
            <a:ext cx="4915080" cy="114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1" name=""/>
          <p:cNvPicPr/>
          <p:nvPr/>
        </p:nvPicPr>
        <p:blipFill>
          <a:blip r:embed="rId7"/>
          <a:stretch/>
        </p:blipFill>
        <p:spPr>
          <a:xfrm>
            <a:off x="14173200" y="7772400"/>
            <a:ext cx="3981600" cy="136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"/>
          <p:cNvSpPr/>
          <p:nvPr/>
        </p:nvSpPr>
        <p:spPr>
          <a:xfrm>
            <a:off x="6858000" y="6400800"/>
            <a:ext cx="360" cy="6858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63000" rIns="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8686800" y="4800600"/>
            <a:ext cx="2743200" cy="9144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15087600" y="4343400"/>
            <a:ext cx="2743200" cy="34290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5" name=""/>
          <p:cNvPicPr/>
          <p:nvPr/>
        </p:nvPicPr>
        <p:blipFill>
          <a:blip r:embed="rId8"/>
          <a:stretch/>
        </p:blipFill>
        <p:spPr>
          <a:xfrm>
            <a:off x="9601200" y="7724160"/>
            <a:ext cx="4341240" cy="141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6" name=""/>
          <p:cNvSpPr/>
          <p:nvPr/>
        </p:nvSpPr>
        <p:spPr>
          <a:xfrm flipH="1">
            <a:off x="13258800" y="7086600"/>
            <a:ext cx="685800" cy="6375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Freeform 107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448" name="TextBox 110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Golang != OOP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Freeform 108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0" name="TextBox 111"/>
          <p:cNvSpPr/>
          <p:nvPr/>
        </p:nvSpPr>
        <p:spPr>
          <a:xfrm>
            <a:off x="2971800" y="1649160"/>
            <a:ext cx="13942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The Observer Pattern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1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"/>
          <p:cNvSpPr/>
          <p:nvPr/>
        </p:nvSpPr>
        <p:spPr>
          <a:xfrm>
            <a:off x="3429000" y="3109320"/>
            <a:ext cx="13859640" cy="82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Once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subscribers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 are created, they need to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subscribe to the publisher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. Append to the slice of observers.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3" name=""/>
          <p:cNvPicPr/>
          <p:nvPr/>
        </p:nvPicPr>
        <p:blipFill>
          <a:blip r:embed="rId4"/>
          <a:stretch/>
        </p:blipFill>
        <p:spPr>
          <a:xfrm>
            <a:off x="3506400" y="3963240"/>
            <a:ext cx="5766840" cy="152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"/>
          <p:cNvPicPr/>
          <p:nvPr/>
        </p:nvPicPr>
        <p:blipFill>
          <a:blip r:embed="rId5"/>
          <a:stretch/>
        </p:blipFill>
        <p:spPr>
          <a:xfrm>
            <a:off x="9601200" y="4201560"/>
            <a:ext cx="8498880" cy="12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"/>
          <p:cNvSpPr/>
          <p:nvPr/>
        </p:nvSpPr>
        <p:spPr>
          <a:xfrm flipV="1">
            <a:off x="8229600" y="4572000"/>
            <a:ext cx="1371600" cy="2286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6" name=""/>
          <p:cNvPicPr/>
          <p:nvPr/>
        </p:nvPicPr>
        <p:blipFill>
          <a:blip r:embed="rId6"/>
          <a:stretch/>
        </p:blipFill>
        <p:spPr>
          <a:xfrm>
            <a:off x="9601200" y="5943600"/>
            <a:ext cx="4569840" cy="206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7" name=""/>
          <p:cNvSpPr/>
          <p:nvPr/>
        </p:nvSpPr>
        <p:spPr>
          <a:xfrm>
            <a:off x="11658600" y="5029200"/>
            <a:ext cx="1371600" cy="13716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Freeform 109"/>
          <p:cNvSpPr/>
          <p:nvPr/>
        </p:nvSpPr>
        <p:spPr>
          <a:xfrm>
            <a:off x="1739880" y="498600"/>
            <a:ext cx="15484680" cy="1526040"/>
          </a:xfrm>
          <a:custGeom>
            <a:avLst/>
            <a:gdLst>
              <a:gd name="textAreaLeft" fmla="*/ 0 w 15484680"/>
              <a:gd name="textAreaRight" fmla="*/ 15487200 w 15484680"/>
              <a:gd name="textAreaTop" fmla="*/ 0 h 1526040"/>
              <a:gd name="textAreaBottom" fmla="*/ 1528560 h 1526040"/>
            </a:gdLst>
            <a:ahLst/>
            <a:cxnLst/>
            <a:rect l="textAreaLeft" t="textAreaTop" r="textAreaRight" b="textAreaBottom"/>
            <a:pathLst>
              <a:path w="15129861" h="1493264">
                <a:moveTo>
                  <a:pt x="0" y="0"/>
                </a:moveTo>
                <a:lnTo>
                  <a:pt x="15129861" y="0"/>
                </a:lnTo>
                <a:lnTo>
                  <a:pt x="15129861" y="1493264"/>
                </a:lnTo>
                <a:lnTo>
                  <a:pt x="0" y="149326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4600" b="0" u="none" strike="noStrike">
              <a:solidFill>
                <a:schemeClr val="lt1"/>
              </a:solidFill>
              <a:effectLst/>
              <a:uFillTx/>
              <a:latin typeface="Poppins Semi-Bold"/>
            </a:endParaRPr>
          </a:p>
        </p:txBody>
      </p:sp>
      <p:sp>
        <p:nvSpPr>
          <p:cNvPr id="459" name="TextBox 112"/>
          <p:cNvSpPr/>
          <p:nvPr/>
        </p:nvSpPr>
        <p:spPr>
          <a:xfrm>
            <a:off x="3197880" y="613080"/>
            <a:ext cx="127580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36000">
              <a:lnSpc>
                <a:spcPts val="491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600" b="0" u="none" strike="noStrike">
                <a:solidFill>
                  <a:schemeClr val="lt1"/>
                </a:solidFill>
                <a:effectLst/>
                <a:uFillTx/>
                <a:latin typeface="Poppins Semi-Bold"/>
                <a:ea typeface="DejaVu Sans"/>
              </a:rPr>
              <a:t>Golang != OOP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Freeform 110"/>
          <p:cNvSpPr/>
          <p:nvPr/>
        </p:nvSpPr>
        <p:spPr>
          <a:xfrm>
            <a:off x="16071840" y="9673920"/>
            <a:ext cx="2345400" cy="343440"/>
          </a:xfrm>
          <a:custGeom>
            <a:avLst/>
            <a:gdLst>
              <a:gd name="textAreaLeft" fmla="*/ 0 w 2345400"/>
              <a:gd name="textAreaRight" fmla="*/ 2347920 w 2345400"/>
              <a:gd name="textAreaTop" fmla="*/ 0 h 343440"/>
              <a:gd name="textAreaBottom" fmla="*/ 345960 h 343440"/>
            </a:gdLst>
            <a:ahLst/>
            <a:cxnLst/>
            <a:rect l="textAreaLeft" t="textAreaTop" r="textAreaRight" b="textAreaBottom"/>
            <a:pathLst>
              <a:path w="2293806" h="337815">
                <a:moveTo>
                  <a:pt x="0" y="0"/>
                </a:moveTo>
                <a:lnTo>
                  <a:pt x="2293806" y="0"/>
                </a:lnTo>
                <a:lnTo>
                  <a:pt x="2293806" y="337815"/>
                </a:lnTo>
                <a:lnTo>
                  <a:pt x="0" y="3378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1" name="TextBox 113"/>
          <p:cNvSpPr/>
          <p:nvPr/>
        </p:nvSpPr>
        <p:spPr>
          <a:xfrm>
            <a:off x="2971800" y="1649160"/>
            <a:ext cx="13942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457200" defTabSz="914400">
              <a:lnSpc>
                <a:spcPct val="200000"/>
              </a:lnSpc>
            </a:pPr>
            <a:r>
              <a:rPr lang="en-GB" sz="36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Noto Sans CJK SC"/>
              </a:rPr>
              <a:t>The Observer Pattern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"/>
          <p:cNvPicPr/>
          <p:nvPr/>
        </p:nvPicPr>
        <p:blipFill>
          <a:blip r:embed="rId3"/>
          <a:stretch/>
        </p:blipFill>
        <p:spPr>
          <a:xfrm>
            <a:off x="314640" y="4572000"/>
            <a:ext cx="1740600" cy="54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"/>
          <p:cNvSpPr/>
          <p:nvPr/>
        </p:nvSpPr>
        <p:spPr>
          <a:xfrm>
            <a:off x="3429000" y="3109320"/>
            <a:ext cx="13859640" cy="82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Finally the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publisher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 can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notify all subscribers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to their unique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DejaVu Sans"/>
              </a:rPr>
              <a:t>update call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4" name=""/>
          <p:cNvPicPr/>
          <p:nvPr/>
        </p:nvPicPr>
        <p:blipFill>
          <a:blip r:embed="rId4"/>
          <a:stretch/>
        </p:blipFill>
        <p:spPr>
          <a:xfrm>
            <a:off x="3506040" y="3842280"/>
            <a:ext cx="6550200" cy="86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5" name=""/>
          <p:cNvPicPr/>
          <p:nvPr/>
        </p:nvPicPr>
        <p:blipFill>
          <a:blip r:embed="rId5"/>
          <a:stretch/>
        </p:blipFill>
        <p:spPr>
          <a:xfrm>
            <a:off x="6353280" y="5029200"/>
            <a:ext cx="7817760" cy="170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6" name=""/>
          <p:cNvPicPr/>
          <p:nvPr/>
        </p:nvPicPr>
        <p:blipFill>
          <a:blip r:embed="rId6"/>
          <a:stretch/>
        </p:blipFill>
        <p:spPr>
          <a:xfrm>
            <a:off x="8915400" y="7007040"/>
            <a:ext cx="6855840" cy="178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"/>
          <p:cNvSpPr/>
          <p:nvPr/>
        </p:nvSpPr>
        <p:spPr>
          <a:xfrm>
            <a:off x="5943600" y="4709880"/>
            <a:ext cx="914400" cy="3193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8229600" y="6629400"/>
            <a:ext cx="685800" cy="4572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"/>
          <p:cNvPicPr/>
          <p:nvPr/>
        </p:nvPicPr>
        <p:blipFill>
          <a:blip r:embed="rId7"/>
          <a:stretch/>
        </p:blipFill>
        <p:spPr>
          <a:xfrm>
            <a:off x="1676520" y="9144000"/>
            <a:ext cx="8608320" cy="91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"/>
          <p:cNvSpPr/>
          <p:nvPr/>
        </p:nvSpPr>
        <p:spPr>
          <a:xfrm flipH="1">
            <a:off x="8458200" y="8686800"/>
            <a:ext cx="1143000" cy="6858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000" tIns="63000" rIns="108000" bIns="63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Box 95"/>
          <p:cNvSpPr/>
          <p:nvPr/>
        </p:nvSpPr>
        <p:spPr>
          <a:xfrm>
            <a:off x="1130040" y="3277080"/>
            <a:ext cx="11352240" cy="10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rgbClr val="729FCF"/>
                </a:solidFill>
                <a:effectLst/>
                <a:uFillTx/>
                <a:latin typeface="Poppins Semi-Bold"/>
                <a:ea typeface="DejaVu Sans"/>
              </a:rPr>
              <a:t>Exercise – Website status monitor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Freeform 91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3" name="TextBox 96"/>
          <p:cNvSpPr/>
          <p:nvPr/>
        </p:nvSpPr>
        <p:spPr>
          <a:xfrm>
            <a:off x="914400" y="4127040"/>
            <a:ext cx="10970280" cy="42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Can you monitor the status code of these websites?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Download the top 100 websites: </a:t>
            </a:r>
            <a:r>
              <a:rPr lang="en-GB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Noto Sans CJK SC"/>
                <a:hlinkClick r:id="rId2"/>
              </a:rPr>
              <a:t>https://pastebin.com/9r9ADsaQ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Use  </a:t>
            </a:r>
            <a:r>
              <a:rPr lang="en-GB" sz="2400" b="0" u="none" strike="noStrike">
                <a:solidFill>
                  <a:srgbClr val="729FCF"/>
                </a:solidFill>
                <a:effectLst/>
                <a:uFillTx/>
                <a:latin typeface="Calibri"/>
                <a:ea typeface="Noto Sans CJK SC"/>
              </a:rPr>
              <a:t>go get </a:t>
            </a: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for </a:t>
            </a:r>
            <a:r>
              <a:rPr lang="en-GB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Noto Sans CJK SC"/>
                <a:hlinkClick r:id="rId3"/>
              </a:rPr>
              <a:t>https://pkg.go.dev/net/http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Visit all domains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Print results to screen &amp; store in a file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Noto Sans CJK SC"/>
              </a:rPr>
              <a:t>Bonus points for CSV (</a:t>
            </a:r>
            <a:r>
              <a:rPr lang="en-GB" sz="2400" b="0" u="sng" strike="noStrike">
                <a:solidFill>
                  <a:srgbClr val="3465A4"/>
                </a:solidFill>
                <a:effectLst/>
                <a:uFillTx/>
                <a:latin typeface="Calibri"/>
                <a:ea typeface="Noto Sans CJK SC"/>
                <a:hlinkClick r:id="rId4"/>
              </a:rPr>
              <a:t>https://pkg.go.dev/encoding/csv</a:t>
            </a:r>
            <a:r>
              <a:rPr lang="en-GB" sz="2400" b="0" u="none" strike="noStrike">
                <a:solidFill>
                  <a:srgbClr val="CCCCCC"/>
                </a:solidFill>
                <a:effectLst/>
                <a:uFillTx/>
                <a:latin typeface="Calibri"/>
                <a:ea typeface="Noto Sans CJK SC"/>
              </a:rPr>
              <a:t>)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505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TextBox 1"/>
          <p:cNvSpPr/>
          <p:nvPr/>
        </p:nvSpPr>
        <p:spPr>
          <a:xfrm>
            <a:off x="1130040" y="3277080"/>
            <a:ext cx="11352240" cy="20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7883"/>
              </a:lnSpc>
            </a:pPr>
            <a:r>
              <a:rPr lang="en-GB" sz="5650" b="0" u="none" strike="noStrike">
                <a:solidFill>
                  <a:schemeClr val="accent6"/>
                </a:solidFill>
                <a:effectLst/>
                <a:uFillTx/>
                <a:latin typeface="Poppins Semi-Bold"/>
                <a:ea typeface="DejaVu Sans"/>
              </a:rPr>
              <a:t>Thank You</a:t>
            </a:r>
            <a:endParaRPr lang="en-US" sz="5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7883"/>
              </a:lnSpc>
            </a:pPr>
            <a:r>
              <a:rPr lang="en-GB" sz="4150" b="0" u="none" strike="noStrike">
                <a:solidFill>
                  <a:srgbClr val="F1F1F3"/>
                </a:solidFill>
                <a:effectLst/>
                <a:uFillTx/>
                <a:latin typeface="Poppins Semi-Bold"/>
                <a:ea typeface="DejaVu Sans"/>
              </a:rPr>
              <a:t>Feel free to reach out to me!</a:t>
            </a:r>
            <a:endParaRPr lang="en-US" sz="4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75" name="Group 1"/>
          <p:cNvGrpSpPr/>
          <p:nvPr/>
        </p:nvGrpSpPr>
        <p:grpSpPr>
          <a:xfrm>
            <a:off x="11482200" y="1690920"/>
            <a:ext cx="5846400" cy="6105960"/>
            <a:chOff x="11482200" y="1690920"/>
            <a:chExt cx="5846400" cy="6105960"/>
          </a:xfrm>
        </p:grpSpPr>
        <p:sp>
          <p:nvSpPr>
            <p:cNvPr id="476" name="Freeform 1"/>
            <p:cNvSpPr/>
            <p:nvPr/>
          </p:nvSpPr>
          <p:spPr>
            <a:xfrm>
              <a:off x="11482200" y="1690920"/>
              <a:ext cx="5846400" cy="6105960"/>
            </a:xfrm>
            <a:custGeom>
              <a:avLst/>
              <a:gdLst>
                <a:gd name="textAreaLeft" fmla="*/ 0 w 5846400"/>
                <a:gd name="textAreaRight" fmla="*/ 5848920 w 5846400"/>
                <a:gd name="textAreaTop" fmla="*/ 0 h 6105960"/>
                <a:gd name="textAreaBottom" fmla="*/ 6108480 h 6105960"/>
              </a:gdLst>
              <a:ahLst/>
              <a:cxnLst/>
              <a:rect l="textAreaLeft" t="textAreaTop" r="textAreaRight" b="textAreaBottom"/>
              <a:pathLst>
                <a:path w="7618603" h="7956550">
                  <a:moveTo>
                    <a:pt x="0" y="0"/>
                  </a:moveTo>
                  <a:lnTo>
                    <a:pt x="7618603" y="0"/>
                  </a:lnTo>
                  <a:lnTo>
                    <a:pt x="7618603" y="7956550"/>
                  </a:lnTo>
                  <a:lnTo>
                    <a:pt x="0" y="79565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5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477" name="Freeform 2"/>
          <p:cNvSpPr/>
          <p:nvPr/>
        </p:nvSpPr>
        <p:spPr>
          <a:xfrm>
            <a:off x="1053000" y="931680"/>
            <a:ext cx="4096440" cy="601200"/>
          </a:xfrm>
          <a:custGeom>
            <a:avLst/>
            <a:gdLst>
              <a:gd name="textAreaLeft" fmla="*/ 0 w 4096440"/>
              <a:gd name="textAreaRight" fmla="*/ 4098960 w 4096440"/>
              <a:gd name="textAreaTop" fmla="*/ 0 h 601200"/>
              <a:gd name="textAreaBottom" fmla="*/ 603720 h 601200"/>
            </a:gdLst>
            <a:ahLst/>
            <a:cxnLst/>
            <a:rect l="textAreaLeft" t="textAreaTop" r="textAreaRight" b="textAreaBottom"/>
            <a:pathLst>
              <a:path w="4004526" h="589757">
                <a:moveTo>
                  <a:pt x="0" y="0"/>
                </a:moveTo>
                <a:lnTo>
                  <a:pt x="4004526" y="0"/>
                </a:lnTo>
                <a:lnTo>
                  <a:pt x="4004526" y="589757"/>
                </a:lnTo>
                <a:lnTo>
                  <a:pt x="0" y="589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LibreOffice/26.2.6.3$Linux_X86_64 LibreOffice_project/620$Build-3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Gireesh</dc:creator>
  <dc:description/>
  <dc:identifier>DAF3jCVaY0U</dc:identifier>
  <dc:language>en-US</dc:language>
  <cp:lastModifiedBy/>
  <dcterms:modified xsi:type="dcterms:W3CDTF">2026-09-18T10:05:52Z</dcterms:modified>
  <cp:revision>394</cp:revision>
  <dc:subject/>
  <dc:title>Copy of BreachLock Sales Pitch Design V1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0x0101006207D3CB5A510843B1838FD3DB03CC1B</vt:lpwstr>
  </property>
  <property fmtid="{D5CDD505-2E9C-101B-9397-08002B2CF9AE}" pid="3" name="MMClips">
    <vt:i4>2</vt:i4>
  </property>
  <property fmtid="{D5CDD505-2E9C-101B-9397-08002B2CF9AE}" pid="4" name="Notes">
    <vt:i4>59</vt:i4>
  </property>
  <property fmtid="{D5CDD505-2E9C-101B-9397-08002B2CF9AE}" pid="5" name="PresentationFormat">
    <vt:lpwstr>On-screen Show (4:3)</vt:lpwstr>
  </property>
  <property fmtid="{D5CDD505-2E9C-101B-9397-08002B2CF9AE}" pid="6" name="Slides">
    <vt:i4>59</vt:i4>
  </property>
</Properties>
</file>